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" Type="http://schemas.openxmlformats.org/officeDocument/2006/relationships/slide" Target="slides/slide6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" Type="http://schemas.openxmlformats.org/officeDocument/2006/relationships/slide" Target="slides/slide7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" Type="http://schemas.openxmlformats.org/officeDocument/2006/relationships/slide" Target="slides/slide8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" Type="http://schemas.openxmlformats.org/officeDocument/2006/relationships/slide" Target="slides/slide9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" Type="http://schemas.openxmlformats.org/officeDocument/2006/relationships/slide" Target="slides/slide10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" Type="http://schemas.openxmlformats.org/officeDocument/2006/relationships/viewProps" Target="viewProps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" Type="http://schemas.openxmlformats.org/officeDocument/2006/relationships/theme" Target="theme/theme1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" Type="http://schemas.openxmlformats.org/officeDocument/2006/relationships/tableStyles" Target="tableStyles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" Type="http://schemas.openxmlformats.org/officeDocument/2006/relationships/slide" Target="slides/slide1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" Type="http://schemas.openxmlformats.org/officeDocument/2006/relationships/slide" Target="slides/slide2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" Type="http://schemas.openxmlformats.org/officeDocument/2006/relationships/slide" Target="slides/slide3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" Type="http://schemas.openxmlformats.org/officeDocument/2006/relationships/slide" Target="slides/slide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" Type="http://schemas.openxmlformats.org/officeDocument/2006/relationships/image" Target="../media/image1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" Type="http://schemas.openxmlformats.org/officeDocument/2006/relationships/image" Target="../media/image1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" Type="http://schemas.openxmlformats.org/officeDocument/2006/relationships/image" Target="../media/image1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" Type="http://schemas.openxmlformats.org/officeDocument/2006/relationships/image" Target="../media/image1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" Type="http://schemas.openxmlformats.org/officeDocument/2006/relationships/image" Target="../media/image2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" Type="http://schemas.openxmlformats.org/officeDocument/2006/relationships/image" Target="../media/image2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2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" Type="http://schemas.openxmlformats.org/officeDocument/2006/relationships/image" Target="../media/image2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2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" Type="http://schemas.openxmlformats.org/officeDocument/2006/relationships/image" Target="../media/image3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" Type="http://schemas.openxmlformats.org/officeDocument/2006/relationships/image" Target="../media/image3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" Type="http://schemas.openxmlformats.org/officeDocument/2006/relationships/image" Target="../media/image3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" Type="http://schemas.openxmlformats.org/officeDocument/2006/relationships/image" Target="../media/image36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" Type="http://schemas.openxmlformats.org/officeDocument/2006/relationships/image" Target="../media/image38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" Type="http://schemas.openxmlformats.org/officeDocument/2006/relationships/image" Target="../media/image4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2" Type="http://schemas.openxmlformats.org/officeDocument/2006/relationships/image" Target="../media/image42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4" Type="http://schemas.openxmlformats.org/officeDocument/2006/relationships/image" Target="../media/image44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6" Type="http://schemas.openxmlformats.org/officeDocument/2006/relationships/image" Target="../media/image46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8" Type="http://schemas.openxmlformats.org/officeDocument/2006/relationships/image" Target="../media/image48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0" Type="http://schemas.openxmlformats.org/officeDocument/2006/relationships/image" Target="../media/image50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2" Type="http://schemas.openxmlformats.org/officeDocument/2006/relationships/image" Target="../media/image52.png"/><Relationship Id="rId54" Type="http://schemas.openxmlformats.org/officeDocument/2006/relationships/image" Target="../media/image54.png"/><Relationship Id="rId55" Type="http://schemas.openxmlformats.org/officeDocument/2006/relationships/hyperlink" TargetMode="External" Target="https://lists.w3.org/Archives/Public/ietf-http-wg/2025AprJun/0160.ht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6" Type="http://schemas.openxmlformats.org/officeDocument/2006/relationships/image" Target="../media/image56.png"/><Relationship Id="rId58" Type="http://schemas.openxmlformats.org/officeDocument/2006/relationships/image" Target="../media/image58.png"/><Relationship Id="rId59" Type="http://schemas.openxmlformats.org/officeDocument/2006/relationships/hyperlink" TargetMode="External" Target="https://lists.w3.org/Archives/Public/ietf-http-wg/2025AprJun/0054.ht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0" Type="http://schemas.openxmlformats.org/officeDocument/2006/relationships/image" Target="../media/image60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2" Type="http://schemas.openxmlformats.org/officeDocument/2006/relationships/image" Target="../media/image62.png"/><Relationship Id="rId64" Type="http://schemas.openxmlformats.org/officeDocument/2006/relationships/image" Target="../media/image64.png"/><Relationship Id="rId65" Type="http://schemas.openxmlformats.org/officeDocument/2006/relationships/hyperlink" TargetMode="External" Target="https://lists.w3.org/Archives/Public/ietf-http-wg/2024AprJun/0024.ht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6" Type="http://schemas.openxmlformats.org/officeDocument/2006/relationships/image" Target="../media/image66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8" Type="http://schemas.openxmlformats.org/officeDocument/2006/relationships/image" Target="../media/image68.png"/><Relationship Id="rId70" Type="http://schemas.openxmlformats.org/officeDocument/2006/relationships/image" Target="../media/image70.png"/><Relationship Id="rId71" Type="http://schemas.openxmlformats.org/officeDocument/2006/relationships/hyperlink" TargetMode="External" Target="https://lists.w3.org/Archives/Public/ietf-http-wg/2024AprJun/0035.ht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2" Type="http://schemas.openxmlformats.org/officeDocument/2006/relationships/image" Target="../media/image72.png"/><Relationship Id="rId74" Type="http://schemas.openxmlformats.org/officeDocument/2006/relationships/image" Target="../media/image74.png"/><Relationship Id="rId75" Type="http://schemas.openxmlformats.org/officeDocument/2006/relationships/hyperlink" TargetMode="External" Target="https://lists.w3.org/Archives/Public/ietf-http-wg/2024JulSep/0070.html"/><Relationship Id="rId76" Type="http://schemas.openxmlformats.org/officeDocument/2006/relationships/image" Target="../media/image76.png"/><Relationship Id="rId77" Type="http://schemas.openxmlformats.org/officeDocument/2006/relationships/hyperlink" TargetMode="External" Target="https://lists.w3.org/Archives/Public/ietf-http-wg/2024AprJun/0089.ht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8" Type="http://schemas.openxmlformats.org/officeDocument/2006/relationships/image" Target="../media/image78.png"/><Relationship Id="rId80" Type="http://schemas.openxmlformats.org/officeDocument/2006/relationships/image" Target="../media/image80.png"/><Relationship Id="rId81" Type="http://schemas.openxmlformats.org/officeDocument/2006/relationships/hyperlink" TargetMode="External" Target="https://lists.w3.org/Archives/Public/ietf-http-wg/2024JulSep/0069.ht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2" Type="http://schemas.openxmlformats.org/officeDocument/2006/relationships/image" Target="../media/image82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4" Type="http://schemas.openxmlformats.org/officeDocument/2006/relationships/image" Target="../media/image84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6" Type="http://schemas.openxmlformats.org/officeDocument/2006/relationships/image" Target="../media/image86.png"/><Relationship Id="rId88" Type="http://schemas.openxmlformats.org/officeDocument/2006/relationships/image" Target="../media/image88.png"/><Relationship Id="rId89" Type="http://schemas.openxmlformats.org/officeDocument/2006/relationships/hyperlink" TargetMode="External" Target="https://lists.w3.org/Archives/Public/ietf-http-wg/2017JulSep/0137.ht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0" Type="http://schemas.openxmlformats.org/officeDocument/2006/relationships/image" Target="../media/image90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2" Type="http://schemas.openxmlformats.org/officeDocument/2006/relationships/image" Target="../media/image92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4" Type="http://schemas.openxmlformats.org/officeDocument/2006/relationships/image" Target="../media/image94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6" Type="http://schemas.openxmlformats.org/officeDocument/2006/relationships/image" Target="../media/image96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0" Type="http://schemas.openxmlformats.org/officeDocument/2006/relationships/image" Target="../media/image100.png"/><Relationship Id="rId101" Type="http://schemas.openxmlformats.org/officeDocument/2006/relationships/hyperlink" TargetMode="External" Target="https://mailarchive.ietf.org/arch/msg/httpapi/8aH-oC5-cqI0Svr9q8Qku6O3sCA/"/><Relationship Id="rId98" Type="http://schemas.openxmlformats.org/officeDocument/2006/relationships/image" Target="../media/image98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2" Type="http://schemas.openxmlformats.org/officeDocument/2006/relationships/image" Target="../media/image102.png"/><Relationship Id="rId104" Type="http://schemas.openxmlformats.org/officeDocument/2006/relationships/image" Target="../media/image104.png"/><Relationship Id="rId105" Type="http://schemas.openxmlformats.org/officeDocument/2006/relationships/hyperlink" TargetMode="External" Target="https://mailarchive.ietf.org/arch/msg/httpapi/WAM7cT1HOOy1ANDWSWrMNhdy68o/"/><Relationship Id="rId106" Type="http://schemas.openxmlformats.org/officeDocument/2006/relationships/image" Target="../media/image106.png"/><Relationship Id="rId107" Type="http://schemas.openxmlformats.org/officeDocument/2006/relationships/hyperlink" TargetMode="External" Target="https://mailarchive.ietf.org/arch/msg/httpapi/jIv1G4tQQUhR3DDfagF3j7RPVQw/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8" Type="http://schemas.openxmlformats.org/officeDocument/2006/relationships/image" Target="../media/image108.png"/><Relationship Id="rId110" Type="http://schemas.openxmlformats.org/officeDocument/2006/relationships/image" Target="../media/image110.png"/><Relationship Id="rId111" Type="http://schemas.openxmlformats.org/officeDocument/2006/relationships/hyperlink" TargetMode="External" Target="https://mailarchive.ietf.org/arch/msg/httpapi/5krdINEEnF2QDq45eUr3xwXM3BY/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2" Type="http://schemas.openxmlformats.org/officeDocument/2006/relationships/image" Target="../media/image112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4" Type="http://schemas.openxmlformats.org/officeDocument/2006/relationships/image" Target="../media/image114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6" Type="http://schemas.openxmlformats.org/officeDocument/2006/relationships/image" Target="../media/image116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8" Type="http://schemas.openxmlformats.org/officeDocument/2006/relationships/image" Target="../media/image118.pn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0" Type="http://schemas.openxmlformats.org/officeDocument/2006/relationships/image" Target="../media/image120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2" Type="http://schemas.openxmlformats.org/officeDocument/2006/relationships/image" Target="../media/image122.pn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4" Type="http://schemas.openxmlformats.org/officeDocument/2006/relationships/image" Target="../media/image124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6" Type="http://schemas.openxmlformats.org/officeDocument/2006/relationships/image" Target="../media/image126.pn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8" Type="http://schemas.openxmlformats.org/officeDocument/2006/relationships/image" Target="../media/image128.png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0" Type="http://schemas.openxmlformats.org/officeDocument/2006/relationships/image" Target="../media/image130.png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2" Type="http://schemas.openxmlformats.org/officeDocument/2006/relationships/image" Target="../media/image132.pn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4" Type="http://schemas.openxmlformats.org/officeDocument/2006/relationships/image" Target="../media/image134.png"/><Relationship Id="rId136" Type="http://schemas.openxmlformats.org/officeDocument/2006/relationships/image" Target="../media/image136.png"/><Relationship Id="rId137" Type="http://schemas.openxmlformats.org/officeDocument/2006/relationships/hyperlink" TargetMode="External" Target="https://lists.w3.org/Archives/Public/ietf-http-wg/2024AprJun/0080.ht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8" Type="http://schemas.openxmlformats.org/officeDocument/2006/relationships/image" Target="../media/image138.png"/><Relationship Id="rId140" Type="http://schemas.openxmlformats.org/officeDocument/2006/relationships/image" Target="../media/image140.png"/><Relationship Id="rId141" Type="http://schemas.openxmlformats.org/officeDocument/2006/relationships/hyperlink" TargetMode="External" Target="https://lists.w3.org/Archives/Public/ietf-http-wg/2024JanMar/0050.html"/><Relationship Id="rId142" Type="http://schemas.openxmlformats.org/officeDocument/2006/relationships/image" Target="../media/image142.png"/><Relationship Id="rId143" Type="http://schemas.openxmlformats.org/officeDocument/2006/relationships/hyperlink" TargetMode="External" Target="https://lists.w3.org/Archives/Public/ietf-http-wg/2024AprJun/0035.html"/><Relationship Id="rId144" Type="http://schemas.openxmlformats.org/officeDocument/2006/relationships/image" Target="../media/image144.png"/><Relationship Id="rId145" Type="http://schemas.openxmlformats.org/officeDocument/2006/relationships/hyperlink" TargetMode="External" Target="https://lists.w3.org/Archives/Public/ietf-http-wg/2023OctDec/0160.html"/><Relationship Id="rId146" Type="http://schemas.openxmlformats.org/officeDocument/2006/relationships/image" Target="../media/image146.png"/><Relationship Id="rId147" Type="http://schemas.openxmlformats.org/officeDocument/2006/relationships/hyperlink" TargetMode="External" Target="https://lists.w3.org/Archives/Public/ietf-http-wg/2023AprJun/0090.ht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8" Type="http://schemas.openxmlformats.org/officeDocument/2006/relationships/image" Target="../media/image148.png"/><Relationship Id="rId150" Type="http://schemas.openxmlformats.org/officeDocument/2006/relationships/image" Target="../media/image150.png"/><Relationship Id="rId151" Type="http://schemas.openxmlformats.org/officeDocument/2006/relationships/hyperlink" TargetMode="External" Target="https://lists.w3.org/Archives/Public/ietf-http-wg/2023JulSep/0057.ht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2" Type="http://schemas.openxmlformats.org/officeDocument/2006/relationships/image" Target="../media/image152.png"/><Relationship Id="rId154" Type="http://schemas.openxmlformats.org/officeDocument/2006/relationships/image" Target="../media/image154.png"/><Relationship Id="rId155" Type="http://schemas.openxmlformats.org/officeDocument/2006/relationships/hyperlink" TargetMode="External" Target="https://lists.w3.org/Archives/Public/ietf-http-wg/2023JanMar/0208.html"/><Relationship Id="rId156" Type="http://schemas.openxmlformats.org/officeDocument/2006/relationships/image" Target="../media/image156.png"/><Relationship Id="rId157" Type="http://schemas.openxmlformats.org/officeDocument/2006/relationships/hyperlink" TargetMode="External" Target="https://lists.w3.org/Archives/Public/ietf-http-wg/2021OctDec/0148.html"/><Relationship Id="rId158" Type="http://schemas.openxmlformats.org/officeDocument/2006/relationships/image" Target="../media/image158.png"/><Relationship Id="rId159" Type="http://schemas.openxmlformats.org/officeDocument/2006/relationships/hyperlink" TargetMode="External" Target="https://lists.w3.org/Archives/Public/ietf-http-wg/2022AprJun/0109.ht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0" Type="http://schemas.openxmlformats.org/officeDocument/2006/relationships/image" Target="../media/image160.png"/><Relationship Id="rId162" Type="http://schemas.openxmlformats.org/officeDocument/2006/relationships/image" Target="../media/image162.png"/><Relationship Id="rId163" Type="http://schemas.openxmlformats.org/officeDocument/2006/relationships/hyperlink" TargetMode="External" Target="https://lists.w3.org/Archives/Public/ietf-http-wg/2023JulSep/0124.ht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4" Type="http://schemas.openxmlformats.org/officeDocument/2006/relationships/image" Target="../media/image164.png"/><Relationship Id="rId166" Type="http://schemas.openxmlformats.org/officeDocument/2006/relationships/image" Target="../media/image166.png"/><Relationship Id="rId167" Type="http://schemas.openxmlformats.org/officeDocument/2006/relationships/hyperlink" TargetMode="External" Target="https://lists.w3.org/Archives/Public/ietf-http-wg/2023JanMar/0076.html"/><Relationship Id="rId168" Type="http://schemas.openxmlformats.org/officeDocument/2006/relationships/image" Target="../media/image168.png"/><Relationship Id="rId169" Type="http://schemas.openxmlformats.org/officeDocument/2006/relationships/hyperlink" TargetMode="External" Target="https://lists.w3.org/Archives/Public/ietf-http-wg/2022JulSep/0183.ht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0" Type="http://schemas.openxmlformats.org/officeDocument/2006/relationships/image" Target="../media/image170.png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2" Type="http://schemas.openxmlformats.org/officeDocument/2006/relationships/image" Target="../media/image172.png"/><Relationship Id="rId174" Type="http://schemas.openxmlformats.org/officeDocument/2006/relationships/image" Target="../media/image174.png"/><Relationship Id="rId175" Type="http://schemas.openxmlformats.org/officeDocument/2006/relationships/hyperlink" TargetMode="External" Target="https://mailarchive.ietf.org/arch/msg/httpapi/JbAEVGnwMvOmkwNbAPwY_3xCHsE/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6" Type="http://schemas.openxmlformats.org/officeDocument/2006/relationships/image" Target="../media/image176.png"/><Relationship Id="rId178" Type="http://schemas.openxmlformats.org/officeDocument/2006/relationships/image" Target="../media/image178.png"/><Relationship Id="rId179" Type="http://schemas.openxmlformats.org/officeDocument/2006/relationships/hyperlink" TargetMode="External" Target="https://lists.w3.org/Archives/Public/ietf-http-wg/2022OctDec/0087.ht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0" Type="http://schemas.openxmlformats.org/officeDocument/2006/relationships/image" Target="../media/image180.png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2" Type="http://schemas.openxmlformats.org/officeDocument/2006/relationships/image" Target="../media/image182.png"/><Relationship Id="rId184" Type="http://schemas.openxmlformats.org/officeDocument/2006/relationships/image" Target="../media/image184.png"/><Relationship Id="rId185" Type="http://schemas.openxmlformats.org/officeDocument/2006/relationships/hyperlink" TargetMode="External" Target="https://lists.w3.org/Archives/Public/ietf-http-wg/2022AprJun/0095.html"/><Relationship Id="rId186" Type="http://schemas.openxmlformats.org/officeDocument/2006/relationships/image" Target="../media/image186.png"/><Relationship Id="rId187" Type="http://schemas.openxmlformats.org/officeDocument/2006/relationships/hyperlink" TargetMode="External" Target="https://lists.w3.org/Archives/Public/ietf-http-wg/2022JanMar/0118.ht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8" Type="http://schemas.openxmlformats.org/officeDocument/2006/relationships/image" Target="../media/image188.png"/><Relationship Id="rId190" Type="http://schemas.openxmlformats.org/officeDocument/2006/relationships/image" Target="../media/image190.png"/><Relationship Id="rId191" Type="http://schemas.openxmlformats.org/officeDocument/2006/relationships/hyperlink" TargetMode="External" Target="https://mailarchive.ietf.org/arch/msg/httpapi/yvjKu-NsSX1_XuHR7oZUf0rpTwA/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2" Type="http://schemas.openxmlformats.org/officeDocument/2006/relationships/image" Target="../media/image192.png"/><Relationship Id="rId194" Type="http://schemas.openxmlformats.org/officeDocument/2006/relationships/image" Target="../media/image194.png"/><Relationship Id="rId195" Type="http://schemas.openxmlformats.org/officeDocument/2006/relationships/hyperlink" TargetMode="External" Target="https://lists.w3.org/Archives/Public/ietf-http-wg/2022JanMar/0143.html"/><Relationship Id="rId196" Type="http://schemas.openxmlformats.org/officeDocument/2006/relationships/image" Target="../media/image196.png"/><Relationship Id="rId197" Type="http://schemas.openxmlformats.org/officeDocument/2006/relationships/hyperlink" TargetMode="External" Target="https://lists.w3.org/Archives/Public/ietf-http-wg/2021JulSep/0456.ht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8" Type="http://schemas.openxmlformats.org/officeDocument/2006/relationships/image" Target="../media/image198.png"/><Relationship Id="rId200" Type="http://schemas.openxmlformats.org/officeDocument/2006/relationships/image" Target="../media/image200.png"/><Relationship Id="rId201" Type="http://schemas.openxmlformats.org/officeDocument/2006/relationships/hyperlink" TargetMode="External" Target="https://lists.w3.org/Archives/Public/ietf-http-wg/2021OctDec/0144.ht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2" Type="http://schemas.openxmlformats.org/officeDocument/2006/relationships/image" Target="../media/image202.png"/><Relationship Id="rId204" Type="http://schemas.openxmlformats.org/officeDocument/2006/relationships/image" Target="../media/image204.png"/><Relationship Id="rId205" Type="http://schemas.openxmlformats.org/officeDocument/2006/relationships/hyperlink" TargetMode="External" Target="https://lists.w3.org/Archives/Public/ietf-http-wg/2021OctDec/0004.ht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6" Type="http://schemas.openxmlformats.org/officeDocument/2006/relationships/image" Target="../media/image206.png"/><Relationship Id="rId208" Type="http://schemas.openxmlformats.org/officeDocument/2006/relationships/image" Target="../media/image208.png"/><Relationship Id="rId209" Type="http://schemas.openxmlformats.org/officeDocument/2006/relationships/hyperlink" TargetMode="External" Target="https://lists.w3.org/Archives/Public/ietf-http-wg/2022JanMar/0097.html"/><Relationship Id="rId210" Type="http://schemas.openxmlformats.org/officeDocument/2006/relationships/image" Target="../media/image210.png"/><Relationship Id="rId211" Type="http://schemas.openxmlformats.org/officeDocument/2006/relationships/hyperlink" TargetMode="External" Target="https://lists.w3.org/Archives/Public/ietf-http-wg/2021OctDec/0044.html"/><Relationship Id="rId212" Type="http://schemas.openxmlformats.org/officeDocument/2006/relationships/image" Target="../media/image212.png"/><Relationship Id="rId213" Type="http://schemas.openxmlformats.org/officeDocument/2006/relationships/hyperlink" TargetMode="External" Target="https://lists.w3.org/Archives/Public/ietf-http-wg/2021OctDec/0200.ht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4" Type="http://schemas.openxmlformats.org/officeDocument/2006/relationships/image" Target="../media/image214.png"/><Relationship Id="rId216" Type="http://schemas.openxmlformats.org/officeDocument/2006/relationships/image" Target="../media/image216.png"/><Relationship Id="rId217" Type="http://schemas.openxmlformats.org/officeDocument/2006/relationships/hyperlink" TargetMode="External" Target="https://lists.w3.org/Archives/Public/ietf-http-wg/2021AprJun/0276.html"/><Relationship Id="rId218" Type="http://schemas.openxmlformats.org/officeDocument/2006/relationships/image" Target="../media/image218.png"/><Relationship Id="rId219" Type="http://schemas.openxmlformats.org/officeDocument/2006/relationships/hyperlink" TargetMode="External" Target="https://lists.w3.org/Archives/Public/ietf-http-wg/2021JanMar/0230.ht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0" Type="http://schemas.openxmlformats.org/officeDocument/2006/relationships/image" Target="../media/image220.png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2" Type="http://schemas.openxmlformats.org/officeDocument/2006/relationships/image" Target="../media/image222.png"/><Relationship Id="rId224" Type="http://schemas.openxmlformats.org/officeDocument/2006/relationships/image" Target="../media/image224.png"/><Relationship Id="rId225" Type="http://schemas.openxmlformats.org/officeDocument/2006/relationships/hyperlink" TargetMode="External" Target="https://lists.w3.org/Archives/Public/ietf-http-wg/2021AprJun/0024.ht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6" Type="http://schemas.openxmlformats.org/officeDocument/2006/relationships/image" Target="../media/image226.png"/><Relationship Id="rId228" Type="http://schemas.openxmlformats.org/officeDocument/2006/relationships/image" Target="../media/image228.png"/><Relationship Id="rId229" Type="http://schemas.openxmlformats.org/officeDocument/2006/relationships/hyperlink" TargetMode="External" Target="https://lists.w3.org/Archives/Public/ietf-http-wg/2021JulSep/0037.html"/><Relationship Id="rId230" Type="http://schemas.openxmlformats.org/officeDocument/2006/relationships/image" Target="../media/image230.png"/><Relationship Id="rId231" Type="http://schemas.openxmlformats.org/officeDocument/2006/relationships/hyperlink" TargetMode="External" Target="https://lists.w3.org/Archives/Public/ietf-http-wg/2021AprJun/0003.html"/><Relationship Id="rId232" Type="http://schemas.openxmlformats.org/officeDocument/2006/relationships/image" Target="../media/image232.png"/><Relationship Id="rId233" Type="http://schemas.openxmlformats.org/officeDocument/2006/relationships/hyperlink" TargetMode="External" Target="https://lists.w3.org/Archives/Public/ietf-http-wg/2018OctDec/0187.html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4" Type="http://schemas.openxmlformats.org/officeDocument/2006/relationships/image" Target="../media/image234.png"/><Relationship Id="rId236" Type="http://schemas.openxmlformats.org/officeDocument/2006/relationships/image" Target="../media/image236.png"/><Relationship Id="rId237" Type="http://schemas.openxmlformats.org/officeDocument/2006/relationships/hyperlink" TargetMode="External" Target="https://lists.w3.org/Archives/Public/ietf-http-wg/2018JulSep/0154.html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8" Type="http://schemas.openxmlformats.org/officeDocument/2006/relationships/image" Target="../media/image238.png"/><Relationship Id="rId240" Type="http://schemas.openxmlformats.org/officeDocument/2006/relationships/image" Target="../media/image240.png"/><Relationship Id="rId241" Type="http://schemas.openxmlformats.org/officeDocument/2006/relationships/hyperlink" TargetMode="External" Target="https://lists.w3.org/Archives/Public/ietf-http-wg/2018AprJun/0236.ht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2" Type="http://schemas.openxmlformats.org/officeDocument/2006/relationships/image" Target="../media/image242.png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4" Type="http://schemas.openxmlformats.org/officeDocument/2006/relationships/image" Target="../media/image244.png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6" Type="http://schemas.openxmlformats.org/officeDocument/2006/relationships/image" Target="../media/image246.png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8" Type="http://schemas.openxmlformats.org/officeDocument/2006/relationships/image" Target="../media/image248.png"/><Relationship Id="rId250" Type="http://schemas.openxmlformats.org/officeDocument/2006/relationships/image" Target="../media/image250.png"/><Relationship Id="rId251" Type="http://schemas.openxmlformats.org/officeDocument/2006/relationships/hyperlink" TargetMode="External" Target="https://lists.w3.org/Archives/Public/ietf-http-wg/2022JanMar/0107.html"/><Relationship Id="rId252" Type="http://schemas.openxmlformats.org/officeDocument/2006/relationships/image" Target="../media/image252.png"/><Relationship Id="rId253" Type="http://schemas.openxmlformats.org/officeDocument/2006/relationships/hyperlink" TargetMode="External" Target="https://lists.w3.org/Archives/Public/ietf-http-wg/2021OctDec/0137.html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4" Type="http://schemas.openxmlformats.org/officeDocument/2006/relationships/image" Target="../media/image254.png"/><Relationship Id="rId256" Type="http://schemas.openxmlformats.org/officeDocument/2006/relationships/image" Target="../media/image256.png"/><Relationship Id="rId257" Type="http://schemas.openxmlformats.org/officeDocument/2006/relationships/hyperlink" TargetMode="External" Target="https://lists.w3.org/Archives/Public/ietf-http-wg/2021JulSep/0091.html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8" Type="http://schemas.openxmlformats.org/officeDocument/2006/relationships/image" Target="../media/image258.png"/><Relationship Id="rId260" Type="http://schemas.openxmlformats.org/officeDocument/2006/relationships/image" Target="../media/image260.png"/><Relationship Id="rId261" Type="http://schemas.openxmlformats.org/officeDocument/2006/relationships/hyperlink" TargetMode="External" Target="https://lists.w3.org/Archives/Public/ietf-http-wg/2021JulSep/0277.html"/><Relationship Id="rId262" Type="http://schemas.openxmlformats.org/officeDocument/2006/relationships/image" Target="../media/image262.png"/><Relationship Id="rId263" Type="http://schemas.openxmlformats.org/officeDocument/2006/relationships/hyperlink" TargetMode="External" Target="https://lists.w3.org/Archives/Public/ietf-http-wg/2021AprJun/0152.html"/><Relationship Id="rId264" Type="http://schemas.openxmlformats.org/officeDocument/2006/relationships/image" Target="../media/image264.png"/><Relationship Id="rId265" Type="http://schemas.openxmlformats.org/officeDocument/2006/relationships/hyperlink" TargetMode="External" Target="https://lists.w3.org/Archives/Public/ietf-http-wg/2021JanMar/0213.html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6" Type="http://schemas.openxmlformats.org/officeDocument/2006/relationships/image" Target="../media/image266.png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8" Type="http://schemas.openxmlformats.org/officeDocument/2006/relationships/image" Target="../media/image268.png"/><Relationship Id="rId270" Type="http://schemas.openxmlformats.org/officeDocument/2006/relationships/image" Target="../media/image270.png"/><Relationship Id="rId271" Type="http://schemas.openxmlformats.org/officeDocument/2006/relationships/hyperlink" TargetMode="External" Target="https://lists.w3.org/Archives/Public/ietf-http-wg/2021JulSep/0277.html"/><Relationship Id="rId272" Type="http://schemas.openxmlformats.org/officeDocument/2006/relationships/image" Target="../media/image272.png"/><Relationship Id="rId273" Type="http://schemas.openxmlformats.org/officeDocument/2006/relationships/hyperlink" TargetMode="External" Target="https://lists.w3.org/Archives/Public/ietf-http-wg/2021AprJun/0152.html"/><Relationship Id="rId274" Type="http://schemas.openxmlformats.org/officeDocument/2006/relationships/image" Target="../media/image274.png"/><Relationship Id="rId275" Type="http://schemas.openxmlformats.org/officeDocument/2006/relationships/hyperlink" TargetMode="External" Target="https://lists.w3.org/Archives/Public/ietf-http-wg/2021JanMar/0213.html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6" Type="http://schemas.openxmlformats.org/officeDocument/2006/relationships/image" Target="../media/image276.png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8" Type="http://schemas.openxmlformats.org/officeDocument/2006/relationships/image" Target="../media/image278.png"/><Relationship Id="rId280" Type="http://schemas.openxmlformats.org/officeDocument/2006/relationships/image" Target="../media/image280.png"/><Relationship Id="rId281" Type="http://schemas.openxmlformats.org/officeDocument/2006/relationships/hyperlink" TargetMode="External" Target="https://lists.w3.org/Archives/Public/ietf-http-wg/2021JulSep/0279.html"/><Relationship Id="rId282" Type="http://schemas.openxmlformats.org/officeDocument/2006/relationships/image" Target="../media/image282.png"/><Relationship Id="rId283" Type="http://schemas.openxmlformats.org/officeDocument/2006/relationships/hyperlink" TargetMode="External" Target="https://lists.w3.org/Archives/Public/ietf-http-wg/2021AprJun/0154.html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4" Type="http://schemas.openxmlformats.org/officeDocument/2006/relationships/image" Target="../media/image284.png"/><Relationship Id="rId286" Type="http://schemas.openxmlformats.org/officeDocument/2006/relationships/image" Target="../media/image286.png"/><Relationship Id="rId287" Type="http://schemas.openxmlformats.org/officeDocument/2006/relationships/hyperlink" TargetMode="External" Target="https://lists.w3.org/Archives/Public/ietf-http-wg/2021JanMar/0213.html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8" Type="http://schemas.openxmlformats.org/officeDocument/2006/relationships/image" Target="../media/image288.png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0" Type="http://schemas.openxmlformats.org/officeDocument/2006/relationships/image" Target="../media/image290.png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2" Type="http://schemas.openxmlformats.org/officeDocument/2006/relationships/image" Target="../media/image292.png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4" Type="http://schemas.openxmlformats.org/officeDocument/2006/relationships/image" Target="../media/image294.png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6" Type="http://schemas.openxmlformats.org/officeDocument/2006/relationships/image" Target="../media/image296.png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8" Type="http://schemas.openxmlformats.org/officeDocument/2006/relationships/image" Target="../media/image298.png"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0" Type="http://schemas.openxmlformats.org/officeDocument/2006/relationships/image" Target="../media/image300.png"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2" Type="http://schemas.openxmlformats.org/officeDocument/2006/relationships/image" Target="../media/image302.png"/><Relationship Id="rId304" Type="http://schemas.openxmlformats.org/officeDocument/2006/relationships/image" Target="../media/image304.png"/><Relationship Id="rId305" Type="http://schemas.openxmlformats.org/officeDocument/2006/relationships/hyperlink" TargetMode="External" Target="https://mailarchive.ietf.org/arch/msg/ietf-announce/X73sR4A-qLx0FqkHIJnReiZ-ObQ/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6" Type="http://schemas.openxmlformats.org/officeDocument/2006/relationships/image" Target="../media/image306.png"/><Relationship Id="rId308" Type="http://schemas.openxmlformats.org/officeDocument/2006/relationships/image" Target="../media/image308.png"/><Relationship Id="rId309" Type="http://schemas.openxmlformats.org/officeDocument/2006/relationships/hyperlink" TargetMode="External" Target="https://lists.w3.org/Archives/Public/ietf-http-wg/2020JanMar/0124.html"/><Relationship Id="rId310" Type="http://schemas.openxmlformats.org/officeDocument/2006/relationships/image" Target="../media/image310.png"/><Relationship Id="rId311" Type="http://schemas.openxmlformats.org/officeDocument/2006/relationships/hyperlink" TargetMode="External" Target="https://lists.w3.org/Archives/Public/ietf-http-wg/2020JanMar/0124.html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2" Type="http://schemas.openxmlformats.org/officeDocument/2006/relationships/image" Target="../media/image312.png"/><Relationship Id="rId314" Type="http://schemas.openxmlformats.org/officeDocument/2006/relationships/image" Target="../media/image314.png"/><Relationship Id="rId315" Type="http://schemas.openxmlformats.org/officeDocument/2006/relationships/hyperlink" TargetMode="External" Target="https://lists.w3.org/Archives/Public/ietf-http-wg/2018JulSep/0124.html"/><Relationship Id="rId316" Type="http://schemas.openxmlformats.org/officeDocument/2006/relationships/image" Target="../media/image316.png"/><Relationship Id="rId317" Type="http://schemas.openxmlformats.org/officeDocument/2006/relationships/hyperlink" TargetMode="External" Target="https://lists.w3.org/Archives/Public/ietf-http-wg/2017AprJun/0033.html"/><Relationship Id="rId318" Type="http://schemas.openxmlformats.org/officeDocument/2006/relationships/image" Target="../media/image318.png"/><Relationship Id="rId319" Type="http://schemas.openxmlformats.org/officeDocument/2006/relationships/hyperlink" TargetMode="External" Target="https://lists.w3.org/Archives/Public/ietf-http-wg/2016OctDec/0040.html"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0" Type="http://schemas.openxmlformats.org/officeDocument/2006/relationships/image" Target="../media/image320.png"/><Relationship Id="rId322" Type="http://schemas.openxmlformats.org/officeDocument/2006/relationships/image" Target="../media/image322.png"/><Relationship Id="rId323" Type="http://schemas.openxmlformats.org/officeDocument/2006/relationships/hyperlink" TargetMode="External" Target="https://mailarchive.ietf.org/arch/msg/ietf-announce/t0756ofDd-yufEAtQhNqM6HOArA/"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4" Type="http://schemas.openxmlformats.org/officeDocument/2006/relationships/image" Target="../media/image324.png"/><Relationship Id="rId326" Type="http://schemas.openxmlformats.org/officeDocument/2006/relationships/image" Target="../media/image326.png"/><Relationship Id="rId327" Type="http://schemas.openxmlformats.org/officeDocument/2006/relationships/hyperlink" TargetMode="External" Target="https://lists.w3.org/Archives/Public/ietf-http-wg/2020JanMar/0078.html"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8" Type="http://schemas.openxmlformats.org/officeDocument/2006/relationships/image" Target="../media/image328.png"/></Relationships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0" Type="http://schemas.openxmlformats.org/officeDocument/2006/relationships/image" Target="../media/image330.png"/><Relationship Id="rId332" Type="http://schemas.openxmlformats.org/officeDocument/2006/relationships/image" Target="../media/image332.png"/><Relationship Id="rId333" Type="http://schemas.openxmlformats.org/officeDocument/2006/relationships/hyperlink" TargetMode="External" Target="https://lists.w3.org/Archives/Public/ietf-http-wg/2018AprJun/0023.html"/><Relationship Id="rId334" Type="http://schemas.openxmlformats.org/officeDocument/2006/relationships/image" Target="../media/image334.png"/><Relationship Id="rId335" Type="http://schemas.openxmlformats.org/officeDocument/2006/relationships/hyperlink" TargetMode="External" Target="https://lists.w3.org/Archives/Public/ietf-http-wg/2017OctDec/0304.html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6" Type="http://schemas.openxmlformats.org/officeDocument/2006/relationships/image" Target="../media/image336.png"/><Relationship Id="rId338" Type="http://schemas.openxmlformats.org/officeDocument/2006/relationships/image" Target="../media/image338.png"/><Relationship Id="rId339" Type="http://schemas.openxmlformats.org/officeDocument/2006/relationships/hyperlink" TargetMode="External" Target="https://mailarchive.ietf.org/arch/msg/ietf-announce/6tKkBW0KNynvS1yhXmT7aRpg4B0"/><Relationship Id="rId340" Type="http://schemas.openxmlformats.org/officeDocument/2006/relationships/image" Target="../media/image340.png"/><Relationship Id="rId341" Type="http://schemas.openxmlformats.org/officeDocument/2006/relationships/hyperlink" TargetMode="External" Target="https://lists.w3.org/Archives/Public/ietf-http-wg/2018OctDec/0053.html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2" Type="http://schemas.openxmlformats.org/officeDocument/2006/relationships/image" Target="../media/image342.png"/><Relationship Id="rId344" Type="http://schemas.openxmlformats.org/officeDocument/2006/relationships/image" Target="../media/image344.png"/><Relationship Id="rId345" Type="http://schemas.openxmlformats.org/officeDocument/2006/relationships/hyperlink" TargetMode="External" Target="https://lists.w3.org/Archives/Public/ietf-http-wg/2018AprJun/0126.html"/><Relationship Id="rId346" Type="http://schemas.openxmlformats.org/officeDocument/2006/relationships/image" Target="../media/image346.png"/><Relationship Id="rId347" Type="http://schemas.openxmlformats.org/officeDocument/2006/relationships/hyperlink" TargetMode="External" Target="https://lists.w3.org/Archives/Public/ietf-http-wg/2018AprJun/0044.html"/><Relationship Id="rId348" Type="http://schemas.openxmlformats.org/officeDocument/2006/relationships/image" Target="../media/image348.png"/><Relationship Id="rId349" Type="http://schemas.openxmlformats.org/officeDocument/2006/relationships/hyperlink" TargetMode="External" Target="https://lists.w3.org/Archives/Public/ietf-http-wg/2017OctDec/0322.html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0" Type="http://schemas.openxmlformats.org/officeDocument/2006/relationships/image" Target="../media/image350.png"/><Relationship Id="rId352" Type="http://schemas.openxmlformats.org/officeDocument/2006/relationships/image" Target="../media/image352.png"/><Relationship Id="rId353" Type="http://schemas.openxmlformats.org/officeDocument/2006/relationships/hyperlink" TargetMode="External" Target="https://lists.w3.org/Archives/Public/ietf-http-wg/2018AprJun/0136.html"/><Relationship Id="rId354" Type="http://schemas.openxmlformats.org/officeDocument/2006/relationships/image" Target="../media/image354.png"/><Relationship Id="rId355" Type="http://schemas.openxmlformats.org/officeDocument/2006/relationships/hyperlink" TargetMode="External" Target="https://lists.w3.org/Archives/Public/ietf-http-wg/2018JanMar/0238.html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6" Type="http://schemas.openxmlformats.org/officeDocument/2006/relationships/image" Target="../media/image356.png"/><Relationship Id="rId358" Type="http://schemas.openxmlformats.org/officeDocument/2006/relationships/image" Target="../media/image358.png"/><Relationship Id="rId359" Type="http://schemas.openxmlformats.org/officeDocument/2006/relationships/hyperlink" TargetMode="External" Target="https://lists.w3.org/Archives/Public/ietf-http-wg/2017JulSep/0409.html"/><Relationship Id="rId360" Type="http://schemas.openxmlformats.org/officeDocument/2006/relationships/image" Target="../media/image360.png"/><Relationship Id="rId361" Type="http://schemas.openxmlformats.org/officeDocument/2006/relationships/hyperlink" TargetMode="External" Target="https://lists.w3.org/Archives/Public/ietf-http-wg/2017OctDec/0278.html"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2" Type="http://schemas.openxmlformats.org/officeDocument/2006/relationships/image" Target="../media/image362.png"/><Relationship Id="rId364" Type="http://schemas.openxmlformats.org/officeDocument/2006/relationships/image" Target="../media/image364.png"/><Relationship Id="rId365" Type="http://schemas.openxmlformats.org/officeDocument/2006/relationships/hyperlink" TargetMode="External" Target="https://lists.w3.org/Archives/Public/ietf-http-wg/2017OctDec/0109.html"/><Relationship Id="rId366" Type="http://schemas.openxmlformats.org/officeDocument/2006/relationships/image" Target="../media/image366.png"/><Relationship Id="rId367" Type="http://schemas.openxmlformats.org/officeDocument/2006/relationships/hyperlink" TargetMode="External" Target="https://lists.w3.org/Archives/Public/ietf-http-wg/2017AprJun/0199.html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8" Type="http://schemas.openxmlformats.org/officeDocument/2006/relationships/image" Target="../media/image368.png"/><Relationship Id="rId370" Type="http://schemas.openxmlformats.org/officeDocument/2006/relationships/image" Target="../media/image370.png"/><Relationship Id="rId371" Type="http://schemas.openxmlformats.org/officeDocument/2006/relationships/hyperlink" TargetMode="External" Target="https://lists.w3.org/Archives/Public/ietf-http-wg/2017AprJun/0139.html"/><Relationship Id="rId372" Type="http://schemas.openxmlformats.org/officeDocument/2006/relationships/image" Target="../media/image372.png"/><Relationship Id="rId373" Type="http://schemas.openxmlformats.org/officeDocument/2006/relationships/hyperlink" TargetMode="External" Target="https://lists.w3.org/Archives/Public/ietf-http-wg/2017JulSep/0003.html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74" Type="http://schemas.openxmlformats.org/officeDocument/2006/relationships/image" Target="../media/image374.png"/><Relationship Id="rId376" Type="http://schemas.openxmlformats.org/officeDocument/2006/relationships/image" Target="../media/image376.png"/><Relationship Id="rId377" Type="http://schemas.openxmlformats.org/officeDocument/2006/relationships/hyperlink" TargetMode="External" Target="https://lists.w3.org/Archives/Public/ietf-http-wg/2017AprJun/0062.html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78" Type="http://schemas.openxmlformats.org/officeDocument/2006/relationships/image" Target="../media/image378.png"/><Relationship Id="rId380" Type="http://schemas.openxmlformats.org/officeDocument/2006/relationships/image" Target="../media/image380.png"/><Relationship Id="rId381" Type="http://schemas.openxmlformats.org/officeDocument/2006/relationships/hyperlink" TargetMode="External" Target="https://lists.w3.org/Archives/Public/ietf-http-wg/2017JanMar/0520.html"/><Relationship Id="rId382" Type="http://schemas.openxmlformats.org/officeDocument/2006/relationships/image" Target="../media/image382.png"/><Relationship Id="rId383" Type="http://schemas.openxmlformats.org/officeDocument/2006/relationships/hyperlink" TargetMode="External" Target="https://lists.w3.org/Archives/Public/ietf-http-wg/2017JanMar/0291.html"/><Relationship Id="rId384" Type="http://schemas.openxmlformats.org/officeDocument/2006/relationships/image" Target="../media/image384.png"/><Relationship Id="rId385" Type="http://schemas.openxmlformats.org/officeDocument/2006/relationships/hyperlink" TargetMode="External" Target="https://lists.w3.org/Archives/Public/ietf-http-wg/2016OctDec/0120.html"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6" Type="http://schemas.openxmlformats.org/officeDocument/2006/relationships/image" Target="../media/image386.png"/><Relationship Id="rId388" Type="http://schemas.openxmlformats.org/officeDocument/2006/relationships/image" Target="../media/image388.png"/><Relationship Id="rId389" Type="http://schemas.openxmlformats.org/officeDocument/2006/relationships/hyperlink" TargetMode="External" Target="https://lists.w3.org/Archives/Public/ietf-http-wg/2017JanMar/0192.html"/></Relationships>
</file>

<file path=ppt/slides/_rels/slide1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90" Type="http://schemas.openxmlformats.org/officeDocument/2006/relationships/image" Target="../media/image390.png"/><Relationship Id="rId392" Type="http://schemas.openxmlformats.org/officeDocument/2006/relationships/image" Target="../media/image392.png"/><Relationship Id="rId393" Type="http://schemas.openxmlformats.org/officeDocument/2006/relationships/hyperlink" TargetMode="External" Target="https://lists.w3.org/Archives/Public/ietf-http-wg/2016OctDec/0145.html"/><Relationship Id="rId394" Type="http://schemas.openxmlformats.org/officeDocument/2006/relationships/image" Target="../media/image394.png"/><Relationship Id="rId395" Type="http://schemas.openxmlformats.org/officeDocument/2006/relationships/hyperlink" TargetMode="External" Target="https://lists.w3.org/Archives/Public/ietf-http-wg/2017JanMar/0331.html"/></Relationships>
</file>

<file path=ppt/slides/_rels/slide1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96" Type="http://schemas.openxmlformats.org/officeDocument/2006/relationships/image" Target="../media/image396.png"/><Relationship Id="rId398" Type="http://schemas.openxmlformats.org/officeDocument/2006/relationships/image" Target="../media/image398.png"/><Relationship Id="rId399" Type="http://schemas.openxmlformats.org/officeDocument/2006/relationships/hyperlink" TargetMode="External" Target="https://lists.w3.org/Archives/Public/ietf-http-wg/2016JanMar/0456.html"/></Relationships>
</file>

<file path=ppt/slides/_rels/slide1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0" Type="http://schemas.openxmlformats.org/officeDocument/2006/relationships/image" Target="../media/image400.png"/></Relationships>
</file>

<file path=ppt/slides/_rels/slide1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2" Type="http://schemas.openxmlformats.org/officeDocument/2006/relationships/image" Target="../media/image402.png"/></Relationships>
</file>

<file path=ppt/slides/_rels/slide1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4" Type="http://schemas.openxmlformats.org/officeDocument/2006/relationships/image" Target="../media/image404.png"/></Relationships>
</file>

<file path=ppt/slides/_rels/slide1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6" Type="http://schemas.openxmlformats.org/officeDocument/2006/relationships/image" Target="../media/image406.png"/></Relationships>
</file>

<file path=ppt/slides/_rels/slide1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8" Type="http://schemas.openxmlformats.org/officeDocument/2006/relationships/image" Target="../media/image408.png"/><Relationship Id="rId410" Type="http://schemas.openxmlformats.org/officeDocument/2006/relationships/image" Target="../media/image410.png"/><Relationship Id="rId411" Type="http://schemas.openxmlformats.org/officeDocument/2006/relationships/hyperlink" TargetMode="External" Target="https://lists.w3.org/Archives/Public/ietf-http-wg/2016JanMar/0228.html"/><Relationship Id="rId412" Type="http://schemas.openxmlformats.org/officeDocument/2006/relationships/image" Target="../media/image412.png"/><Relationship Id="rId413" Type="http://schemas.openxmlformats.org/officeDocument/2006/relationships/hyperlink" TargetMode="External" Target="https://lists.w3.org/Archives/Public/ietf-http-wg/2015OctDec/0197.html"/></Relationships>
</file>

<file path=ppt/slides/_rels/slide1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14" Type="http://schemas.openxmlformats.org/officeDocument/2006/relationships/image" Target="../media/image414.png"/><Relationship Id="rId416" Type="http://schemas.openxmlformats.org/officeDocument/2006/relationships/image" Target="../media/image416.png"/><Relationship Id="rId417" Type="http://schemas.openxmlformats.org/officeDocument/2006/relationships/hyperlink" TargetMode="External" Target="https://mailarchive.ietf.org/arch/msg/apps-discuss/qnIhCKUog59DmRHtNSZ-6WwkVgw"/></Relationships>
</file>

<file path=ppt/slides/_rels/slide1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18" Type="http://schemas.openxmlformats.org/officeDocument/2006/relationships/image" Target="../media/image418.png"/><Relationship Id="rId420" Type="http://schemas.openxmlformats.org/officeDocument/2006/relationships/image" Target="../media/image420.png"/><Relationship Id="rId421" Type="http://schemas.openxmlformats.org/officeDocument/2006/relationships/hyperlink" TargetMode="External" Target="https://lists.w3.org/Archives/Public/ietf-http-wg/2015OctDec/0207.html"/><Relationship Id="rId422" Type="http://schemas.openxmlformats.org/officeDocument/2006/relationships/image" Target="../media/image422.png"/><Relationship Id="rId423" Type="http://schemas.openxmlformats.org/officeDocument/2006/relationships/hyperlink" TargetMode="External" Target="https://lists.w3.org/Archives/Public/ietf-http-wg/2015JulSep/0420.html"/></Relationships>
</file>

<file path=ppt/slides/_rels/slide1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24" Type="http://schemas.openxmlformats.org/officeDocument/2006/relationships/image" Target="../media/image424.png"/></Relationships>
</file>

<file path=ppt/slides/_rels/slide1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26" Type="http://schemas.openxmlformats.org/officeDocument/2006/relationships/image" Target="../media/image426.png"/><Relationship Id="rId428" Type="http://schemas.openxmlformats.org/officeDocument/2006/relationships/image" Target="../media/image428.png"/><Relationship Id="rId429" Type="http://schemas.openxmlformats.org/officeDocument/2006/relationships/hyperlink" TargetMode="External" Target="https://lists.w3.org/Archives/Public/ietf-http-wg/2015JulSep/0150.html"/><Relationship Id="rId430" Type="http://schemas.openxmlformats.org/officeDocument/2006/relationships/image" Target="../media/image430.png"/><Relationship Id="rId431" Type="http://schemas.openxmlformats.org/officeDocument/2006/relationships/hyperlink" TargetMode="External" Target="https://lists.w3.org/Archives/Public/ietf-http-wg/2015AprJun/0533.html"/></Relationships>
</file>

<file path=ppt/slides/_rels/slide1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32" Type="http://schemas.openxmlformats.org/officeDocument/2006/relationships/image" Target="../media/image432.png"/><Relationship Id="rId434" Type="http://schemas.openxmlformats.org/officeDocument/2006/relationships/image" Target="../media/image434.png"/><Relationship Id="rId435" Type="http://schemas.openxmlformats.org/officeDocument/2006/relationships/hyperlink" TargetMode="External" Target="https://mailarchive.ietf.org/arch/msg/http-auth/H9EDHlASrA7cSgp9G8_VMyiUNdI"/><Relationship Id="rId436" Type="http://schemas.openxmlformats.org/officeDocument/2006/relationships/image" Target="../media/image436.png"/><Relationship Id="rId437" Type="http://schemas.openxmlformats.org/officeDocument/2006/relationships/hyperlink" TargetMode="External" Target="http://www.ietf.org/mail-archive/web/http-auth/current/msg02017.html"/></Relationships>
</file>

<file path=ppt/slides/_rels/slide1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38" Type="http://schemas.openxmlformats.org/officeDocument/2006/relationships/image" Target="../media/image438.png"/><Relationship Id="rId440" Type="http://schemas.openxmlformats.org/officeDocument/2006/relationships/image" Target="../media/image440.png"/><Relationship Id="rId441" Type="http://schemas.openxmlformats.org/officeDocument/2006/relationships/hyperlink" TargetMode="External" Target="https://lists.w3.org/Archives/Public/ietf-http-wg/2015JanMar/0572.html"/><Relationship Id="rId442" Type="http://schemas.openxmlformats.org/officeDocument/2006/relationships/image" Target="../media/image442.png"/><Relationship Id="rId443" Type="http://schemas.openxmlformats.org/officeDocument/2006/relationships/hyperlink" TargetMode="External" Target="https://lists.w3.org/Archives/Public/ietf-http-wg/2015JanMar/0425.html"/></Relationships>
</file>

<file path=ppt/slides/_rels/slide1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44" Type="http://schemas.openxmlformats.org/officeDocument/2006/relationships/image" Target="../media/image444.png"/><Relationship Id="rId446" Type="http://schemas.openxmlformats.org/officeDocument/2006/relationships/image" Target="../media/image446.png"/><Relationship Id="rId447" Type="http://schemas.openxmlformats.org/officeDocument/2006/relationships/hyperlink" TargetMode="External" Target="https://lists.w3.org/Archives/Public/ietf-http-wg/2015AprJun/0461.html"/><Relationship Id="rId448" Type="http://schemas.openxmlformats.org/officeDocument/2006/relationships/image" Target="../media/image448.png"/><Relationship Id="rId449" Type="http://schemas.openxmlformats.org/officeDocument/2006/relationships/hyperlink" TargetMode="External" Target="https://lists.w3.org/Archives/Public/ietf-http-wg/2015JanMar/0653.html"/></Relationships>
</file>

<file path=ppt/slides/_rels/slide1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50" Type="http://schemas.openxmlformats.org/officeDocument/2006/relationships/image" Target="../media/image450.png"/><Relationship Id="rId452" Type="http://schemas.openxmlformats.org/officeDocument/2006/relationships/image" Target="../media/image452.png"/><Relationship Id="rId453" Type="http://schemas.openxmlformats.org/officeDocument/2006/relationships/hyperlink" TargetMode="External" Target="http://lists.w3.org/Archives/Public/ietf-http-wg/2014OctDec/0982.html"/><Relationship Id="rId454" Type="http://schemas.openxmlformats.org/officeDocument/2006/relationships/image" Target="../media/image454.png"/><Relationship Id="rId455" Type="http://schemas.openxmlformats.org/officeDocument/2006/relationships/hyperlink" TargetMode="External" Target="http://lists.w3.org/Archives/Public/ietf-http-wg/2014JulSep/1563.html"/></Relationships>
</file>

<file path=ppt/slides/_rels/slide1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56" Type="http://schemas.openxmlformats.org/officeDocument/2006/relationships/image" Target="../media/image456.png"/></Relationships>
</file>

<file path=ppt/slides/_rels/slide1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58" Type="http://schemas.openxmlformats.org/officeDocument/2006/relationships/image" Target="../media/image458.png"/><Relationship Id="rId460" Type="http://schemas.openxmlformats.org/officeDocument/2006/relationships/image" Target="../media/image460.png"/><Relationship Id="rId461" Type="http://schemas.openxmlformats.org/officeDocument/2006/relationships/hyperlink" TargetMode="External" Target="http://lists.w3.org/Archives/Public/ietf-http-wg/2014OctDec/0981.html"/><Relationship Id="rId462" Type="http://schemas.openxmlformats.org/officeDocument/2006/relationships/image" Target="../media/image462.png"/><Relationship Id="rId463" Type="http://schemas.openxmlformats.org/officeDocument/2006/relationships/hyperlink" TargetMode="External" Target="http://lists.w3.org/Archives/Public/ietf-http-wg/2014JulSep/1563.html"/></Relationships>
</file>

<file path=ppt/slides/_rels/slide1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64" Type="http://schemas.openxmlformats.org/officeDocument/2006/relationships/image" Target="../media/image464.png"/><Relationship Id="rId466" Type="http://schemas.openxmlformats.org/officeDocument/2006/relationships/image" Target="../media/image466.png"/><Relationship Id="rId467" Type="http://schemas.openxmlformats.org/officeDocument/2006/relationships/hyperlink" TargetMode="External" Target="https://lists.w3.org/Archives/Public/ietf-http-wg/2015JanMar/0148.html"/></Relationships>
</file>

<file path=ppt/slides/_rels/slide1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68" Type="http://schemas.openxmlformats.org/officeDocument/2006/relationships/image" Target="../media/image468.png"/><Relationship Id="rId470" Type="http://schemas.openxmlformats.org/officeDocument/2006/relationships/image" Target="../media/image470.png"/><Relationship Id="rId471" Type="http://schemas.openxmlformats.org/officeDocument/2006/relationships/hyperlink" TargetMode="External" Target="http://lists.w3.org/Archives/Public/ietf-http-wg/2013OctDec/0247.html"/></Relationships>
</file>

<file path=ppt/slides/_rels/slide1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72" Type="http://schemas.openxmlformats.org/officeDocument/2006/relationships/image" Target="../media/image472.png"/><Relationship Id="rId474" Type="http://schemas.openxmlformats.org/officeDocument/2006/relationships/image" Target="../media/image474.png"/><Relationship Id="rId475" Type="http://schemas.openxmlformats.org/officeDocument/2006/relationships/hyperlink" TargetMode="External" Target="http://lists.w3.org/Archives/Public/ietf-http-wg/2013JanMar/1253.html"/><Relationship Id="rId476" Type="http://schemas.openxmlformats.org/officeDocument/2006/relationships/image" Target="../media/image476.png"/><Relationship Id="rId477" Type="http://schemas.openxmlformats.org/officeDocument/2006/relationships/hyperlink" TargetMode="External" Target="http://lists.w3.org/Archives/Public/ietf-http-wg/2012OctDec/0103.html"/></Relationships>
</file>

<file path=ppt/slides/_rels/slide1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78" Type="http://schemas.openxmlformats.org/officeDocument/2006/relationships/image" Target="../media/image478.png"/></Relationships>
</file>

<file path=ppt/slides/_rels/slide1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80" Type="http://schemas.openxmlformats.org/officeDocument/2006/relationships/image" Target="../media/image480.png"/></Relationships>
</file>

<file path=ppt/slides/_rels/slide1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82" Type="http://schemas.openxmlformats.org/officeDocument/2006/relationships/image" Target="../media/image482.png"/><Relationship Id="rId484" Type="http://schemas.openxmlformats.org/officeDocument/2006/relationships/image" Target="../media/image484.png"/><Relationship Id="rId485" Type="http://schemas.openxmlformats.org/officeDocument/2006/relationships/hyperlink" TargetMode="External" Target="http://lists.w3.org/Archives/Public/ietf-http-wg/2013OctDec/0248.html"/><Relationship Id="rId486" Type="http://schemas.openxmlformats.org/officeDocument/2006/relationships/image" Target="../media/image486.png"/><Relationship Id="rId487" Type="http://schemas.openxmlformats.org/officeDocument/2006/relationships/hyperlink" TargetMode="External" Target="http://lists.w3.org/Archives/Public/ietf-http-wg/2013JanMar/1253.html"/></Relationships>
</file>

<file path=ppt/slides/_rels/slide1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88" Type="http://schemas.openxmlformats.org/officeDocument/2006/relationships/image" Target="../media/image488.png"/><Relationship Id="rId490" Type="http://schemas.openxmlformats.org/officeDocument/2006/relationships/image" Target="../media/image490.png"/><Relationship Id="rId491" Type="http://schemas.openxmlformats.org/officeDocument/2006/relationships/hyperlink" TargetMode="External" Target="http://lists.w3.org/Archives/Public/ietf-http-wg/2012OctDec/0103.html"/></Relationships>
</file>

<file path=ppt/slides/_rels/slide1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92" Type="http://schemas.openxmlformats.org/officeDocument/2006/relationships/image" Target="../media/image492.png"/></Relationships>
</file>

<file path=ppt/slides/_rels/slide1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94" Type="http://schemas.openxmlformats.org/officeDocument/2006/relationships/image" Target="../media/image494.png"/></Relationships>
</file>

<file path=ppt/slides/_rels/slide1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96" Type="http://schemas.openxmlformats.org/officeDocument/2006/relationships/image" Target="../media/image496.png"/><Relationship Id="rId498" Type="http://schemas.openxmlformats.org/officeDocument/2006/relationships/image" Target="../media/image498.png"/><Relationship Id="rId499" Type="http://schemas.openxmlformats.org/officeDocument/2006/relationships/hyperlink" TargetMode="External" Target="http://lists.w3.org/Archives/Public/ietf-http-wg/2013OctDec/0249.html"/><Relationship Id="rId500" Type="http://schemas.openxmlformats.org/officeDocument/2006/relationships/image" Target="../media/image500.png"/><Relationship Id="rId501" Type="http://schemas.openxmlformats.org/officeDocument/2006/relationships/hyperlink" TargetMode="External" Target="http://lists.w3.org/Archives/Public/ietf-http-wg/2013JanMar/1253.html"/><Relationship Id="rId502" Type="http://schemas.openxmlformats.org/officeDocument/2006/relationships/image" Target="../media/image502.png"/><Relationship Id="rId503" Type="http://schemas.openxmlformats.org/officeDocument/2006/relationships/hyperlink" TargetMode="External" Target="http://lists.w3.org/Archives/Public/ietf-http-wg/2012OctDec/0139.html"/></Relationships>
</file>

<file path=ppt/slides/_rels/slide1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04" Type="http://schemas.openxmlformats.org/officeDocument/2006/relationships/image" Target="../media/image504.png"/><Relationship Id="rId506" Type="http://schemas.openxmlformats.org/officeDocument/2006/relationships/image" Target="../media/image506.png"/><Relationship Id="rId507" Type="http://schemas.openxmlformats.org/officeDocument/2006/relationships/hyperlink" TargetMode="External" Target="http://lists.w3.org/Archives/Public/ietf-http-wg/2012JanMar/0888.html"/></Relationships>
</file>

<file path=ppt/slides/_rels/slide1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08" Type="http://schemas.openxmlformats.org/officeDocument/2006/relationships/image" Target="../media/image508.png"/></Relationships>
</file>

<file path=ppt/slides/_rels/slide1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10" Type="http://schemas.openxmlformats.org/officeDocument/2006/relationships/image" Target="../media/image510.png"/></Relationships>
</file>

<file path=ppt/slides/_rels/slide1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12" Type="http://schemas.openxmlformats.org/officeDocument/2006/relationships/image" Target="../media/image512.png"/><Relationship Id="rId514" Type="http://schemas.openxmlformats.org/officeDocument/2006/relationships/image" Target="../media/image514.png"/><Relationship Id="rId515" Type="http://schemas.openxmlformats.org/officeDocument/2006/relationships/hyperlink" TargetMode="External" Target="http://lists.w3.org/Archives/Public/ietf-http-wg/2013OctDec/0250.html"/><Relationship Id="rId516" Type="http://schemas.openxmlformats.org/officeDocument/2006/relationships/image" Target="../media/image516.png"/><Relationship Id="rId517" Type="http://schemas.openxmlformats.org/officeDocument/2006/relationships/hyperlink" TargetMode="External" Target="http://lists.w3.org/Archives/Public/ietf-http-wg/2013JanMar/1253.html"/><Relationship Id="rId518" Type="http://schemas.openxmlformats.org/officeDocument/2006/relationships/image" Target="../media/image518.png"/><Relationship Id="rId519" Type="http://schemas.openxmlformats.org/officeDocument/2006/relationships/hyperlink" TargetMode="External" Target="http://lists.w3.org/Archives/Public/ietf-http-wg/2012OctDec/0139.html"/></Relationships>
</file>

<file path=ppt/slides/_rels/slide1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20" Type="http://schemas.openxmlformats.org/officeDocument/2006/relationships/image" Target="../media/image520.png"/><Relationship Id="rId522" Type="http://schemas.openxmlformats.org/officeDocument/2006/relationships/image" Target="../media/image522.png"/><Relationship Id="rId523" Type="http://schemas.openxmlformats.org/officeDocument/2006/relationships/hyperlink" TargetMode="External" Target="http://lists.w3.org/Archives/Public/ietf-http-wg/2012JanMar/0888.html"/></Relationships>
</file>

<file path=ppt/slides/_rels/slide1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24" Type="http://schemas.openxmlformats.org/officeDocument/2006/relationships/image" Target="../media/image524.png"/></Relationships>
</file>

<file path=ppt/slides/_rels/slide1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26" Type="http://schemas.openxmlformats.org/officeDocument/2006/relationships/image" Target="../media/image526.png"/></Relationships>
</file>

<file path=ppt/slides/_rels/slide1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28" Type="http://schemas.openxmlformats.org/officeDocument/2006/relationships/image" Target="../media/image528.png"/><Relationship Id="rId530" Type="http://schemas.openxmlformats.org/officeDocument/2006/relationships/image" Target="../media/image530.png"/><Relationship Id="rId531" Type="http://schemas.openxmlformats.org/officeDocument/2006/relationships/hyperlink" TargetMode="External" Target="http://lists.w3.org/Archives/Public/ietf-http-wg/2013OctDec/0251.html"/><Relationship Id="rId532" Type="http://schemas.openxmlformats.org/officeDocument/2006/relationships/image" Target="../media/image532.png"/><Relationship Id="rId533" Type="http://schemas.openxmlformats.org/officeDocument/2006/relationships/hyperlink" TargetMode="External" Target="http://lists.w3.org/Archives/Public/ietf-http-wg/2013JanMar/1253.html"/><Relationship Id="rId534" Type="http://schemas.openxmlformats.org/officeDocument/2006/relationships/image" Target="../media/image534.png"/><Relationship Id="rId535" Type="http://schemas.openxmlformats.org/officeDocument/2006/relationships/hyperlink" TargetMode="External" Target="http://lists.w3.org/Archives/Public/ietf-http-wg/2012OctDec/0139.html"/></Relationships>
</file>

<file path=ppt/slides/_rels/slide1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36" Type="http://schemas.openxmlformats.org/officeDocument/2006/relationships/image" Target="../media/image536.png"/><Relationship Id="rId538" Type="http://schemas.openxmlformats.org/officeDocument/2006/relationships/image" Target="../media/image538.png"/><Relationship Id="rId539" Type="http://schemas.openxmlformats.org/officeDocument/2006/relationships/hyperlink" TargetMode="External" Target="http://lists.w3.org/Archives/Public/ietf-http-wg/2012JanMar/0888.ht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" id="3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&lt;green/&gt;bytes</a:t>
            </a:r>
          </a:p>
          <a:p>
            <a:r>
              <a:rPr lang="en-US" sz="3700">
                <a:solidFill>
                  <a:srgbClr val="252525"/>
                </a:solidFill>
              </a:rPr>
              <a:t>Home</a:t>
            </a:r>
          </a:p>
          <a:p>
            <a:r>
              <a:rPr lang="en-US" sz="3700">
                <a:solidFill>
                  <a:srgbClr val="252525"/>
                </a:solidFill>
              </a:rPr>
              <a:t>Company</a:t>
            </a:r>
          </a:p>
          <a:p>
            <a:r>
              <a:rPr lang="en-US" sz="3700">
                <a:solidFill>
                  <a:srgbClr val="252525"/>
                </a:solidFill>
              </a:rPr>
              <a:t>Customers</a:t>
            </a:r>
          </a:p>
          <a:p>
            <a:r>
              <a:rPr lang="en-US" sz="3700">
                <a:solidFill>
                  <a:srgbClr val="252525"/>
                </a:solidFill>
              </a:rPr>
              <a:t>WebDAV</a:t>
            </a:r>
          </a:p>
          <a:p>
            <a:r>
              <a:rPr lang="en-US" sz="3700">
                <a:solidFill>
                  <a:srgbClr val="252525"/>
                </a:solidFill>
              </a:rPr>
              <a:t>Location</a:t>
            </a:r>
          </a:p>
          <a:p>
            <a:r>
              <a:rPr lang="en-US" sz="3700">
                <a:solidFill>
                  <a:srgbClr val="252525"/>
                </a:solidFill>
              </a:rPr>
              <a:t>Impressum</a:t>
            </a:r>
          </a:p>
          <a:p>
            <a:r>
              <a:rPr lang="en-US" sz="3700">
                <a:solidFill>
                  <a:srgbClr val="252525"/>
                </a:solidFill>
              </a:rPr>
              <a:t>Daten- schutz</a:t>
            </a:r>
          </a:p>
          <a:p>
            <a:r>
              <a:rPr lang="en-US" sz="3700">
                <a:solidFill>
                  <a:srgbClr val="252525"/>
                </a:solidFill>
              </a:rPr>
              <a:t> </a:t>
            </a:r>
          </a:p>
          <a:p>
            <a:r>
              <a:rPr lang="en-US" sz="3700">
                <a:solidFill>
                  <a:srgbClr val="252525"/>
                </a:solidFill>
              </a:rPr>
              <a:t>News</a:t>
            </a:r>
          </a:p>
          <a:p>
            <a:r>
              <a:rPr lang="en-US" sz="3700">
                <a:solidFill>
                  <a:srgbClr val="252525"/>
                </a:solidFill>
              </a:rPr>
              <a:t>2024-10-01: "Structured Field Values for HTTP" published as RFC 9651</a:t>
            </a:r>
          </a:p>
          <a:p>
            <a:r>
              <a:rPr lang="en-US" sz="3700">
                <a:solidFill>
                  <a:srgbClr val="252525"/>
                </a:solidFill>
              </a:rPr>
              <a:t>This document has been approved as "Proposed Standard" RFC. (Julian Reschke)[Categories: http, ietf, draft-ietf-httpbis-sfbis]</a:t>
            </a:r>
          </a:p>
          <a:p>
            <a:r>
              <a:rPr lang="en-US" sz="3700">
                <a:solidFill>
                  <a:srgbClr val="252525"/>
                </a:solidFill>
              </a:rPr>
              <a:t>2024-09-06: "Compression Dictionary Transport" approved as Proposed Standard</a:t>
            </a:r>
          </a:p>
          <a:p>
            <a:r>
              <a:rPr lang="en-US" sz="3700">
                <a:solidFill>
                  <a:srgbClr val="252525"/>
                </a:solidFill>
              </a:rPr>
              <a:t>This document has been approved as "Proposed Standard" RFC. (Julian Reschke)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" id="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[Categories: http, ietf, draft-ietf-httpbis-compression-dictionary]</a:t>
            </a:r>
          </a:p>
          <a:p>
            <a:r>
              <a:rPr lang="en-US" sz="3700">
                <a:solidFill>
                  <a:srgbClr val="252525"/>
                </a:solidFill>
              </a:rPr>
              <a:t>2024-02-15: "Digest Fields" published as RFC 9530</a:t>
            </a:r>
          </a:p>
          <a:p>
            <a:r>
              <a:rPr lang="en-US" sz="3700">
                <a:solidFill>
                  <a:srgbClr val="252525"/>
                </a:solidFill>
              </a:rPr>
              <a:t>This document has been published as RFC 9530. (Julian Reschke)[Categories: http, ietf, draft-ietf-httpbis-digest-headers]</a:t>
            </a:r>
          </a:p>
          <a:p>
            <a:r>
              <a:rPr lang="en-US" sz="3700">
                <a:solidFill>
                  <a:srgbClr val="252525"/>
                </a:solidFill>
              </a:rPr>
              <a:t>2024-02-15: "HTTP Message Signatures" published as RFC 9421</a:t>
            </a:r>
          </a:p>
          <a:p>
            <a:r>
              <a:rPr lang="en-US" sz="3700">
                <a:solidFill>
                  <a:srgbClr val="252525"/>
                </a:solidFill>
              </a:rPr>
              <a:t>This document has been published as RFC 9421. (Julian Reschke)[Categories: http, ietf, draft-ietf-httpbis-message-signatures]</a:t>
            </a:r>
          </a:p>
          <a:p>
            <a:r>
              <a:rPr lang="en-US" sz="3700">
                <a:solidFill>
                  <a:srgbClr val="252525"/>
                </a:solidFill>
              </a:rPr>
              <a:t>2024-02-01: "HTTP Proxy-Status Parameter for Next-Hop Aliases" published as RFC 9532</a:t>
            </a:r>
          </a:p>
          <a:p>
            <a:r>
              <a:rPr lang="en-US" sz="3700">
                <a:solidFill>
                  <a:srgbClr val="252525"/>
                </a:solidFill>
              </a:rPr>
              <a:t>This document has been published as RFC 9532. (Julian Reschke)[Categories: http, ietf, draft-ietf-httpbis-alias-proxy-status]</a:t>
            </a:r>
          </a:p>
          <a:p>
            <a:r>
              <a:rPr lang="en-US" sz="3700">
                <a:solidFill>
                  <a:srgbClr val="252525"/>
                </a:solidFill>
              </a:rPr>
              <a:t>2024-01-30: IETF Last Call: draft-ietf-httpbis-sfbis-05</a:t>
            </a:r>
          </a:p>
          <a:p>
            <a:r>
              <a:rPr lang="en-US" sz="3700">
                <a:solidFill>
                  <a:srgbClr val="252525"/>
                </a:solidFill>
              </a:rPr>
              <a:t>A two-week IETF Last Call for the revision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" id="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of "Structured Field Values for HTTP" (RFC 8941). It ends on February 12. (Julian Reschke)[Categories: http, ietf, draft-ietf-httpbis-sfbis]</a:t>
            </a:r>
          </a:p>
          <a:p>
            <a:r>
              <a:rPr lang="en-US" sz="3700">
                <a:solidFill>
                  <a:srgbClr val="252525"/>
                </a:solidFill>
              </a:rPr>
              <a:t>2023-08-20: "HTTP Message Signatures" approved as Proposed Standard</a:t>
            </a:r>
          </a:p>
          <a:p>
            <a:r>
              <a:rPr lang="en-US" sz="3700">
                <a:solidFill>
                  <a:srgbClr val="252525"/>
                </a:solidFill>
              </a:rPr>
              <a:t>This document has been approved as "Proposed Standard" RFC. (Julian Reschke)[Categories: http, ietf, draft-ietf-httpbis-message-signatures]</a:t>
            </a:r>
          </a:p>
          <a:p>
            <a:r>
              <a:rPr lang="en-US" sz="3700">
                <a:solidFill>
                  <a:srgbClr val="252525"/>
                </a:solidFill>
              </a:rPr>
              <a:t>RFCs</a:t>
            </a:r>
          </a:p>
          <a:p>
            <a:r>
              <a:rPr lang="en-US" sz="3700">
                <a:solidFill>
                  <a:srgbClr val="252525"/>
                </a:solidFill>
              </a:rPr>
              <a:t>HTTP</a:t>
            </a:r>
          </a:p>
          <a:p>
            <a:r>
              <a:rPr lang="en-US" sz="3700">
                <a:solidFill>
                  <a:srgbClr val="252525"/>
                </a:solidFill>
              </a:rPr>
              <a:t>RFC 1945: Hypertext Transfer Protocol -- HTTP/1.0 (XML, PDF, XHTML, RFC dependencies) [IETF datatracker] - May 1996</a:t>
            </a:r>
          </a:p>
          <a:p>
            <a:r>
              <a:rPr lang="en-US" sz="3700">
                <a:solidFill>
                  <a:srgbClr val="252525"/>
                </a:solidFill>
              </a:rPr>
              <a:t>RFC 2774: An HTTP Extension Framework (XML, PDF, XHTML, RFC dependencies) [IETF datatracker] - February 2000</a:t>
            </a:r>
          </a:p>
          <a:p>
            <a:r>
              <a:rPr lang="en-US" sz="3700">
                <a:solidFill>
                  <a:srgbClr val="252525"/>
                </a:solidFill>
              </a:rPr>
              <a:t>RFC 2817: Upgrading to TLS Within HTTP/1.1 (XML, PDF, XHTML, RFC dependencies)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" id="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[IETF datatracker] - May 2000</a:t>
            </a:r>
          </a:p>
          <a:p>
            <a:r>
              <a:rPr lang="en-US" sz="3700">
                <a:solidFill>
                  <a:srgbClr val="252525"/>
                </a:solidFill>
              </a:rPr>
              <a:t>RFC 2965: HTTP State Mechanism (XML, PDF, XHTML, RFC dependencies) [IETF datatracker] - October 2000</a:t>
            </a:r>
          </a:p>
          <a:p>
            <a:r>
              <a:rPr lang="en-US" sz="3700">
                <a:solidFill>
                  <a:srgbClr val="252525"/>
                </a:solidFill>
              </a:rPr>
              <a:t>RFC 3230: Instance Digests in HTTP (XML, PDF, XHTML, RFC dependencies) [IETF datatracker] - February 2002</a:t>
            </a:r>
          </a:p>
          <a:p>
            <a:r>
              <a:rPr lang="en-US" sz="3700">
                <a:solidFill>
                  <a:srgbClr val="252525"/>
                </a:solidFill>
              </a:rPr>
              <a:t>RFC 5789: PATCH Method for HTTP (XML, PDF, XHTML, RFC dependencies) [IETF datatracker] - March 2010</a:t>
            </a:r>
          </a:p>
          <a:p>
            <a:r>
              <a:rPr lang="en-US" sz="3700">
                <a:solidFill>
                  <a:srgbClr val="252525"/>
                </a:solidFill>
              </a:rPr>
              <a:t>RFC 6265: HTTP State Management Mechanism (XML, PDF, XHTML, RFC dependencies) [IETF datatracker] - April 2011</a:t>
            </a:r>
          </a:p>
          <a:p>
            <a:r>
              <a:rPr lang="en-US" sz="3700">
                <a:solidFill>
                  <a:srgbClr val="252525"/>
                </a:solidFill>
              </a:rPr>
              <a:t>RFC 6266: Use of the Content-Disposition Header Field in the Hypertext Transfer Protocol (HTTP) (XML, PDF, XHTML, RFC dependencies) [IETF datatracker] - June 2011</a:t>
            </a:r>
          </a:p>
          <a:p>
            <a:r>
              <a:rPr lang="en-US" sz="3700">
                <a:solidFill>
                  <a:srgbClr val="252525"/>
                </a:solidFill>
              </a:rPr>
              <a:t>RFC 6585: Additional HTTP Status Codes (XML, PDF, XHTML, RFC dependencies)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" id="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[IETF datatracker] - April 2012</a:t>
            </a:r>
          </a:p>
          <a:p>
            <a:r>
              <a:rPr lang="en-US" sz="3700">
                <a:solidFill>
                  <a:srgbClr val="252525"/>
                </a:solidFill>
              </a:rPr>
              <a:t>RFC 7240: Prefer Header for HTTP (XML, PDF, XHTML, RFC dependencies) [IETF datatracker] - June 2014</a:t>
            </a:r>
          </a:p>
          <a:p>
            <a:r>
              <a:rPr lang="en-US" sz="3700">
                <a:solidFill>
                  <a:srgbClr val="252525"/>
                </a:solidFill>
              </a:rPr>
              <a:t>RFC 7541: HPACK: Header Compression for HTTP/2 (XML, PDF, XHTML, RFC dependencies) [IETF datatracker] - May 2015</a:t>
            </a:r>
          </a:p>
          <a:p>
            <a:r>
              <a:rPr lang="en-US" sz="3700">
                <a:solidFill>
                  <a:srgbClr val="252525"/>
                </a:solidFill>
              </a:rPr>
              <a:t>RFC 7616: HTTP Digest Access Authentication (XML, PDF, XHTML, RFC dependencies) [IETF datatracker] - September 2015</a:t>
            </a:r>
          </a:p>
          <a:p>
            <a:r>
              <a:rPr lang="en-US" sz="3700">
                <a:solidFill>
                  <a:srgbClr val="252525"/>
                </a:solidFill>
              </a:rPr>
              <a:t>RFC 7617: The 'Basic' HTTP Authentication Scheme (XML, PDF, XHTML, RFC dependencies) [IETF datatracker] - September 2015</a:t>
            </a:r>
          </a:p>
          <a:p>
            <a:r>
              <a:rPr lang="en-US" sz="3700">
                <a:solidFill>
                  <a:srgbClr val="252525"/>
                </a:solidFill>
              </a:rPr>
              <a:t>RFC 7639: The ALPN HTTP Header Field (XML, PDF, XHTML, RFC dependencies) [IETF datatracker] - August 2015</a:t>
            </a:r>
          </a:p>
          <a:p>
            <a:r>
              <a:rPr lang="en-US" sz="3700">
                <a:solidFill>
                  <a:srgbClr val="252525"/>
                </a:solidFill>
              </a:rPr>
              <a:t>RFC 7725: An HTTP Status Code to Report Legal Obstacles (XML, PDF, XHTML, RFC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" id="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dependencies) [IETF datatracker] - February 2016</a:t>
            </a:r>
          </a:p>
          <a:p>
            <a:r>
              <a:rPr lang="en-US" sz="3700">
                <a:solidFill>
                  <a:srgbClr val="252525"/>
                </a:solidFill>
              </a:rPr>
              <a:t>RFC 7838: HTTP Alternative Services (XML, PDF, XHTML, RFC dependencies) [IETF datatracker] - April 2016</a:t>
            </a:r>
          </a:p>
          <a:p>
            <a:r>
              <a:rPr lang="en-US" sz="3700">
                <a:solidFill>
                  <a:srgbClr val="252525"/>
                </a:solidFill>
              </a:rPr>
              <a:t>RFC 8164: Opportunistic Security for HTTP/2 (XML, PDF, XHTML, RFC dependencies) [IETF datatracker] - May 2017</a:t>
            </a:r>
          </a:p>
          <a:p>
            <a:r>
              <a:rPr lang="en-US" sz="3700">
                <a:solidFill>
                  <a:srgbClr val="252525"/>
                </a:solidFill>
              </a:rPr>
              <a:t>RFC 8187: Indicating Character Encoding and Language for HTTP Header Field Parameters (XML, PDF, XHTML, RFC dependencies) [IETF datatracker] - September 2017</a:t>
            </a:r>
          </a:p>
          <a:p>
            <a:r>
              <a:rPr lang="en-US" sz="3700">
                <a:solidFill>
                  <a:srgbClr val="252525"/>
                </a:solidFill>
              </a:rPr>
              <a:t>RFC 8188: Encrypted Content-Encoding for HTTP (XML, PDF, XHTML, RFC dependencies) [IETF datatracker] - June 2017</a:t>
            </a:r>
          </a:p>
          <a:p>
            <a:r>
              <a:rPr lang="en-US" sz="3700">
                <a:solidFill>
                  <a:srgbClr val="252525"/>
                </a:solidFill>
              </a:rPr>
              <a:t>RFC 8246: HTTP Immutable Responses (XML, PDF, XHTML, RFC dependencies) [IETF datatracker] - September 2017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" id="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RFC 8297: An HTTP Status Code for Indicating Hints (XML, PDF, XHTML, RFC dependencies) [IETF datatracker] - December 2017</a:t>
            </a:r>
          </a:p>
          <a:p>
            <a:r>
              <a:rPr lang="en-US" sz="3700">
                <a:solidFill>
                  <a:srgbClr val="252525"/>
                </a:solidFill>
              </a:rPr>
              <a:t>RFC 8336: The ORIGIN HTTP/2 Frame (XML, PDF, XHTML, RFC dependencies) [IETF datatracker] - March 2018</a:t>
            </a:r>
          </a:p>
          <a:p>
            <a:r>
              <a:rPr lang="en-US" sz="3700">
                <a:solidFill>
                  <a:srgbClr val="252525"/>
                </a:solidFill>
              </a:rPr>
              <a:t>RFC 8441: Bootstrapping WebSockets with HTTP/2 (XML, PDF, XHTML, RFC dependencies) [IETF datatracker] - September 2018</a:t>
            </a:r>
          </a:p>
          <a:p>
            <a:r>
              <a:rPr lang="en-US" sz="3700">
                <a:solidFill>
                  <a:srgbClr val="252525"/>
                </a:solidFill>
              </a:rPr>
              <a:t>RFC 8470: Using Early Data in HTTP (XML, PDF, XHTML, RFC dependencies) [IETF datatracker] - September 2018</a:t>
            </a:r>
          </a:p>
          <a:p>
            <a:r>
              <a:rPr lang="en-US" sz="3700">
                <a:solidFill>
                  <a:srgbClr val="252525"/>
                </a:solidFill>
              </a:rPr>
              <a:t>RFC 8586: Loop Detection in Content Delivery Networks (CDNs) (XML, PDF, XHTML, RFC dependencies) [IETF datatracker] - April 2019</a:t>
            </a:r>
          </a:p>
          <a:p>
            <a:r>
              <a:rPr lang="en-US" sz="3700">
                <a:solidFill>
                  <a:srgbClr val="252525"/>
                </a:solidFill>
              </a:rPr>
              <a:t>RFC 8673: HTTP Random Access and Live Content (XML, PDF, XHTML, RFC dependencies) [IETF datatracker] -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" id="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November 2019</a:t>
            </a:r>
          </a:p>
          <a:p>
            <a:r>
              <a:rPr lang="en-US" sz="3700">
                <a:solidFill>
                  <a:srgbClr val="252525"/>
                </a:solidFill>
              </a:rPr>
              <a:t>RFC 8740: Using TLS 1.3 with HTTP/2 (XML, PDF, XHTML, RFC dependencies) [IETF datatracker] - February 2020</a:t>
            </a:r>
          </a:p>
          <a:p>
            <a:r>
              <a:rPr lang="en-US" sz="3700">
                <a:solidFill>
                  <a:srgbClr val="252525"/>
                </a:solidFill>
              </a:rPr>
              <a:t>RFC 8941: Structured Field Values for HTTP (XML, PDF, XHTML, RFC dependencies) [IETF datatracker] - February 2021</a:t>
            </a:r>
          </a:p>
          <a:p>
            <a:r>
              <a:rPr lang="en-US" sz="3700">
                <a:solidFill>
                  <a:srgbClr val="252525"/>
                </a:solidFill>
              </a:rPr>
              <a:t>RFC 8942: HTTP Client Hints (XML, PDF, XHTML, RFC dependencies) [IETF datatracker] - February 2021</a:t>
            </a:r>
          </a:p>
          <a:p>
            <a:r>
              <a:rPr lang="en-US" sz="3700">
                <a:solidFill>
                  <a:srgbClr val="252525"/>
                </a:solidFill>
              </a:rPr>
              <a:t>RFC 9110: HTTP Semantics (XML, PDF, XHTML, RFC dependencies) [IETF datatracker] - June 2022</a:t>
            </a:r>
          </a:p>
          <a:p>
            <a:r>
              <a:rPr lang="en-US" sz="3700">
                <a:solidFill>
                  <a:srgbClr val="252525"/>
                </a:solidFill>
              </a:rPr>
              <a:t>RFC 9111: HTTP Caching (XML, PDF, XHTML, RFC dependencies) [IETF datatracker] - June 2022</a:t>
            </a:r>
          </a:p>
          <a:p>
            <a:r>
              <a:rPr lang="en-US" sz="3700">
                <a:solidFill>
                  <a:srgbClr val="252525"/>
                </a:solidFill>
              </a:rPr>
              <a:t>RFC 9112: HTTP/1.1 (XML, PDF, XHTML, RFC dependencies) [IETF datatracker] - June 2022</a:t>
            </a:r>
          </a:p>
          <a:p>
            <a:r>
              <a:rPr lang="en-US" sz="3700">
                <a:solidFill>
                  <a:srgbClr val="252525"/>
                </a:solidFill>
              </a:rPr>
              <a:t>RFC 9113: HTTP/2 (XML, PDF, XHTML,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" id="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RFC dependencies) [IETF datatracker] - June 2022</a:t>
            </a:r>
          </a:p>
          <a:p>
            <a:r>
              <a:rPr lang="en-US" sz="3700">
                <a:solidFill>
                  <a:srgbClr val="252525"/>
                </a:solidFill>
              </a:rPr>
              <a:t>RFC 9114: HTTP/3 (XML, PDF, XHTML, RFC dependencies) [IETF datatracker] - June 2022</a:t>
            </a:r>
          </a:p>
          <a:p>
            <a:r>
              <a:rPr lang="en-US" sz="3700">
                <a:solidFill>
                  <a:srgbClr val="252525"/>
                </a:solidFill>
              </a:rPr>
              <a:t>RFC 9204: QPACK: Field Compression for HTTP/3 (XML, PDF, XHTML, RFC dependencies) [IETF datatracker] - June 2022</a:t>
            </a:r>
          </a:p>
          <a:p>
            <a:r>
              <a:rPr lang="en-US" sz="3700">
                <a:solidFill>
                  <a:srgbClr val="252525"/>
                </a:solidFill>
              </a:rPr>
              <a:t>RFC 9205: Building Protocols with HTTP (XML, PDF, XHTML, RFC dependencies) [IETF datatracker] - June 2022</a:t>
            </a:r>
          </a:p>
          <a:p>
            <a:r>
              <a:rPr lang="en-US" sz="3700">
                <a:solidFill>
                  <a:srgbClr val="252525"/>
                </a:solidFill>
              </a:rPr>
              <a:t>RFC 9209: The Proxy-Status HTTP Response Header Field (XML, PDF, XHTML, RFC dependencies) [IETF datatracker] - June 2022</a:t>
            </a:r>
          </a:p>
          <a:p>
            <a:r>
              <a:rPr lang="en-US" sz="3700">
                <a:solidFill>
                  <a:srgbClr val="252525"/>
                </a:solidFill>
              </a:rPr>
              <a:t>RFC 9211: The Cache-Status HTTP Response Header Field (XML, PDF, XHTML, RFC dependencies) [IETF datatracker] - June 2022</a:t>
            </a:r>
          </a:p>
          <a:p>
            <a:r>
              <a:rPr lang="en-US" sz="3700">
                <a:solidFill>
                  <a:srgbClr val="252525"/>
                </a:solidFill>
              </a:rPr>
              <a:t>RFC 9213: Targeted HTTP Cache Control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" id="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(XML, PDF, XHTML, RFC dependencies) [IETF datatracker] - June 2022</a:t>
            </a:r>
          </a:p>
          <a:p>
            <a:r>
              <a:rPr lang="en-US" sz="3700">
                <a:solidFill>
                  <a:srgbClr val="252525"/>
                </a:solidFill>
              </a:rPr>
              <a:t>RFC 9218: Extensible Prioritization Scheme for HTTP (XML, PDF, XHTML, RFC dependencies) [IETF datatracker] - June 2022</a:t>
            </a:r>
          </a:p>
          <a:p>
            <a:r>
              <a:rPr lang="en-US" sz="3700">
                <a:solidFill>
                  <a:srgbClr val="252525"/>
                </a:solidFill>
              </a:rPr>
              <a:t>RFC 9220: Bootstrapping WebSockets with HTTP/3 (XML, PDF, XHTML, RFC dependencies) [IETF datatracker] - June 2022</a:t>
            </a:r>
          </a:p>
          <a:p>
            <a:r>
              <a:rPr lang="en-US" sz="3700">
                <a:solidFill>
                  <a:srgbClr val="252525"/>
                </a:solidFill>
              </a:rPr>
              <a:t>RFC 9292: Binary Representation of HTTP Messages (XML, PDF, XHTML, RFC dependencies) [IETF datatracker] - August 2022</a:t>
            </a:r>
          </a:p>
          <a:p>
            <a:r>
              <a:rPr lang="en-US" sz="3700">
                <a:solidFill>
                  <a:srgbClr val="252525"/>
                </a:solidFill>
              </a:rPr>
              <a:t>RFC 9412: The ORIGIN Extension in HTTP/3 (XML, PDF, XHTML, RFC dependencies) [IETF datatracker] - June 2023</a:t>
            </a:r>
          </a:p>
          <a:p>
            <a:r>
              <a:rPr lang="en-US" sz="3700">
                <a:solidFill>
                  <a:srgbClr val="252525"/>
                </a:solidFill>
              </a:rPr>
              <a:t>RFC 9421: HTTP Message Signatures (XML, PDF, XHTML, RFC dependencies) [IETF datatracker] - February 2024</a:t>
            </a:r>
          </a:p>
          <a:p>
            <a:r>
              <a:rPr lang="en-US" sz="3700">
                <a:solidFill>
                  <a:srgbClr val="252525"/>
                </a:solidFill>
              </a:rPr>
              <a:t>RFC 9440: Client-Cert HTTP Header Field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" id="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(XML, PDF, XHTML, RFC dependencies) [IETF datatracker] - July 2023</a:t>
            </a:r>
          </a:p>
          <a:p>
            <a:r>
              <a:rPr lang="en-US" sz="3700">
                <a:solidFill>
                  <a:srgbClr val="252525"/>
                </a:solidFill>
              </a:rPr>
              <a:t>RFC 9457: Problem Details for HTTP APIs (XML, PDF, XHTML, RFC dependencies) [IETF datatracker] - July 2023</a:t>
            </a:r>
          </a:p>
          <a:p>
            <a:r>
              <a:rPr lang="en-US" sz="3700">
                <a:solidFill>
                  <a:srgbClr val="252525"/>
                </a:solidFill>
              </a:rPr>
              <a:t>RFC 9530: Digest Fields (XML, PDF, XHTML, RFC dependencies) [IETF datatracker] - February 2024</a:t>
            </a:r>
          </a:p>
          <a:p>
            <a:r>
              <a:rPr lang="en-US" sz="3700">
                <a:solidFill>
                  <a:srgbClr val="252525"/>
                </a:solidFill>
              </a:rPr>
              <a:t>RFC 9532: HTTP Proxy-Status Parameter for Next-Hop Aliases (XML, PDF, XHTML, RFC dependencies) [IETF datatracker] - January 2024</a:t>
            </a:r>
          </a:p>
          <a:p>
            <a:r>
              <a:rPr lang="en-US" sz="3700">
                <a:solidFill>
                  <a:srgbClr val="252525"/>
                </a:solidFill>
              </a:rPr>
              <a:t>RFC 9651: Structured Field Values for HTTP (XML, PDF, XHTML, RFC dependencies) [IETF datatracker] - September 2024</a:t>
            </a:r>
          </a:p>
          <a:p>
            <a:r>
              <a:rPr lang="en-US" sz="3700">
                <a:solidFill>
                  <a:srgbClr val="252525"/>
                </a:solidFill>
              </a:rPr>
              <a:t>RFC 9729: The Concealed HTTP Authentication Scheme (XML, PDF, XHTML, RFC dependencies) [IETF datatracker] - February 2025</a:t>
            </a:r>
          </a:p>
          <a:p>
            <a:r>
              <a:rPr lang="en-US" sz="3700">
                <a:solidFill>
                  <a:srgbClr val="252525"/>
                </a:solidFill>
              </a:rPr>
              <a:t>WebDAV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" id="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RFC 2291: Requirements for a Distributed Authoring and Versioning Protocol for the World Wide Web (XML, PDF, XHTML, RFC dependencies) [IETF datatracker] - February 1998</a:t>
            </a:r>
          </a:p>
          <a:p>
            <a:r>
              <a:rPr lang="en-US" sz="3700">
                <a:solidFill>
                  <a:srgbClr val="252525"/>
                </a:solidFill>
              </a:rPr>
              <a:t>RFC 3253: Versioning Extensions to WebDAV (Web Distributed Authoring and Versioning) (XML, PDF, XHTML, RFC dependencies) [issues list] [IETF datatracker] - March 2002</a:t>
            </a:r>
          </a:p>
          <a:p>
            <a:r>
              <a:rPr lang="en-US" sz="3700">
                <a:solidFill>
                  <a:srgbClr val="252525"/>
                </a:solidFill>
              </a:rPr>
              <a:t>RFC 3648: Web Distributed Authoring and Versioning (WebDAV) Ordered Collections Protocol (XML, PDF, XHTML, RFC dependencies) [issues list] [IETF datatracker] - December 2003</a:t>
            </a:r>
          </a:p>
          <a:p>
            <a:r>
              <a:rPr lang="en-US" sz="3700">
                <a:solidFill>
                  <a:srgbClr val="252525"/>
                </a:solidFill>
              </a:rPr>
              <a:t>RFC 3744: Web Distributed Authoring and Versioning (WebDAV) Access Control Protocol (XML, PDF, XHTML, RFC dependencies) [issues list] [IETF datatracker] - May 2004</a:t>
            </a:r>
          </a:p>
          <a:p>
            <a:r>
              <a:rPr lang="en-US" sz="3700">
                <a:solidFill>
                  <a:srgbClr val="252525"/>
                </a:solidFill>
              </a:rPr>
              <a:t>RFC 4316: Datatypes for Web Distributed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" id="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Authoring and Versioning (WebDAV) Properties (XML, PDF, XHTML, RFC dependencies) [IETF datatracker] - December 2005</a:t>
            </a:r>
          </a:p>
          <a:p>
            <a:r>
              <a:rPr lang="en-US" sz="3700">
                <a:solidFill>
                  <a:srgbClr val="252525"/>
                </a:solidFill>
              </a:rPr>
              <a:t>RFC 4331: Quota and Size Properties for Distributed Authoring and Versioning (DAV) Collections (XML, PDF, XHTML, RFC dependencies) [IETF datatracker] - February 2006</a:t>
            </a:r>
          </a:p>
          <a:p>
            <a:r>
              <a:rPr lang="en-US" sz="3700">
                <a:solidFill>
                  <a:srgbClr val="252525"/>
                </a:solidFill>
              </a:rPr>
              <a:t>RFC 4437: Web Distributed Authoring and Versioning (WebDAV) Redirect Reference Resources (XML, PDF, XHTML, RFC dependencies) [IETF datatracker] - March 2006</a:t>
            </a:r>
          </a:p>
          <a:p>
            <a:r>
              <a:rPr lang="en-US" sz="3700">
                <a:solidFill>
                  <a:srgbClr val="252525"/>
                </a:solidFill>
              </a:rPr>
              <a:t>RFC 4709: Mounting WebDAV (Web Distributed Authoring and Versioning) Servers (XML, PDF, XHTML, RFC dependencies) [IETF datatracker] - October 2006</a:t>
            </a:r>
          </a:p>
          <a:p>
            <a:r>
              <a:rPr lang="en-US" sz="3700">
                <a:solidFill>
                  <a:srgbClr val="252525"/>
                </a:solidFill>
              </a:rPr>
              <a:t>RFC 4791: Calendaring Extensions to WebDAV (CalDAV) (XML, PDF, XHTML, RFC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" id="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dependencies) [IETF datatracker] - March 2007</a:t>
            </a:r>
          </a:p>
          <a:p>
            <a:r>
              <a:rPr lang="en-US" sz="3700">
                <a:solidFill>
                  <a:srgbClr val="252525"/>
                </a:solidFill>
              </a:rPr>
              <a:t>RFC 4918: HTTP Extensions for Web Distributed Authoring and Versioning (WebDAV) (XML, PDF, XHTML, RFC dependencies) [IETF datatracker] - June 2007</a:t>
            </a:r>
          </a:p>
          <a:p>
            <a:r>
              <a:rPr lang="en-US" sz="3700">
                <a:solidFill>
                  <a:srgbClr val="252525"/>
                </a:solidFill>
              </a:rPr>
              <a:t>RFC 5323: Web Distributed Authoring and Versioning (WebDAV) SEARCH (XML, PDF, XHTML, RFC dependencies) [IETF datatracker] - November 2008</a:t>
            </a:r>
          </a:p>
          <a:p>
            <a:r>
              <a:rPr lang="en-US" sz="3700">
                <a:solidFill>
                  <a:srgbClr val="252525"/>
                </a:solidFill>
              </a:rPr>
              <a:t>RFC 5397: WebDAV Current Principal Extension (XML, PDF, XHTML, RFC dependencies) [IETF datatracker] - December 2008</a:t>
            </a:r>
          </a:p>
          <a:p>
            <a:r>
              <a:rPr lang="en-US" sz="3700">
                <a:solidFill>
                  <a:srgbClr val="252525"/>
                </a:solidFill>
              </a:rPr>
              <a:t>RFC 5689: Extended MKCOL for Web Distributed Authoring and Versioning (WebDAV) (XML, PDF, XHTML, RFC dependencies) [IETF datatracker] - September 2009</a:t>
            </a:r>
          </a:p>
          <a:p>
            <a:r>
              <a:rPr lang="en-US" sz="3700">
                <a:solidFill>
                  <a:srgbClr val="252525"/>
                </a:solidFill>
              </a:rPr>
              <a:t>RFC 5842: Binding Extensions to Web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" id="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Distributed Authoring and Versioning (WebDAV) (XML, PDF, XHTML, RFC dependencies) [IETF datatracker] - April 2010</a:t>
            </a:r>
          </a:p>
          <a:p>
            <a:r>
              <a:rPr lang="en-US" sz="3700">
                <a:solidFill>
                  <a:srgbClr val="252525"/>
                </a:solidFill>
              </a:rPr>
              <a:t>RFC 5995: Using POST to Add Members to Web Distributed Authoring and Versioning (WebDAV) Collections (XML, PDF, XHTML, RFC dependencies) [IETF datatracker] - September 2010</a:t>
            </a:r>
          </a:p>
          <a:p>
            <a:r>
              <a:rPr lang="en-US" sz="3700">
                <a:solidFill>
                  <a:srgbClr val="252525"/>
                </a:solidFill>
              </a:rPr>
              <a:t>RFC 6352: CardDAV: vCard Extensions to Web Distributed Authoring and Versioning (WebDAV) (XML, PDF, XHTML, RFC dependencies) [IETF datatracker] - August 2011</a:t>
            </a:r>
          </a:p>
          <a:p>
            <a:r>
              <a:rPr lang="en-US" sz="3700">
                <a:solidFill>
                  <a:srgbClr val="252525"/>
                </a:solidFill>
              </a:rPr>
              <a:t>RFC 6578: Collection Synchronization for Web Distributed Authoring and Versioning (WebDAV) (XML, PDF, XHTML, RFC dependencies) [IETF datatracker] - March 2012</a:t>
            </a:r>
          </a:p>
          <a:p>
            <a:r>
              <a:rPr lang="en-US" sz="3700">
                <a:solidFill>
                  <a:srgbClr val="252525"/>
                </a:solidFill>
              </a:rPr>
              <a:t>RFC 6638: Scheduling Extensions to CalDAV (XML, PDF, XHTML, RFC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" id="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dependencies) [IETF datatracker] - June 2012</a:t>
            </a:r>
          </a:p>
          <a:p>
            <a:r>
              <a:rPr lang="en-US" sz="3700">
                <a:solidFill>
                  <a:srgbClr val="252525"/>
                </a:solidFill>
              </a:rPr>
              <a:t>RFC 8144: Use of the Prefer Header Field in Web Distributed Authoring and Versioning (WebDAV) (XML, PDF, XHTML, RFC dependencies) [IETF datatracker] - April 2017</a:t>
            </a:r>
          </a:p>
          <a:p>
            <a:r>
              <a:rPr lang="en-US" sz="3700">
                <a:solidFill>
                  <a:srgbClr val="252525"/>
                </a:solidFill>
              </a:rPr>
              <a:t>Related</a:t>
            </a:r>
          </a:p>
          <a:p>
            <a:r>
              <a:rPr lang="en-US" sz="3700">
                <a:solidFill>
                  <a:srgbClr val="252525"/>
                </a:solidFill>
              </a:rPr>
              <a:t>RFC 2045: Multipurpose Internet Mail Extensions (MIME) Part One: Format of Internet Message Bodies (XML, PDF, XHTML, RFC dependencies) [IETF datatracker] - November 1996</a:t>
            </a:r>
          </a:p>
          <a:p>
            <a:r>
              <a:rPr lang="en-US" sz="3700">
                <a:solidFill>
                  <a:srgbClr val="252525"/>
                </a:solidFill>
              </a:rPr>
              <a:t>RFC 2046: Multipurpose Internet Mail Extensions (MIME) Part Two: Media Types (XML, PDF, XHTML, RFC dependencies) [IETF datatracker] - November 1996</a:t>
            </a:r>
          </a:p>
          <a:p>
            <a:r>
              <a:rPr lang="en-US" sz="3700">
                <a:solidFill>
                  <a:srgbClr val="252525"/>
                </a:solidFill>
              </a:rPr>
              <a:t>RFC 2047: MIME (Multipurpose Internet Mail Extensions) Part Three: Message Header Extensions for Non-ASCII Text (XML, PDF, XHTML, RFC dependencies)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" id="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[IETF datatracker] - November 1996</a:t>
            </a:r>
          </a:p>
          <a:p>
            <a:r>
              <a:rPr lang="en-US" sz="3700">
                <a:solidFill>
                  <a:srgbClr val="252525"/>
                </a:solidFill>
              </a:rPr>
              <a:t>RFC 2183: Communicating Presentation Information in Internet Messages: The Content-Disposition Header Field (XML, PDF, XHTML, RFC dependencies) [IETF datatracker] - August 1997</a:t>
            </a:r>
          </a:p>
          <a:p>
            <a:r>
              <a:rPr lang="en-US" sz="3700">
                <a:solidFill>
                  <a:srgbClr val="252525"/>
                </a:solidFill>
              </a:rPr>
              <a:t>RFC 2231: MIME Parameter Value and Encoded Word Extensions: Character Sets, Languages, and Continuations (XML, PDF, XHTML, RFC dependencies) [issues list] [IETF datatracker] - November 1997</a:t>
            </a:r>
          </a:p>
          <a:p>
            <a:r>
              <a:rPr lang="en-US" sz="3700">
                <a:solidFill>
                  <a:srgbClr val="252525"/>
                </a:solidFill>
              </a:rPr>
              <a:t>RFC 2397: The "data" URL scheme (XML, PDF, XHTML, RFC dependencies) [IETF datatracker] - August 1998</a:t>
            </a:r>
          </a:p>
          <a:p>
            <a:r>
              <a:rPr lang="en-US" sz="3700">
                <a:solidFill>
                  <a:srgbClr val="252525"/>
                </a:solidFill>
              </a:rPr>
              <a:t>RFC 2978: IANA Charset Registration Procedures (XML, PDF, XHTML, RFC dependencies) [IETF datatracker] - October 2000</a:t>
            </a:r>
          </a:p>
          <a:p>
            <a:r>
              <a:rPr lang="en-US" sz="3700">
                <a:solidFill>
                  <a:srgbClr val="252525"/>
                </a:solidFill>
              </a:rPr>
              <a:t>RFC 3339: Date and Time on the Internet: Timestamps (XML, PDF, XHTML, RFC dependencies) [IETF datatracker] - July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" id="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2002</a:t>
            </a:r>
          </a:p>
          <a:p>
            <a:r>
              <a:rPr lang="en-US" sz="3700">
                <a:solidFill>
                  <a:srgbClr val="252525"/>
                </a:solidFill>
              </a:rPr>
              <a:t>RFC 3470: Guidelines for the Use of Extensible Markup Language (XML) within IETF Protocols (XML, PDF, XHTML, RFC dependencies) [IETF datatracker] - January 2003</a:t>
            </a:r>
          </a:p>
          <a:p>
            <a:r>
              <a:rPr lang="en-US" sz="3700">
                <a:solidFill>
                  <a:srgbClr val="252525"/>
                </a:solidFill>
              </a:rPr>
              <a:t>RFC 3986: Uniform Resource Identifier (URI): Generic Syntax (XML, PDF, XHTML, RFC dependencies) [IETF datatracker] - January 2005</a:t>
            </a:r>
          </a:p>
          <a:p>
            <a:r>
              <a:rPr lang="en-US" sz="3700">
                <a:solidFill>
                  <a:srgbClr val="252525"/>
                </a:solidFill>
              </a:rPr>
              <a:t>RFC 4122: A Universally Unique IDentifier (UUID) URN Namespace (XML, PDF, XHTML, RFC dependencies) [IETF datatracker] - July 2005</a:t>
            </a:r>
          </a:p>
          <a:p>
            <a:r>
              <a:rPr lang="en-US" sz="3700">
                <a:solidFill>
                  <a:srgbClr val="252525"/>
                </a:solidFill>
              </a:rPr>
              <a:t>RFC 4194: The S Hexdump Format (XML, PDF, XHTML, RFC dependencies) [IETF datatracker] - October 2005</a:t>
            </a:r>
          </a:p>
          <a:p>
            <a:r>
              <a:rPr lang="en-US" sz="3700">
                <a:solidFill>
                  <a:srgbClr val="252525"/>
                </a:solidFill>
              </a:rPr>
              <a:t>RFC 4287: The Atom Syndication Format (XML, PDF, XHTML, RFC dependencies) [IETF datatracker] - December 2005</a:t>
            </a:r>
          </a:p>
          <a:p>
            <a:r>
              <a:rPr lang="en-US" sz="3700">
                <a:solidFill>
                  <a:srgbClr val="252525"/>
                </a:solidFill>
              </a:rPr>
              <a:t>RFC 4648: The Base16, Base32, and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" id="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Base64 Data Encodings (XML, PDF, XHTML, RFC dependencies) [IETF datatracker] - October 2006</a:t>
            </a:r>
          </a:p>
          <a:p>
            <a:r>
              <a:rPr lang="en-US" sz="3700">
                <a:solidFill>
                  <a:srgbClr val="252525"/>
                </a:solidFill>
              </a:rPr>
              <a:t>RFC 5005: Feed Paging and Archiving (XML, PDF, XHTML, RFC dependencies) [IETF datatracker] - September 2007</a:t>
            </a:r>
          </a:p>
          <a:p>
            <a:r>
              <a:rPr lang="en-US" sz="3700">
                <a:solidFill>
                  <a:srgbClr val="252525"/>
                </a:solidFill>
              </a:rPr>
              <a:t>RFC 5023: The Atom Publishing Protocol (XML, PDF, XHTML, RFC dependencies) [IETF datatracker] - October 2007</a:t>
            </a:r>
          </a:p>
          <a:p>
            <a:r>
              <a:rPr lang="en-US" sz="3700">
                <a:solidFill>
                  <a:srgbClr val="252525"/>
                </a:solidFill>
              </a:rPr>
              <a:t>RFC 5234: Augmented BNF for Syntax Specifications: ABNF (XML, PDF, XHTML, RFC dependencies) [IETF datatracker] - January 2008</a:t>
            </a:r>
          </a:p>
          <a:p>
            <a:r>
              <a:rPr lang="en-US" sz="3700">
                <a:solidFill>
                  <a:srgbClr val="252525"/>
                </a:solidFill>
              </a:rPr>
              <a:t>RFC 5322: Internet Message Format (XML, PDF, XHTML, RFC dependencies) [IETF datatracker] - October 2008</a:t>
            </a:r>
          </a:p>
          <a:p>
            <a:r>
              <a:rPr lang="en-US" sz="3700">
                <a:solidFill>
                  <a:srgbClr val="252525"/>
                </a:solidFill>
              </a:rPr>
              <a:t>RFC 5791: RFC 2731 is Obsolete (XML, PDF, XHTML, RFC dependencies) [IETF datatracker] - February 2010</a:t>
            </a:r>
          </a:p>
          <a:p>
            <a:r>
              <a:rPr lang="en-US" sz="3700">
                <a:solidFill>
                  <a:srgbClr val="252525"/>
                </a:solidFill>
              </a:rPr>
              <a:t>RFC 5829: Link Relation Types for Simple Version Navigation between Web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" id="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Resources (XML, PDF, XHTML, RFC dependencies) [IETF datatracker] - April 2010</a:t>
            </a:r>
          </a:p>
          <a:p>
            <a:r>
              <a:rPr lang="en-US" sz="3700">
                <a:solidFill>
                  <a:srgbClr val="252525"/>
                </a:solidFill>
              </a:rPr>
              <a:t>RFC 6455: The WebSocket Protocol (XML, PDF, XHTML, RFC dependencies) [IETF datatracker] - December 2011</a:t>
            </a:r>
          </a:p>
          <a:p>
            <a:r>
              <a:rPr lang="en-US" sz="3700">
                <a:solidFill>
                  <a:srgbClr val="252525"/>
                </a:solidFill>
              </a:rPr>
              <a:t>RFC 6657: Update to MIME regarding Charset Parameter Handling in Textual Media Types (XML, PDF, XHTML, RFC dependencies) [IETF datatracker] - July 2012</a:t>
            </a:r>
          </a:p>
          <a:p>
            <a:r>
              <a:rPr lang="en-US" sz="3700">
                <a:solidFill>
                  <a:srgbClr val="252525"/>
                </a:solidFill>
              </a:rPr>
              <a:t>RFC 7303: XML Media Types (XML, PDF, XHTML, RFC dependencies) [IETF datatracker] - July 2014</a:t>
            </a:r>
          </a:p>
          <a:p>
            <a:r>
              <a:rPr lang="en-US" sz="3700">
                <a:solidFill>
                  <a:srgbClr val="252525"/>
                </a:solidFill>
              </a:rPr>
              <a:t>RFC 7493: The I-JSON Message Format (XML, PDF, XHTML, RFC dependencies) [IETF datatracker] - March 2015</a:t>
            </a:r>
          </a:p>
          <a:p>
            <a:r>
              <a:rPr lang="en-US" sz="3700">
                <a:solidFill>
                  <a:srgbClr val="252525"/>
                </a:solidFill>
              </a:rPr>
              <a:t>RFC 7578: Returning Values from Forms: multipart/form-data (XML, PDF, XHTML, RFC dependencies) [IETF datatracker] - July 2015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2" id="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RFC 8259: The JavaScript Object Notation (JSON) Data Interchange Format (XML, PDF, XHTML, RFC dependencies) [IETF datatracker] - December 2017</a:t>
            </a:r>
          </a:p>
          <a:p>
            <a:r>
              <a:rPr lang="en-US" sz="3700">
                <a:solidFill>
                  <a:srgbClr val="252525"/>
                </a:solidFill>
              </a:rPr>
              <a:t>RFC 8288: Web Linking (XML, PDF, XHTML, RFC dependencies) [IETF datatracker] - October 2017</a:t>
            </a:r>
          </a:p>
          <a:p>
            <a:r>
              <a:rPr lang="en-US" sz="3700">
                <a:solidFill>
                  <a:srgbClr val="252525"/>
                </a:solidFill>
              </a:rPr>
              <a:t>RFC 8999: Version-Independent Properties of QUIC (XML, PDF, XHTML, RFC dependencies) [IETF datatracker] - May 2021</a:t>
            </a:r>
          </a:p>
          <a:p>
            <a:r>
              <a:rPr lang="en-US" sz="3700">
                <a:solidFill>
                  <a:srgbClr val="252525"/>
                </a:solidFill>
              </a:rPr>
              <a:t>RFC 9000: QUIC: A UDP-Based Multiplexed and Secure Transport (XML, PDF, XHTML, RFC dependencies) [IETF datatracker] - May 2021</a:t>
            </a:r>
          </a:p>
          <a:p>
            <a:r>
              <a:rPr lang="en-US" sz="3700">
                <a:solidFill>
                  <a:srgbClr val="252525"/>
                </a:solidFill>
              </a:rPr>
              <a:t>RFC 9001: Using TLS to Secure QUIC (XML, PDF, XHTML, RFC dependencies) [IETF datatracker] - May 2021</a:t>
            </a:r>
          </a:p>
          <a:p>
            <a:r>
              <a:rPr lang="en-US" sz="3700">
                <a:solidFill>
                  <a:srgbClr val="252525"/>
                </a:solidFill>
              </a:rPr>
              <a:t>RFC 9002: QUIC Loss Detection and Congestion Control (XML, PDF, XHTML, RFC dependencies) [IETF datatracker] -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4" id="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May 2021</a:t>
            </a:r>
          </a:p>
          <a:p>
            <a:r>
              <a:rPr lang="en-US" sz="3700">
                <a:solidFill>
                  <a:srgbClr val="252525"/>
                </a:solidFill>
              </a:rPr>
              <a:t>RFC 9264: Linkset: Media Types and a Link Relation Type for Link Sets (XML, PDF, XHTML, RFC dependencies) [IETF datatracker] - July 2022</a:t>
            </a:r>
          </a:p>
          <a:p>
            <a:r>
              <a:rPr lang="en-US" sz="3700">
                <a:solidFill>
                  <a:srgbClr val="252525"/>
                </a:solidFill>
              </a:rPr>
              <a:t>RFC Style &amp; Format</a:t>
            </a:r>
          </a:p>
          <a:p>
            <a:r>
              <a:rPr lang="en-US" sz="3700">
                <a:solidFill>
                  <a:srgbClr val="252525"/>
                </a:solidFill>
              </a:rPr>
              <a:t>RFC 7749: The "xml2rfc" Version 2 Vocabulary (XML, PDF, XHTML, RFC dependencies) [IETF datatracker] - January 2016</a:t>
            </a:r>
          </a:p>
          <a:p>
            <a:r>
              <a:rPr lang="en-US" sz="3700">
                <a:solidFill>
                  <a:srgbClr val="252525"/>
                </a:solidFill>
              </a:rPr>
              <a:t>RFC 7990: RFC Format Framework (XML, PDF, XHTML, RFC dependencies) [IETF datatracker] - December 2016</a:t>
            </a:r>
          </a:p>
          <a:p>
            <a:r>
              <a:rPr lang="en-US" sz="3700">
                <a:solidFill>
                  <a:srgbClr val="252525"/>
                </a:solidFill>
              </a:rPr>
              <a:t>RFC 7991: The "xml2rfc" Version 3 Vocabulary (XML, PDF, XHTML, RFC dependencies) [IETF datatracker] - December 2016</a:t>
            </a:r>
          </a:p>
          <a:p>
            <a:r>
              <a:rPr lang="en-US" sz="3700">
                <a:solidFill>
                  <a:srgbClr val="252525"/>
                </a:solidFill>
              </a:rPr>
              <a:t>RFC 7992: HTML Format for RFCs (XML, PDF, XHTML, RFC dependencies) [IETF datatracker] - December 2016</a:t>
            </a:r>
          </a:p>
          <a:p>
            <a:r>
              <a:rPr lang="en-US" sz="3700">
                <a:solidFill>
                  <a:srgbClr val="252525"/>
                </a:solidFill>
              </a:rPr>
              <a:t>RFC 7993: Cascading Style Sheets (CSS)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6" id="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Requirements for RFCs (XML, PDF, XHTML, RFC dependencies) [IETF datatracker] - December 2016</a:t>
            </a:r>
          </a:p>
          <a:p>
            <a:r>
              <a:rPr lang="en-US" sz="3700">
                <a:solidFill>
                  <a:srgbClr val="252525"/>
                </a:solidFill>
              </a:rPr>
              <a:t>RFC 7994: Requirements for Plain-Text RFCs (XML, PDF, XHTML, RFC dependencies) [IETF datatracker] - December 2016</a:t>
            </a:r>
          </a:p>
          <a:p>
            <a:r>
              <a:rPr lang="en-US" sz="3700">
                <a:solidFill>
                  <a:srgbClr val="252525"/>
                </a:solidFill>
              </a:rPr>
              <a:t>RFC 7995: PDF Format for RFCs (XML, PDF, XHTML, RFC dependencies) [IETF datatracker] - December 2016</a:t>
            </a:r>
          </a:p>
          <a:p>
            <a:r>
              <a:rPr lang="en-US" sz="3700">
                <a:solidFill>
                  <a:srgbClr val="252525"/>
                </a:solidFill>
              </a:rPr>
              <a:t>RFC 7996: SVG Drawings for RFCs: SVG 1.2 RFC (XML, PDF, XHTML, RFC dependencies) [IETF datatracker] - December 2016</a:t>
            </a:r>
          </a:p>
          <a:p>
            <a:r>
              <a:rPr lang="en-US" sz="3700">
                <a:solidFill>
                  <a:srgbClr val="252525"/>
                </a:solidFill>
              </a:rPr>
              <a:t>RFC 7997: The Use of Non-ASCII Characters in RFCs (XML, PDF, XHTML, RFC dependencies) [IETF datatracker] - December 2016</a:t>
            </a:r>
          </a:p>
          <a:p>
            <a:r>
              <a:rPr lang="en-US" sz="3700">
                <a:solidFill>
                  <a:srgbClr val="252525"/>
                </a:solidFill>
              </a:rPr>
              <a:t>RFC 7998: "xml2rfc" Version 3 Preparation Tool Description (XML, PDF, XHTML, RFC dependencies) [IETF datatracker] -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8" id="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December 2016</a:t>
            </a:r>
          </a:p>
          <a:p>
            <a:r>
              <a:rPr lang="en-US" sz="3700">
                <a:solidFill>
                  <a:srgbClr val="252525"/>
                </a:solidFill>
              </a:rPr>
              <a:t>Internet Drafts</a:t>
            </a:r>
          </a:p>
          <a:p>
            <a:r>
              <a:rPr lang="en-US" sz="3700">
                <a:solidFill>
                  <a:srgbClr val="252525"/>
                </a:solidFill>
              </a:rPr>
              <a:t>Current HTTPbis Working Group Drafts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draft-ietf-httpbis-wrap-up: The HTTP Wrap Up Capsule (XML) [IETF datatracker] [Status for draft-ietf-httpbis-wrap-up-01 as of 2025-07-07: active]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July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January 2025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draft-ietf-httpbis-connect-tcp: Template-Driven HTTP CONNECT Proxying for TCP (XML, TXT) [IETF datatracker] [Status for draft-ietf-httpbis-connect-tcp-09 as of 2025-06-30: active]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June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June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March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October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August 2024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0" id="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04 (XML, TXT) - July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July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December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November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November 2023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draft-ietf-httpbis-optimistic-upgrade: Security Considerations for Optimistic Protocol Transitions in HTTP/1.1 (XML) [IETF datatracker] [Status for draft-ietf-httpbis-optimistic-upgrade-04 as of 2025-06-11: IESG (AD Evaluation::Revised I-D Needed)]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June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April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March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October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August 2024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draft-ietf-httpbis-resumable-upload: Resumable Uploads for HTTP (XML) [IETF datatracker] [Status for draft-ietf-httpbis-resumable-upload-09 as of 2025-06-04: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2" id="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active]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June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April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March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March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October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July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March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October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March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September 2022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draft-ietf-httpbis-cache-groups: HTTP Cache Groups (XML, TXT) [IETF datatracker] [Status for draft-ietf-httpbis-cache-groups-07 as of 2025-05-17: IESG (RFC Ed Queue)] - Approved as Proposed Standard, see announcement in &lt;</a:t>
            </a:r>
            <a:r>
              <a:rPr lang="en-US" sz="3700">
                <a:solidFill>
                  <a:srgbClr val="252525"/>
                </a:solidFill>
              </a:rPr>
              <a:t>&gt;. - (Diff relative to previous draft)</a:t>
            </a:r>
          </a:p>
        </p:txBody>
      </p:sp>
      <p:pic>
        <p:nvPicPr>
          <p:cNvPr name="Picture 54" id="54">
            <a:hlinkClick r:id="rId55"/>
          </p:cNvPr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>
            <a:off x="6451600" y="9461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6" id="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07 (XML, TXT) - May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May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March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March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February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June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December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November 2023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draft-ietf-httpbis-safe-method-w-body: The HTTP QUERY Method (XML) [IETF datatracker] [Status for draft-ietf-httpbis-safe-method-w-body-11 as of 2025-05-19: IESG (Publication Requested)]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May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April 2025 - In Working Group Last Call, see announcement in &lt;</a:t>
            </a:r>
          </a:p>
        </p:txBody>
      </p:sp>
      <p:pic>
        <p:nvPicPr>
          <p:cNvPr name="Picture 58" id="58">
            <a:hlinkClick r:id="rId59"/>
          </p:cNvPr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>
            <a:off x="6451600" y="101727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0" id="60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0" id="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&gt;, ending 2025-05-15.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April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February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December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October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September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September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July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November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June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March 2021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draft-ietf-httpbis-no-vary-search: No-Vary-Search (XML, TXT) [IETF datatracker] [Status for draft-ietf-httpbis-no-vary-search-01 as of 2025-03-21: active]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March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September 2024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draft-ietf-httpbis-rfc6265bis: HTTP State Management Mechanism (XML, TXT) [IETF datatracker] [Status for draft-ietf-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2" id="6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2" id="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httpbis-rfc6265bis-20 as of 2025-03-18: IESG (Approved-announcement to be sent::Revised I-D Needed)]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20 (XML, TXT) - March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19 (XML, TXT) - January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18 (XML, TXT) - December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December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December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July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May 2024 -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2024-05-31.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November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May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November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April 2022</a:t>
            </a:r>
          </a:p>
        </p:txBody>
      </p:sp>
      <p:pic>
        <p:nvPicPr>
          <p:cNvPr name="Picture 64" id="64">
            <a:hlinkClick r:id="rId65"/>
          </p:cNvPr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>
            <a:off x="6451600" y="6388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6" id="66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6" id="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09 (XML, TXT) - September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June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December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April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February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January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April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August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April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October 2016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draft-ietf-httpbis-wrap-up: The HTTP Wrap Up Capsule (XML) [IETF datatracker] [Status for draft-ietf-httpbis-wrap-up-01 as of 2025-07-07: active]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January 2025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draft-ietf-httpbis-compression-dictionary: Compression Dictionary Transport (XML, TXT) [in RFC Editor queue as of 2024-09-06 in section IETF STREAM: WORKING GROUP STANDARDS TRACK 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8" id="68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8" id="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(14/98 in section, 1/4 in state RFC-EDITOR*R)] [IETF datatracker] [Status for draft-ietf-httpbis-compression-dictionary-19 as of 2024-08-28: IESG (RFC Ed Queue)]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19 (XML, TXT) - August 2024 - Approved as Proposed Standard, see announcement in &lt;</a:t>
            </a:r>
            <a:r>
              <a:rPr lang="en-US" sz="3700">
                <a:solidFill>
                  <a:srgbClr val="252525"/>
                </a:solidFill>
              </a:rPr>
              <a:t>&gt;.</a:t>
            </a:r>
          </a:p>
          <a:p>
            <a:r>
              <a:rPr lang="en-US" sz="3700">
                <a:solidFill>
                  <a:srgbClr val="252525"/>
                </a:solidFill>
              </a:rPr>
              <a:t>Draft 18 (XML, TXT) - August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August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August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August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August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August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August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August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August 2024</a:t>
            </a:r>
          </a:p>
        </p:txBody>
      </p:sp>
      <p:pic>
        <p:nvPicPr>
          <p:cNvPr name="Picture 70" id="70">
            <a:hlinkClick r:id="rId71"/>
          </p:cNvPr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>
            <a:off x="6451600" y="2590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2" id="72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2" id="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09 (XML, TXT) - August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July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July 2024 -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2024-08-06.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July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June 2024 -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2024-07-04.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May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February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January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December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September 2023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draft-ietf-httpbis-zstd-window-size: </a:t>
            </a:r>
          </a:p>
        </p:txBody>
      </p:sp>
      <p:pic>
        <p:nvPicPr>
          <p:cNvPr name="Picture 74" id="74">
            <a:hlinkClick r:id="rId75"/>
          </p:cNvPr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  <p:pic>
        <p:nvPicPr>
          <p:cNvPr name="Picture 76" id="76">
            <a:hlinkClick r:id="rId77"/>
          </p:cNvPr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>
            <a:off x="6451600" y="6019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8" id="78"/>
          <p:cNvPicPr>
            <a:picLocks noChangeAspect="true"/>
          </p:cNvPicPr>
          <p:nvPr/>
        </p:nvPicPr>
        <p:blipFill>
          <a:blip r:embed="rId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8" id="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Window Sizing for Zstandard Content Encoding (XML, TXT) [IETF datatracker] [Status for draft-ietf-httpbis-zstd-window-size-03 as of 2024-08-23: has been published as RFC 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August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August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June 2024 -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2024-08-06.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June 2024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draft-ietf-httpbis-secondary-server-certs: Secondary Certificate Authentication of HTTP Servers (XML) [IETF datatracker] [Status for draft-ietf-httpbis-secondary-server-certs-01 as of 2024-10-12: expired] - (Diff relative to previous draft)</a:t>
            </a:r>
          </a:p>
        </p:txBody>
      </p:sp>
      <p:pic>
        <p:nvPicPr>
          <p:cNvPr name="Picture 80" id="80">
            <a:hlinkClick r:id="rId81"/>
          </p:cNvPr>
          <p:cNvPicPr>
            <a:picLocks noChangeAspect="true"/>
          </p:cNvPicPr>
          <p:nvPr/>
        </p:nvPicPr>
        <p:blipFill>
          <a:blip r:embed="rId80"/>
          <a:stretch>
            <a:fillRect/>
          </a:stretch>
        </p:blipFill>
        <p:spPr>
          <a:xfrm>
            <a:off x="6451600" y="4864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2" id="82"/>
          <p:cNvPicPr>
            <a:picLocks noChangeAspect="true"/>
          </p:cNvPicPr>
          <p:nvPr/>
        </p:nvPicPr>
        <p:blipFill>
          <a:blip r:embed="rId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2" id="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draft-ietf-httpbis-retrofit: Retrofit Structured Fields for HTTP (XML, TXT) [IETF datatracker] [Status for draft-ietf-httpbis-retrofit-06 as of 2023-03-31: expired]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March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December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June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May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April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February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draft-ietf-httpbis-rfc7838bis: HTTP Alternative Services (XML) [IETF datatracker] [Status for draft-ietf-httpbis-rfc7838bis-00 as of 2021-09-01: expired]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September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draft-ietf-httpbis-client-cert-field: Client-Cert HTTP Header Field: Conveying Client Certificate Information from TLS 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4" id="84"/>
          <p:cNvPicPr>
            <a:picLocks noChangeAspect="true"/>
          </p:cNvPicPr>
          <p:nvPr/>
        </p:nvPicPr>
        <p:blipFill>
          <a:blip r:embed="rId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4" id="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Terminating Reverse Proxies to Origin Server Applications (XML) [IETF datatracker] [Status for draft-ietf-httpbis-client-cert-field-06 as of 2023-03-17: has been published as RFC ]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draft-ietf-httpbis-http2-secondary-certs: Secondary Certificate Authentication in HTTP/2 (XML) [IETF datatracker] [Status for draft-ietf-httpbis-http2-secondary-certs-06 as of 2020-05-14: replaced]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May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October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April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June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December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draft-ietf-httpbis-cache-digest: Cache Digests for HTTP/2 (XML, TXT) [IETF datatracker] [Status for draft-ietf-httpbis-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6" id="86"/>
          <p:cNvPicPr>
            <a:picLocks noChangeAspect="true"/>
          </p:cNvPicPr>
          <p:nvPr/>
        </p:nvPicPr>
        <p:blipFill>
          <a:blip r:embed="rId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6" id="8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cache-digest-05 as of 2018-07-02: expired]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July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April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March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May 2017 - In Working Group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2017-08-13.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October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July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draft-ietf-httpbis-variants: HTTP Representation Variants (XML) [IETF datatracker] [Status for draft-ietf-httpbis-variants-06 as of 2019-11-04: expired]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November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March 2019</a:t>
            </a:r>
          </a:p>
        </p:txBody>
      </p:sp>
      <p:pic>
        <p:nvPicPr>
          <p:cNvPr name="Picture 88" id="88">
            <a:hlinkClick r:id="rId89"/>
          </p:cNvPr>
          <p:cNvPicPr>
            <a:picLocks noChangeAspect="true"/>
          </p:cNvPicPr>
          <p:nvPr/>
        </p:nvPicPr>
        <p:blipFill>
          <a:blip r:embed="rId88"/>
          <a:stretch>
            <a:fillRect/>
          </a:stretch>
        </p:blipFill>
        <p:spPr>
          <a:xfrm>
            <a:off x="6451600" y="2590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0" id="90"/>
          <p:cNvPicPr>
            <a:picLocks noChangeAspect="true"/>
          </p:cNvPicPr>
          <p:nvPr/>
        </p:nvPicPr>
        <p:blipFill>
          <a:blip r:embed="rId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0" id="9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04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July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June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April 2018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draft-ietf-httpbis-conditional: HTTP Conditional Requests (XML) [IETF datatracker] [Status for draft-ietf-httpbis-conditional-01 as of 2018-05-31: replaced]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April 2018 - (Diff from RFC7232)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draft-ietf-httpbis-range: HTTP Range Requests (XML) [IETF datatracker] [Status for draft-ietf-httpbis-range-01 as of 2018-05-31: replaced]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April 2018 - (Diff from RFC7233)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2" id="92"/>
          <p:cNvPicPr>
            <a:picLocks noChangeAspect="true"/>
          </p:cNvPicPr>
          <p:nvPr/>
        </p:nvPicPr>
        <p:blipFill>
          <a:blip r:embed="rId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2" id="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draft-ietf-httpbis-auth: HTTP Authentication (XML) [IETF datatracker] [Status for draft-ietf-httpbis-auth-01 as of 2018-05-31: replaced]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April 2018 - (Diff from RFC7235)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draft-ietf-httpbis-cookie-alone: Deprecate modification of 'secure' cookies from non-secure origins (XML, TXT) [IETF datatracker] [Status for draft-ietf-httpbis-cookie-alone-01 as of 2016-09-05: replaced]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September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February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draft-ietf-httpbis-cookie-same-site: Same-Site Cookies (XML) [IETF datatracker] [Status for draft-ietf-httpbis-cookie-same-site-00 as of 2016-06-21: replaced] - (Diff relative to previous draft)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4" id="94"/>
          <p:cNvPicPr>
            <a:picLocks noChangeAspect="true"/>
          </p:cNvPicPr>
          <p:nvPr/>
        </p:nvPicPr>
        <p:blipFill>
          <a:blip r:embed="rId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4" id="9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00 (XML, TXT) - June 2016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draft-ietf-httpbis-cookie-prefixes: Cookie Prefixes (XML, TXT) [IETF datatracker] [Status for draft-ietf-httpbis-cookie-prefixes-00 as of 2016-02-23: replaced]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February 2016</a:t>
            </a:r>
          </a:p>
          <a:p>
            <a:r>
              <a:rPr lang="en-US" sz="3700">
                <a:solidFill>
                  <a:srgbClr val="252525"/>
                </a:solidFill>
              </a:rPr>
              <a:t>Current HTTPAPI Working Group Drafts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draft-ietf-httpapi-link-hint: HTTP Link Hints (XML) [IETF datatracker] [Status for draft-ietf-httpapi-link-hint-03 as of 2025-05-18: active]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May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February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February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August 2023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draft-ietf-httpapi-ratelimit-headers: RateLimit Header Fields for HTTP (XML) [IETF datatracker] [Status for draft-ietf-httpapi-ratelimit-headers-09 as of 2025-03-18: active] - (Diff relative to 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6" id="96"/>
          <p:cNvPicPr>
            <a:picLocks noChangeAspect="true"/>
          </p:cNvPicPr>
          <p:nvPr/>
        </p:nvPicPr>
        <p:blipFill>
          <a:blip r:embed="rId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6" id="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February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October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April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December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July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May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March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November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December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draft-ietf-httpapi-idempotency-key-header: The Idempotency-Key HTTP Header Field (XML) [IETF datatracker] [Status for draft-ietf-httpapi-idempotency-key-header-06 as of 2025-02-26: active]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February 2026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May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December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July 2023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8" id="98"/>
          <p:cNvPicPr>
            <a:picLocks noChangeAspect="true"/>
          </p:cNvPicPr>
          <p:nvPr/>
        </p:nvPicPr>
        <p:blipFill>
          <a:blip r:embed="rId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8" id="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02 (XML, TXT) - November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July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draft-ietf-httpapi-deprecation-header: The Deprecation HTTP Header Field (XML) [IETF datatracker] [Status for draft-ietf-httpapi-deprecation-header-09 as of 2024-09-28: has been published as RFC ]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September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September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September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August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August 2024 -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2024-09-06.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June 2024 - In Working Group Last Call, see announcement in &lt;</a:t>
            </a:r>
          </a:p>
        </p:txBody>
      </p:sp>
      <p:pic>
        <p:nvPicPr>
          <p:cNvPr name="Picture 100" id="100">
            <a:hlinkClick r:id="rId101"/>
          </p:cNvPr>
          <p:cNvPicPr>
            <a:picLocks noChangeAspect="true"/>
          </p:cNvPicPr>
          <p:nvPr/>
        </p:nvPicPr>
        <p:blipFill>
          <a:blip r:embed="rId100"/>
          <a:stretch>
            <a:fillRect/>
          </a:stretch>
        </p:blipFill>
        <p:spPr>
          <a:xfrm>
            <a:off x="6451600" y="44704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2" id="102"/>
          <p:cNvPicPr>
            <a:picLocks noChangeAspect="true"/>
          </p:cNvPicPr>
          <p:nvPr/>
        </p:nvPicPr>
        <p:blipFill>
          <a:blip r:embed="rId1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2" id="1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2024-05-01.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December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July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December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draft-ietf-httpapi-link-template: The Link-Template HTTP Header Field (XML) [in RFC Editor queue] [IETF datatracker] [Status for draft-ietf-httpapi-link-template-04 as of 2024-04-01: has been published as RFC 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April 2024 - Approved as Proposed Standard, see announcement in &lt;</a:t>
            </a:r>
            <a:r>
              <a:rPr lang="en-US" sz="3700">
                <a:solidFill>
                  <a:srgbClr val="252525"/>
                </a:solidFill>
              </a:rPr>
              <a:t>&gt;, ending 2023-05-29.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January 2024</a:t>
            </a:r>
          </a:p>
        </p:txBody>
      </p:sp>
      <p:pic>
        <p:nvPicPr>
          <p:cNvPr name="Picture 104" id="104">
            <a:hlinkClick r:id="rId105"/>
          </p:cNvPr>
          <p:cNvPicPr>
            <a:picLocks noChangeAspect="true"/>
          </p:cNvPicPr>
          <p:nvPr/>
        </p:nvPicPr>
        <p:blipFill>
          <a:blip r:embed="rId104"/>
          <a:stretch>
            <a:fillRect/>
          </a:stretch>
        </p:blipFill>
        <p:spPr>
          <a:xfrm>
            <a:off x="6451600" y="9410700"/>
            <a:ext cx="10820400" cy="1714500"/>
          </a:xfrm>
          <a:prstGeom prst="rect">
            <a:avLst/>
          </a:prstGeom>
        </p:spPr>
      </p:pic>
      <p:pic>
        <p:nvPicPr>
          <p:cNvPr name="Picture 106" id="106">
            <a:hlinkClick r:id="rId107"/>
          </p:cNvPr>
          <p:cNvPicPr>
            <a:picLocks noChangeAspect="true"/>
          </p:cNvPicPr>
          <p:nvPr/>
        </p:nvPicPr>
        <p:blipFill>
          <a:blip r:embed="rId106"/>
          <a:stretch>
            <a:fillRect/>
          </a:stretch>
        </p:blipFill>
        <p:spPr>
          <a:xfrm>
            <a:off x="6451600" y="6388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8" id="108"/>
          <p:cNvPicPr>
            <a:picLocks noChangeAspect="true"/>
          </p:cNvPicPr>
          <p:nvPr/>
        </p:nvPicPr>
        <p:blipFill>
          <a:blip r:embed="rId1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8" id="10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02 (XML, TXT) - February 2023 -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2023-05-29.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December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April 2022</a:t>
            </a:r>
          </a:p>
          <a:p>
            <a:r>
              <a:rPr lang="en-US" sz="3700">
                <a:solidFill>
                  <a:srgbClr val="252525"/>
                </a:solidFill>
              </a:rPr>
              <a:t>Current QUIC Working Group Drafts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draft-ietf-quic-spin-exp: The QUIC Latency Spin Bit (XML, TXT) [IETF datatracker] [Status for draft-ietf-quic-spin-exp-01 as of 2018-10-23: replaced]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April 2018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draft-ietf-quic-qcram: Header Compression for HTTP over QUIC (XML, TXT) [IETF datatracker] [Status for draft-ietf-quic-qcram-00 as of 2018-02-20: replaced]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February 2018</a:t>
            </a:r>
          </a:p>
        </p:txBody>
      </p:sp>
      <p:pic>
        <p:nvPicPr>
          <p:cNvPr name="Picture 110" id="110">
            <a:hlinkClick r:id="rId111"/>
          </p:cNvPr>
          <p:cNvPicPr>
            <a:picLocks noChangeAspect="true"/>
          </p:cNvPicPr>
          <p:nvPr/>
        </p:nvPicPr>
        <p:blipFill>
          <a:blip r:embed="rId110"/>
          <a:stretch>
            <a:fillRect/>
          </a:stretch>
        </p:blipFill>
        <p:spPr>
          <a:xfrm>
            <a:off x="6451600" y="113284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2" id="112"/>
          <p:cNvPicPr>
            <a:picLocks noChangeAspect="true"/>
          </p:cNvPicPr>
          <p:nvPr/>
        </p:nvPicPr>
        <p:blipFill>
          <a:blip r:embed="rId1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2" id="1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Current Individual Submissions</a:t>
            </a:r>
          </a:p>
          <a:p>
            <a:r>
              <a:rPr lang="en-US" sz="3700">
                <a:solidFill>
                  <a:srgbClr val="252525"/>
                </a:solidFill>
              </a:rPr>
              <a:t>draft-reschke-http-jfv: A JSON Encoding for HTTP Field Values (XML, TXT) [IETF datatracker] [Status for draft-reschke-http-jfv-17 as of 2025-04-29: active]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April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March 2025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September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April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February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September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November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October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July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February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October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June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December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June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March 2016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4" id="114"/>
          <p:cNvPicPr>
            <a:picLocks noChangeAspect="true"/>
          </p:cNvPicPr>
          <p:nvPr/>
        </p:nvPicPr>
        <p:blipFill>
          <a:blip r:embed="rId1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4" id="1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02 (XML, TXT) - October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March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July 2014</a:t>
            </a:r>
          </a:p>
          <a:p>
            <a:r>
              <a:rPr lang="en-US" sz="3700">
                <a:solidFill>
                  <a:srgbClr val="252525"/>
                </a:solidFill>
              </a:rPr>
              <a:t>draft-snell-search-method: HTTP SEARCH Method (XML, TXT) [IETF datatracker] [Status for draft-snell-search-method-02 as of 2020-09-02: replaced]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September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September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April 2015</a:t>
            </a:r>
          </a:p>
          <a:p>
            <a:r>
              <a:rPr lang="en-US" sz="3700">
                <a:solidFill>
                  <a:srgbClr val="252525"/>
                </a:solidFill>
              </a:rPr>
              <a:t>draft-fielding-httpbis-http-auth: Hypertext Transfer Protocol (HTTP): Authentication (XML) [IETF datatracker] [Status for draft-fielding-httpbis-http-auth-00 as of 2018-03-05: replaced]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March 2018</a:t>
            </a:r>
          </a:p>
          <a:p>
            <a:r>
              <a:rPr lang="en-US" sz="3700">
                <a:solidFill>
                  <a:srgbClr val="252525"/>
                </a:solidFill>
              </a:rPr>
              <a:t>draft-fielding-httpbis-http-cache: Hypertext Transfer Protocol (HTTP): Caching (XML) [IETF datatracker] [Status for draft-fielding-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6" id="116"/>
          <p:cNvPicPr>
            <a:picLocks noChangeAspect="true"/>
          </p:cNvPicPr>
          <p:nvPr/>
        </p:nvPicPr>
        <p:blipFill>
          <a:blip r:embed="rId1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6" id="1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httpbis-http-cache-00 as of 2018-03-05: replaced]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March 2018</a:t>
            </a:r>
          </a:p>
          <a:p>
            <a:r>
              <a:rPr lang="en-US" sz="3700">
                <a:solidFill>
                  <a:srgbClr val="252525"/>
                </a:solidFill>
              </a:rPr>
              <a:t>draft-fielding-httpbis-http-conditional: Hypertext Transfer Protocol (HTTP): Conditional Requests (XML) [IETF datatracker] [Status for draft-fielding-httpbis-http-conditional-00 as of 2018-03-05: replaced]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March 2018</a:t>
            </a:r>
          </a:p>
          <a:p>
            <a:r>
              <a:rPr lang="en-US" sz="3700">
                <a:solidFill>
                  <a:srgbClr val="252525"/>
                </a:solidFill>
              </a:rPr>
              <a:t>draft-fielding-httpbis-http-messaging: Hypertext Transfer Protocol (HTTP/1.1): Message Syntax and Routing (XML) [IETF datatracker] [Status for draft-fielding-httpbis-http-messaging-00 as of 2018-03-05: replaced]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March 2018</a:t>
            </a:r>
          </a:p>
          <a:p>
            <a:r>
              <a:rPr lang="en-US" sz="3700">
                <a:solidFill>
                  <a:srgbClr val="252525"/>
                </a:solidFill>
              </a:rPr>
              <a:t>draft-fielding-httpbis-http-range: Hypertext Transfer Protocol (HTTP): Range Requests 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8" id="118"/>
          <p:cNvPicPr>
            <a:picLocks noChangeAspect="true"/>
          </p:cNvPicPr>
          <p:nvPr/>
        </p:nvPicPr>
        <p:blipFill>
          <a:blip r:embed="rId1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8" id="1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(XML) [IETF datatracker] [Status for draft-fielding-httpbis-http-range-00 as of 2018-03-05: replaced]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March 2018</a:t>
            </a:r>
          </a:p>
          <a:p>
            <a:r>
              <a:rPr lang="en-US" sz="3700">
                <a:solidFill>
                  <a:srgbClr val="252525"/>
                </a:solidFill>
              </a:rPr>
              <a:t>draft-fielding-httpbis-http-semantics: Hypertext Transfer Protocol: Semantics and Content (XML) [IETF datatracker] [Status for draft-fielding-httpbis-http-semantics-00 as of 2018-03-05: replaced]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March 2018</a:t>
            </a:r>
          </a:p>
          <a:p>
            <a:r>
              <a:rPr lang="en-US" sz="3700">
                <a:solidFill>
                  <a:srgbClr val="252525"/>
                </a:solidFill>
              </a:rPr>
              <a:t>draft-reschke-http-oob-encoding: 'Out-Of-Band' Content Coding for HTTP (XML) [IETF datatracker] [Status for draft-reschke-http-oob-encoding-12 as of 2017-06-24: expired]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(XML) - June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(XML) - March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(XML) - December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(XML) - October 2016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0" id="120"/>
          <p:cNvPicPr>
            <a:picLocks noChangeAspect="true"/>
          </p:cNvPicPr>
          <p:nvPr/>
        </p:nvPicPr>
        <p:blipFill>
          <a:blip r:embed="rId1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0" id="1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08 (XML) - September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(XML) - July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(XML) - April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(XML) - April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(XML) - March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(XML) - February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(XML) - December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October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June 2015</a:t>
            </a:r>
          </a:p>
          <a:p>
            <a:r>
              <a:rPr lang="en-US" sz="3700">
                <a:solidFill>
                  <a:srgbClr val="252525"/>
                </a:solidFill>
              </a:rPr>
              <a:t>draft-reschke-ref-parsing: Processing potentially invalid URI and IRI References (XML) [issues list] [IETF datatracker] [Status for draft-reschke-ref-parsing-00 as of 2011-07-03: expired]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July 2011</a:t>
            </a:r>
          </a:p>
          <a:p>
            <a:r>
              <a:rPr lang="en-US" sz="3700">
                <a:solidFill>
                  <a:srgbClr val="252525"/>
                </a:solidFill>
              </a:rPr>
              <a:t>draft-reschke-hab: Test Renditions for new RFC Headers &amp; Boilerplate (XML) [IETF datatracker] [Status for draft-reschke-hab-08 as of 2011-04-17: expired]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(XML) - April 2011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(XML) - June 2010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2" id="122"/>
          <p:cNvPicPr>
            <a:picLocks noChangeAspect="true"/>
          </p:cNvPicPr>
          <p:nvPr/>
        </p:nvPicPr>
        <p:blipFill>
          <a:blip r:embed="rId1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2" id="1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06 (XML) - January 2010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(XML) - January 2010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(XML) - December 2009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(XML) - December 2009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(XML) - December 2009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December 2009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November 2009</a:t>
            </a:r>
          </a:p>
          <a:p>
            <a:r>
              <a:rPr lang="en-US" sz="3700">
                <a:solidFill>
                  <a:srgbClr val="252525"/>
                </a:solidFill>
              </a:rPr>
              <a:t>draft-reschke-http-get-location: The Hypertext Transfer Protocol (HTTP) GET-Location header (XML) [IETF datatracker] [Status for draft-reschke-http-get-location-01 as of 2008-04-04: expired]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April 2008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July 2007</a:t>
            </a:r>
          </a:p>
          <a:p>
            <a:r>
              <a:rPr lang="en-US" sz="3700">
                <a:solidFill>
                  <a:srgbClr val="252525"/>
                </a:solidFill>
              </a:rPr>
              <a:t>draft-reschke-http-etag-on-write: The Hypertext Transfer Protocol (HTTP) Entity Tag ("ETag") Response Header in Write Operations (XML) [issues list] [IETF datatracker] [Status for draft-reschke-http-etag-on-write-09 as of 2009-03-02: expired]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(XML) - March 2009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4" id="124"/>
          <p:cNvPicPr>
            <a:picLocks noChangeAspect="true"/>
          </p:cNvPicPr>
          <p:nvPr/>
        </p:nvPicPr>
        <p:blipFill>
          <a:blip r:embed="rId1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4" id="1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08 (XML) - October 2007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(XML) - July 2007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(XML) - May 2007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(XML) - March 2007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(XML) - November 2006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(XML) - October 2006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(XML) - September 2006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August 2006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August 2006</a:t>
            </a:r>
          </a:p>
          <a:p>
            <a:r>
              <a:rPr lang="en-US" sz="3700">
                <a:solidFill>
                  <a:srgbClr val="252525"/>
                </a:solidFill>
              </a:rPr>
              <a:t>draft-reschke-webdav-locking: Web Distributed Authoring and Versioning (WebDAV) Locking Protocol (XML) [issues list] [IETF datatracker] [Status for draft-reschke-webdav-locking-08 as of 2005-10-04: expired] - Experimental edit of RFC2518, containing the locking protocol definitions from RFC2518 and GULP.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(XML) - October 2005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(XML) - February 2005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(XML) - December 2004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(XML) - July 2004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6" id="126"/>
          <p:cNvPicPr>
            <a:picLocks noChangeAspect="true"/>
          </p:cNvPicPr>
          <p:nvPr/>
        </p:nvPicPr>
        <p:blipFill>
          <a:blip r:embed="rId1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6" id="1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04 (XML) - June 2004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(XML) - June 2004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(XML) - June 2004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May 2004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May 2004</a:t>
            </a:r>
          </a:p>
          <a:p>
            <a:r>
              <a:rPr lang="en-US" sz="3700">
                <a:solidFill>
                  <a:srgbClr val="252525"/>
                </a:solidFill>
              </a:rPr>
              <a:t>draft-reschke-webdav-url-constraints: Web Distributed Authoring and Versioning (WebDAV) URL constraints (XML) [issues list] [IETF datatracker] [Status for draft-reschke-webdav-url-constraints-00 as of 2005-11-14: expired]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November 2005</a:t>
            </a:r>
          </a:p>
          <a:p>
            <a:r>
              <a:rPr lang="en-US" sz="3700">
                <a:solidFill>
                  <a:srgbClr val="252525"/>
                </a:solidFill>
              </a:rPr>
              <a:t>IAB Work on RFC format</a:t>
            </a:r>
          </a:p>
          <a:p>
            <a:r>
              <a:rPr lang="en-US" sz="3700">
                <a:solidFill>
                  <a:srgbClr val="252525"/>
                </a:solidFill>
              </a:rPr>
              <a:t>draft-iab-rfc7991bis: The "xml2rfc" version 3 Vocabulary (XML) [IETF datatracker] [Status for draft-iab-rfc7991bis-04 as of 2022-04-11: expired] - (Diff compared to RFC 7991)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(XML) - April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(XML) - March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(XML) - March 2020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8" id="128"/>
          <p:cNvPicPr>
            <a:picLocks noChangeAspect="true"/>
          </p:cNvPicPr>
          <p:nvPr/>
        </p:nvPicPr>
        <p:blipFill>
          <a:blip r:embed="rId1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8" id="1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01 (XML)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draft-hoffman-rfcexamples: Examples of the 'XML2RFC' Version 2 and 3 Vocabularies (XML) [IETF datatracker] [Status for draft-hoffman-rfcexamples-04 as of 2015-11-04: expired]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(XML) - November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(XML) - March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(XML) - February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January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October 2014</a:t>
            </a:r>
          </a:p>
          <a:p>
            <a:r>
              <a:rPr lang="en-US" sz="3700">
                <a:solidFill>
                  <a:srgbClr val="252525"/>
                </a:solidFill>
              </a:rPr>
              <a:t>Experimental Greenbytes Drafts</a:t>
            </a:r>
          </a:p>
          <a:p>
            <a:r>
              <a:rPr lang="en-US" sz="3700">
                <a:solidFill>
                  <a:srgbClr val="252525"/>
                </a:solidFill>
              </a:rPr>
              <a:t>draft-reschke-webdav-rfc2518bis: HTTP Extensions for Distributed Authoring (WEBDAV) (XML) [IETF datatracker] - Experimental changes to RFC2518bis (Diff relative to current WG draft, source diff)</a:t>
            </a:r>
          </a:p>
          <a:p>
            <a:r>
              <a:rPr lang="en-US" sz="3700">
                <a:solidFill>
                  <a:srgbClr val="252525"/>
                </a:solidFill>
              </a:rPr>
              <a:t>draft-reschke-webdav-base: HTTP Extensions for Distributed Authoring 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0" id="130"/>
          <p:cNvPicPr>
            <a:picLocks noChangeAspect="true"/>
          </p:cNvPicPr>
          <p:nvPr/>
        </p:nvPicPr>
        <p:blipFill>
          <a:blip r:embed="rId1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0" id="1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(WEBDAV) - Base Protocol (XML) [issues list] [IETF datatracker] - Experimental edit of RFC 2518, removing the locking feature (for inclusion into a separate spec)</a:t>
            </a:r>
          </a:p>
          <a:p>
            <a:r>
              <a:rPr lang="en-US" sz="3700">
                <a:solidFill>
                  <a:srgbClr val="252525"/>
                </a:solidFill>
              </a:rPr>
              <a:t>draft-reschke-rfc3648bis: RFC3648bis: Web Distributed Authoring and Versioning (WebDAV) Ordered Collections Protocol (XML, RFC dependencies) [issues list] [IETF datatracker] - Container document for RFC 3648 issues and resolutions</a:t>
            </a:r>
          </a:p>
          <a:p>
            <a:r>
              <a:rPr lang="en-US" sz="3700">
                <a:solidFill>
                  <a:srgbClr val="252525"/>
                </a:solidFill>
              </a:rPr>
              <a:t>draft-reschke-rfc3744bis: RFC3744bis: Web Distributed Authoring and Versioning (WebDAV) Access Control Protocol (XML, RFC dependencies) [issues list] [IETF datatracker] - Container document for RFC 3744 issues and resolutions</a:t>
            </a:r>
          </a:p>
          <a:p>
            <a:r>
              <a:rPr lang="en-US" sz="3700">
                <a:solidFill>
                  <a:srgbClr val="252525"/>
                </a:solidFill>
              </a:rPr>
              <a:t>Other Current Drafts</a:t>
            </a:r>
          </a:p>
          <a:p>
            <a:r>
              <a:rPr lang="en-US" sz="3700">
                <a:solidFill>
                  <a:srgbClr val="252525"/>
                </a:solidFill>
              </a:rPr>
              <a:t>draft-rsalz-qname-urn: The QName URN Namespace (XML) [issues list] [IETF datatracker] [Status for draft-rsalz-qname-urn-02 as of 2010-03-07: expired]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2" id="132"/>
          <p:cNvPicPr>
            <a:picLocks noChangeAspect="true"/>
          </p:cNvPicPr>
          <p:nvPr/>
        </p:nvPicPr>
        <p:blipFill>
          <a:blip r:embed="rId1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2" id="1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02 (XML) - March 2010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December 2009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December 2004</a:t>
            </a:r>
          </a:p>
          <a:p>
            <a:r>
              <a:rPr lang="en-US" sz="3700">
                <a:solidFill>
                  <a:srgbClr val="252525"/>
                </a:solidFill>
              </a:rPr>
              <a:t>Archived drafts of published documents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draft-ietf-httpbis-unprompted-auth: The Concealed HTTP Authentication Scheme (XML, TXT) [in RFC Editor queue] [IETF datatracker] [Status for draft-ietf-httpbis-unprompted-auth-12 as of 2024-09-19: has been published as RFC ] - Published as RFC 9729 in February 2025.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September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September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August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July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July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June 2024 - In Working Group Last Call, see announcement in &lt;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4" id="134"/>
          <p:cNvPicPr>
            <a:picLocks noChangeAspect="true"/>
          </p:cNvPicPr>
          <p:nvPr/>
        </p:nvPicPr>
        <p:blipFill>
          <a:blip r:embed="rId1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4" id="1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2024-06-27.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January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October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June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June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March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February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October 2022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draft-ietf-httpbis-sfbis: Structured Field Values for HTTP (XML, TXT) [in RFC Editor queue] [IETF datatracker] [Status for draft-ietf-httpbis-sfbis-06 as of 2024-04-22: has been published as RFC ] - Published as RFC 9651 in September 2024.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April 2024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January 2024 - In IETF Last Call, see announcement in &lt;</a:t>
            </a:r>
          </a:p>
        </p:txBody>
      </p:sp>
      <p:pic>
        <p:nvPicPr>
          <p:cNvPr name="Picture 136" id="136">
            <a:hlinkClick r:id="rId137"/>
          </p:cNvPr>
          <p:cNvPicPr>
            <a:picLocks noChangeAspect="true"/>
          </p:cNvPicPr>
          <p:nvPr/>
        </p:nvPicPr>
        <p:blipFill>
          <a:blip r:embed="rId136"/>
          <a:stretch>
            <a:fillRect/>
          </a:stretch>
        </p:blipFill>
        <p:spPr>
          <a:xfrm>
            <a:off x="6451600" y="1079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8" id="138"/>
          <p:cNvPicPr>
            <a:picLocks noChangeAspect="true"/>
          </p:cNvPicPr>
          <p:nvPr/>
        </p:nvPicPr>
        <p:blipFill>
          <a:blip r:embed="rId1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8" id="1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2024-02-12. Approved as Proposed Standard, see announcement in &lt;</a:t>
            </a:r>
            <a:r>
              <a:rPr lang="en-US" sz="3700">
                <a:solidFill>
                  <a:srgbClr val="252525"/>
                </a:solidFill>
              </a:rPr>
              <a:t>&gt;.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November 2023 - In 2nd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2023-11-17.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August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March 2023 - In Working Group Last Call, see announcement in &lt;</a:t>
            </a:r>
          </a:p>
        </p:txBody>
      </p:sp>
      <p:pic>
        <p:nvPicPr>
          <p:cNvPr name="Picture 140" id="140">
            <a:hlinkClick r:id="rId141"/>
          </p:cNvPr>
          <p:cNvPicPr>
            <a:picLocks noChangeAspect="true"/>
          </p:cNvPicPr>
          <p:nvPr/>
        </p:nvPicPr>
        <p:blipFill>
          <a:blip r:embed="rId140"/>
          <a:stretch>
            <a:fillRect/>
          </a:stretch>
        </p:blipFill>
        <p:spPr>
          <a:xfrm>
            <a:off x="6451600" y="1079500"/>
            <a:ext cx="10820400" cy="1714500"/>
          </a:xfrm>
          <a:prstGeom prst="rect">
            <a:avLst/>
          </a:prstGeom>
        </p:spPr>
      </p:pic>
      <p:pic>
        <p:nvPicPr>
          <p:cNvPr name="Picture 142" id="142">
            <a:hlinkClick r:id="rId143"/>
          </p:cNvPr>
          <p:cNvPicPr>
            <a:picLocks noChangeAspect="true"/>
          </p:cNvPicPr>
          <p:nvPr/>
        </p:nvPicPr>
        <p:blipFill>
          <a:blip r:embed="rId142"/>
          <a:stretch>
            <a:fillRect/>
          </a:stretch>
        </p:blipFill>
        <p:spPr>
          <a:xfrm>
            <a:off x="6451600" y="4508500"/>
            <a:ext cx="10820400" cy="1714500"/>
          </a:xfrm>
          <a:prstGeom prst="rect">
            <a:avLst/>
          </a:prstGeom>
        </p:spPr>
      </p:pic>
      <p:pic>
        <p:nvPicPr>
          <p:cNvPr name="Picture 144" id="144">
            <a:hlinkClick r:id="rId145"/>
          </p:cNvPr>
          <p:cNvPicPr>
            <a:picLocks noChangeAspect="true"/>
          </p:cNvPicPr>
          <p:nvPr/>
        </p:nvPicPr>
        <p:blipFill>
          <a:blip r:embed="rId144"/>
          <a:stretch>
            <a:fillRect/>
          </a:stretch>
        </p:blipFill>
        <p:spPr>
          <a:xfrm>
            <a:off x="6451600" y="9448800"/>
            <a:ext cx="10820400" cy="1714500"/>
          </a:xfrm>
          <a:prstGeom prst="rect">
            <a:avLst/>
          </a:prstGeom>
        </p:spPr>
      </p:pic>
      <p:pic>
        <p:nvPicPr>
          <p:cNvPr name="Picture 146" id="146">
            <a:hlinkClick r:id="rId147"/>
          </p:cNvPr>
          <p:cNvPicPr>
            <a:picLocks noChangeAspect="true"/>
          </p:cNvPicPr>
          <p:nvPr/>
        </p:nvPicPr>
        <p:blipFill>
          <a:blip r:embed="rId146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8" id="148"/>
          <p:cNvPicPr>
            <a:picLocks noChangeAspect="true"/>
          </p:cNvPicPr>
          <p:nvPr/>
        </p:nvPicPr>
        <p:blipFill>
          <a:blip r:embed="rId1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8" id="1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&gt;, ending 2023-05-01.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December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November 2022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draft-ietf-httpbis-digest-headers: Digests Fields (XML, TXT) [in RFC Editor queue] [IETF datatracker] [Status for draft-ietf-httpbis-digest-headers-13 as of 2023-07-10: has been published as RFC ] - Published as RFC 9530 in February 2024.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July 2023 - Approved as Proposed Standard, see announcement in &lt;</a:t>
            </a:r>
            <a:r>
              <a:rPr lang="en-US" sz="3700">
                <a:solidFill>
                  <a:srgbClr val="252525"/>
                </a:solidFill>
              </a:rPr>
              <a:t>&gt;.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April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March 2023 - In IETF Last Call, see announcement in &lt;</a:t>
            </a:r>
          </a:p>
        </p:txBody>
      </p:sp>
      <p:pic>
        <p:nvPicPr>
          <p:cNvPr name="Picture 150" id="150">
            <a:hlinkClick r:id="rId151"/>
          </p:cNvPr>
          <p:cNvPicPr>
            <a:picLocks noChangeAspect="true"/>
          </p:cNvPicPr>
          <p:nvPr/>
        </p:nvPicPr>
        <p:blipFill>
          <a:blip r:embed="rId150"/>
          <a:stretch>
            <a:fillRect/>
          </a:stretch>
        </p:blipFill>
        <p:spPr>
          <a:xfrm>
            <a:off x="6451600" y="120904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2" id="152"/>
          <p:cNvPicPr>
            <a:picLocks noChangeAspect="true"/>
          </p:cNvPicPr>
          <p:nvPr/>
        </p:nvPicPr>
        <p:blipFill>
          <a:blip r:embed="rId1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2" id="1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2023-03-21.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May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May 2022 - In second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2021-12-15.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March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November 2021 -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2022-06-09.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September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April 2021</a:t>
            </a:r>
          </a:p>
        </p:txBody>
      </p:sp>
      <p:pic>
        <p:nvPicPr>
          <p:cNvPr name="Picture 154" id="154">
            <a:hlinkClick r:id="rId155"/>
          </p:cNvPr>
          <p:cNvPicPr>
            <a:picLocks noChangeAspect="true"/>
          </p:cNvPicPr>
          <p:nvPr/>
        </p:nvPicPr>
        <p:blipFill>
          <a:blip r:embed="rId154"/>
          <a:stretch>
            <a:fillRect/>
          </a:stretch>
        </p:blipFill>
        <p:spPr>
          <a:xfrm>
            <a:off x="6451600" y="1079500"/>
            <a:ext cx="10820400" cy="1714500"/>
          </a:xfrm>
          <a:prstGeom prst="rect">
            <a:avLst/>
          </a:prstGeom>
        </p:spPr>
      </p:pic>
      <p:pic>
        <p:nvPicPr>
          <p:cNvPr name="Picture 156" id="156">
            <a:hlinkClick r:id="rId157"/>
          </p:cNvPr>
          <p:cNvPicPr>
            <a:picLocks noChangeAspect="true"/>
          </p:cNvPicPr>
          <p:nvPr/>
        </p:nvPicPr>
        <p:blipFill>
          <a:blip r:embed="rId156"/>
          <a:stretch>
            <a:fillRect/>
          </a:stretch>
        </p:blipFill>
        <p:spPr>
          <a:xfrm>
            <a:off x="6451600" y="6781800"/>
            <a:ext cx="10820400" cy="1714500"/>
          </a:xfrm>
          <a:prstGeom prst="rect">
            <a:avLst/>
          </a:prstGeom>
        </p:spPr>
      </p:pic>
      <p:pic>
        <p:nvPicPr>
          <p:cNvPr name="Picture 158" id="158">
            <a:hlinkClick r:id="rId159"/>
          </p:cNvPr>
          <p:cNvPicPr>
            <a:picLocks noChangeAspect="true"/>
          </p:cNvPicPr>
          <p:nvPr/>
        </p:nvPicPr>
        <p:blipFill>
          <a:blip r:embed="rId158"/>
          <a:stretch>
            <a:fillRect/>
          </a:stretch>
        </p:blipFill>
        <p:spPr>
          <a:xfrm>
            <a:off x="6451600" y="12484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0" id="160"/>
          <p:cNvPicPr>
            <a:picLocks noChangeAspect="true"/>
          </p:cNvPicPr>
          <p:nvPr/>
        </p:nvPicPr>
        <p:blipFill>
          <a:blip r:embed="rId1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0" id="1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04 (XML, TXT) - October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September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March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November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July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draft-ietf-httpbis-message-signatures: Signing HTTP Messages (XML) [in RFC Editor queue] [IETF datatracker] [Status for draft-ietf-httpbis-message-signatures-19 as of 2023-07-27: has been published as RFC ] - Published as RFC 9421 in February 2024.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19 (XML, TXT) - July 2023 - Approved as Proposed Standard, see announcement in &lt;</a:t>
            </a:r>
            <a:r>
              <a:rPr lang="en-US" sz="3700">
                <a:solidFill>
                  <a:srgbClr val="252525"/>
                </a:solidFill>
              </a:rPr>
              <a:t>&gt;.</a:t>
            </a:r>
          </a:p>
          <a:p>
            <a:r>
              <a:rPr lang="en-US" sz="3700">
                <a:solidFill>
                  <a:srgbClr val="252525"/>
                </a:solidFill>
              </a:rPr>
              <a:t>Draft 18 (XML, TXT) - July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May 2023</a:t>
            </a:r>
          </a:p>
        </p:txBody>
      </p:sp>
      <p:pic>
        <p:nvPicPr>
          <p:cNvPr name="Picture 162" id="162">
            <a:hlinkClick r:id="rId163"/>
          </p:cNvPr>
          <p:cNvPicPr>
            <a:picLocks noChangeAspect="true"/>
          </p:cNvPicPr>
          <p:nvPr/>
        </p:nvPicPr>
        <p:blipFill>
          <a:blip r:embed="rId162"/>
          <a:stretch>
            <a:fillRect/>
          </a:stretch>
        </p:blipFill>
        <p:spPr>
          <a:xfrm>
            <a:off x="6451600" y="124460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4" id="164"/>
          <p:cNvPicPr>
            <a:picLocks noChangeAspect="true"/>
          </p:cNvPicPr>
          <p:nvPr/>
        </p:nvPicPr>
        <p:blipFill>
          <a:blip r:embed="rId1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4" id="1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16 (XML, TXT) - February 2023 -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2023-02-20.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November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November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September 2022 -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2022-10-25.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September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July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May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March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January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December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August 2021</a:t>
            </a:r>
          </a:p>
        </p:txBody>
      </p:sp>
      <p:pic>
        <p:nvPicPr>
          <p:cNvPr name="Picture 166" id="166">
            <a:hlinkClick r:id="rId167"/>
          </p:cNvPr>
          <p:cNvPicPr>
            <a:picLocks noChangeAspect="true"/>
          </p:cNvPicPr>
          <p:nvPr/>
        </p:nvPicPr>
        <p:blipFill>
          <a:blip r:embed="rId166"/>
          <a:stretch>
            <a:fillRect/>
          </a:stretch>
        </p:blipFill>
        <p:spPr>
          <a:xfrm>
            <a:off x="6451600" y="2590800"/>
            <a:ext cx="10820400" cy="1714500"/>
          </a:xfrm>
          <a:prstGeom prst="rect">
            <a:avLst/>
          </a:prstGeom>
        </p:spPr>
      </p:pic>
      <p:pic>
        <p:nvPicPr>
          <p:cNvPr name="Picture 168" id="168">
            <a:hlinkClick r:id="rId169"/>
          </p:cNvPr>
          <p:cNvPicPr>
            <a:picLocks noChangeAspect="true"/>
          </p:cNvPicPr>
          <p:nvPr/>
        </p:nvPicPr>
        <p:blipFill>
          <a:blip r:embed="rId168"/>
          <a:stretch>
            <a:fillRect/>
          </a:stretch>
        </p:blipFill>
        <p:spPr>
          <a:xfrm>
            <a:off x="6451600" y="9055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0" id="170"/>
          <p:cNvPicPr>
            <a:picLocks noChangeAspect="true"/>
          </p:cNvPicPr>
          <p:nvPr/>
        </p:nvPicPr>
        <p:blipFill>
          <a:blip r:embed="rId1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0" id="17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05 (XML, TXT) - June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April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April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March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November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draft-ietf-httpbis-alias-proxy-status: HTTP Proxy-Status Parameter for Next-Hop Aliases (XML, TXT) [IETF datatracker] [Status for draft-ietf-httpbis-alias-proxy-status-07 as of 2023-12-13: has been published as RFC ] - Published as RFC 9532 in January 2024.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December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December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June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June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May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May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January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January 2023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2" id="172"/>
          <p:cNvPicPr>
            <a:picLocks noChangeAspect="true"/>
          </p:cNvPicPr>
          <p:nvPr/>
        </p:nvPicPr>
        <p:blipFill>
          <a:blip r:embed="rId1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2" id="1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draft-ietf-httpapi-rfc7807bis: Problem Details for HTTP APIs (XML) [IETF datatracker] [Status for draft-ietf-httpapi-rfc7807bis-07 as of 2023-04-29: has been published as RFC ] - Published as RFC 9457 in July 2023.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April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March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January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September 2022 -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2022-11-03.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April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October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April 2021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draft-ietf-httpbis-client-cert-field: Client-</a:t>
            </a:r>
          </a:p>
        </p:txBody>
      </p:sp>
      <p:pic>
        <p:nvPicPr>
          <p:cNvPr name="Picture 174" id="174">
            <a:hlinkClick r:id="rId175"/>
          </p:cNvPr>
          <p:cNvPicPr>
            <a:picLocks noChangeAspect="true"/>
          </p:cNvPicPr>
          <p:nvPr/>
        </p:nvPicPr>
        <p:blipFill>
          <a:blip r:embed="rId174"/>
          <a:stretch>
            <a:fillRect/>
          </a:stretch>
        </p:blipFill>
        <p:spPr>
          <a:xfrm>
            <a:off x="6451600" y="101727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6" id="176"/>
          <p:cNvPicPr>
            <a:picLocks noChangeAspect="true"/>
          </p:cNvPicPr>
          <p:nvPr/>
        </p:nvPicPr>
        <p:blipFill>
          <a:blip r:embed="rId1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6" id="17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Cert HTTP Header Field: Conveying Client Certificate Information from TLS Terminating Reverse Proxies to Origin Server Applications (XML) [IETF datatracker] [Status for draft-ietf-httpbis-client-cert-field-06 as of 2023-03-17: has been published as RFC ] - Published as RFC 9440 in July 2023.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March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February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December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October 2022 -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2022-11-14.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May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January 2022</a:t>
            </a:r>
          </a:p>
        </p:txBody>
      </p:sp>
      <p:pic>
        <p:nvPicPr>
          <p:cNvPr name="Picture 178" id="178">
            <a:hlinkClick r:id="rId179"/>
          </p:cNvPr>
          <p:cNvPicPr>
            <a:picLocks noChangeAspect="true"/>
          </p:cNvPicPr>
          <p:nvPr/>
        </p:nvPicPr>
        <p:blipFill>
          <a:blip r:embed="rId178"/>
          <a:stretch>
            <a:fillRect/>
          </a:stretch>
        </p:blipFill>
        <p:spPr>
          <a:xfrm>
            <a:off x="6451600" y="124460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0" id="180"/>
          <p:cNvPicPr>
            <a:picLocks noChangeAspect="true"/>
          </p:cNvPicPr>
          <p:nvPr/>
        </p:nvPicPr>
        <p:blipFill>
          <a:blip r:embed="rId1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0" id="1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00 (XML, TXT) - June 2021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draft-ietf-httpbis-origin-h3: The ORIGIN Extension in HTTP/3 (XML) [IETF datatracker] [Status for draft-ietf-httpbis-origin-h3-03 as of 2023-01-24: has been published as RFC ] - Published as RFC 9412 in June 2023.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January 2023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November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October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September 2022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draft-ietf-httpbis-binary-message: Binary Representation of HTTP Messages (XML) [in RFC Editor queue] [IETF datatracker] [Status for draft-ietf-httpbis-binary-message-06 as of 2022-07-07: has been published as RFC ] - Published as RFC 9292 in August 2022.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July 2022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2" id="182"/>
          <p:cNvPicPr>
            <a:picLocks noChangeAspect="true"/>
          </p:cNvPicPr>
          <p:nvPr/>
        </p:nvPicPr>
        <p:blipFill>
          <a:blip r:embed="rId1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2" id="1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05 (XML, TXT) - June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May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May 2022 -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2022-06-03.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April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February 2022 -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2022-03-04.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November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draft-ietf-httpapi-linkset: Linkset: Media Types and a Link Relation Type for Link Sets (XML) [IETF datatracker] [Status for draft-ietf-httpapi-linkset-10 as of 2022-05-06: has been published as RFC ] - </a:t>
            </a:r>
          </a:p>
        </p:txBody>
      </p:sp>
      <p:pic>
        <p:nvPicPr>
          <p:cNvPr name="Picture 184" id="184">
            <a:hlinkClick r:id="rId185"/>
          </p:cNvPr>
          <p:cNvPicPr>
            <a:picLocks noChangeAspect="true"/>
          </p:cNvPicPr>
          <p:nvPr/>
        </p:nvPicPr>
        <p:blipFill>
          <a:blip r:embed="rId184"/>
          <a:stretch>
            <a:fillRect/>
          </a:stretch>
        </p:blipFill>
        <p:spPr>
          <a:xfrm>
            <a:off x="6451600" y="4114800"/>
            <a:ext cx="10820400" cy="1714500"/>
          </a:xfrm>
          <a:prstGeom prst="rect">
            <a:avLst/>
          </a:prstGeom>
        </p:spPr>
      </p:pic>
      <p:pic>
        <p:nvPicPr>
          <p:cNvPr name="Picture 186" id="186">
            <a:hlinkClick r:id="rId187"/>
          </p:cNvPr>
          <p:cNvPicPr>
            <a:picLocks noChangeAspect="true"/>
          </p:cNvPicPr>
          <p:nvPr/>
        </p:nvPicPr>
        <p:blipFill>
          <a:blip r:embed="rId186"/>
          <a:stretch>
            <a:fillRect/>
          </a:stretch>
        </p:blipFill>
        <p:spPr>
          <a:xfrm>
            <a:off x="6451600" y="9817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8" id="188"/>
          <p:cNvPicPr>
            <a:picLocks noChangeAspect="true"/>
          </p:cNvPicPr>
          <p:nvPr/>
        </p:nvPicPr>
        <p:blipFill>
          <a:blip r:embed="rId1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8" id="1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Published as RFC 9264 in July 2022.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May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March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February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February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November 2021 -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&gt;.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October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July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July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June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January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draft-ietf-httpbis-h3-websockets: Bootstrapping WebSockets with HTTP/3 </a:t>
            </a:r>
          </a:p>
        </p:txBody>
      </p:sp>
      <p:pic>
        <p:nvPicPr>
          <p:cNvPr name="Picture 190" id="190">
            <a:hlinkClick r:id="rId191"/>
          </p:cNvPr>
          <p:cNvPicPr>
            <a:picLocks noChangeAspect="true"/>
          </p:cNvPicPr>
          <p:nvPr/>
        </p:nvPicPr>
        <p:blipFill>
          <a:blip r:embed="rId190"/>
          <a:stretch>
            <a:fillRect/>
          </a:stretch>
        </p:blipFill>
        <p:spPr>
          <a:xfrm>
            <a:off x="6451600" y="78994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2" id="192"/>
          <p:cNvPicPr>
            <a:picLocks noChangeAspect="true"/>
          </p:cNvPicPr>
          <p:nvPr/>
        </p:nvPicPr>
        <p:blipFill>
          <a:blip r:embed="rId1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2" id="1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(XML) [in RFC Editor queue] [IETF datatracker] [Status for draft-ietf-httpbis-h3-websockets-04 as of 2022-02-08: has been published as RFC ] - Published as RFC 9220 in June 2022.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February 2022 - Approved as Proposed Standard, see announcement in &lt;</a:t>
            </a:r>
            <a:r>
              <a:rPr lang="en-US" sz="3700">
                <a:solidFill>
                  <a:srgbClr val="252525"/>
                </a:solidFill>
              </a:rPr>
              <a:t>&gt;, ending 2021-11-26.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February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January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December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September 2021 - In Working Group Last Call, see announcement in &lt;</a:t>
            </a:r>
          </a:p>
        </p:txBody>
      </p:sp>
      <p:pic>
        <p:nvPicPr>
          <p:cNvPr name="Picture 194" id="194">
            <a:hlinkClick r:id="rId195"/>
          </p:cNvPr>
          <p:cNvPicPr>
            <a:picLocks noChangeAspect="true"/>
          </p:cNvPicPr>
          <p:nvPr/>
        </p:nvPicPr>
        <p:blipFill>
          <a:blip r:embed="rId194"/>
          <a:stretch>
            <a:fillRect/>
          </a:stretch>
        </p:blipFill>
        <p:spPr>
          <a:xfrm>
            <a:off x="6451600" y="7899400"/>
            <a:ext cx="10820400" cy="1714500"/>
          </a:xfrm>
          <a:prstGeom prst="rect">
            <a:avLst/>
          </a:prstGeom>
        </p:spPr>
      </p:pic>
      <p:pic>
        <p:nvPicPr>
          <p:cNvPr name="Picture 196" id="196">
            <a:hlinkClick r:id="rId197"/>
          </p:cNvPr>
          <p:cNvPicPr>
            <a:picLocks noChangeAspect="true"/>
          </p:cNvPicPr>
          <p:nvPr/>
        </p:nvPicPr>
        <p:blipFill>
          <a:blip r:embed="rId196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8" id="198"/>
          <p:cNvPicPr>
            <a:picLocks noChangeAspect="true"/>
          </p:cNvPicPr>
          <p:nvPr/>
        </p:nvPicPr>
        <p:blipFill>
          <a:blip r:embed="rId1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8" id="1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&gt;, ending 2021-10-13.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draft-ietf-httpbis-priority: Extensible Prioritization Scheme for HTTP (XML) [in RFC Editor queue] [IETF datatracker] [Status for draft-ietf-httpbis-priority-12 as of 2022-01-18: has been published as RFC ] - Published as RFC 9218 in June 2022.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January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December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November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November 2021 -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2021-11-29.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November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October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October 2021 - In Working Group Last Call, see </a:t>
            </a:r>
          </a:p>
        </p:txBody>
      </p:sp>
      <p:pic>
        <p:nvPicPr>
          <p:cNvPr name="Picture 200" id="200">
            <a:hlinkClick r:id="rId201"/>
          </p:cNvPr>
          <p:cNvPicPr>
            <a:picLocks noChangeAspect="true"/>
          </p:cNvPicPr>
          <p:nvPr/>
        </p:nvPicPr>
        <p:blipFill>
          <a:blip r:embed="rId200"/>
          <a:stretch>
            <a:fillRect/>
          </a:stretch>
        </p:blipFill>
        <p:spPr>
          <a:xfrm>
            <a:off x="6451600" y="120904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2" id="202"/>
          <p:cNvPicPr>
            <a:picLocks noChangeAspect="true"/>
          </p:cNvPicPr>
          <p:nvPr/>
        </p:nvPicPr>
        <p:blipFill>
          <a:blip r:embed="rId2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2" id="2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announcement in &lt;</a:t>
            </a:r>
            <a:r>
              <a:rPr lang="en-US" sz="3700">
                <a:solidFill>
                  <a:srgbClr val="252525"/>
                </a:solidFill>
              </a:rPr>
              <a:t>&gt;, ending 2021-10-20.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September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July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January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October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July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March 2020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draft-ietf-httpbis-targeted-cache-control: Targeted HTTP Cache Control (XML) [in RFC Editor queue] [IETF datatracker] [Status for draft-ietf-httpbis-targeted-cache-control-04 as of 2022-01-24: has been published as RFC ] - Published as RFC 9213 in June 2022.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January 2022 - Approved as Proposed Standard, see </a:t>
            </a:r>
          </a:p>
        </p:txBody>
      </p:sp>
      <p:pic>
        <p:nvPicPr>
          <p:cNvPr name="Picture 204" id="204">
            <a:hlinkClick r:id="rId205"/>
          </p:cNvPr>
          <p:cNvPicPr>
            <a:picLocks noChangeAspect="true"/>
          </p:cNvPicPr>
          <p:nvPr/>
        </p:nvPicPr>
        <p:blipFill>
          <a:blip r:embed="rId204"/>
          <a:stretch>
            <a:fillRect/>
          </a:stretch>
        </p:blipFill>
        <p:spPr>
          <a:xfrm>
            <a:off x="6451600" y="2590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6" id="206"/>
          <p:cNvPicPr>
            <a:picLocks noChangeAspect="true"/>
          </p:cNvPicPr>
          <p:nvPr/>
        </p:nvPicPr>
        <p:blipFill>
          <a:blip r:embed="rId2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6" id="2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announcement in &lt;</a:t>
            </a:r>
            <a:r>
              <a:rPr lang="en-US" sz="3700">
                <a:solidFill>
                  <a:srgbClr val="252525"/>
                </a:solidFill>
              </a:rPr>
              <a:t>&gt;, ending 2021-11-26.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January 2022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October 2021 -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2021-10-29.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2021-12-23.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September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July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draft-ietf-httpbis-cache-header: The Cache HTTP Response Header (XML) [in RFC </a:t>
            </a:r>
          </a:p>
        </p:txBody>
      </p:sp>
      <p:pic>
        <p:nvPicPr>
          <p:cNvPr name="Picture 208" id="208">
            <a:hlinkClick r:id="rId209"/>
          </p:cNvPr>
          <p:cNvPicPr>
            <a:picLocks noChangeAspect="true"/>
          </p:cNvPicPr>
          <p:nvPr/>
        </p:nvPicPr>
        <p:blipFill>
          <a:blip r:embed="rId208"/>
          <a:stretch>
            <a:fillRect/>
          </a:stretch>
        </p:blipFill>
        <p:spPr>
          <a:xfrm>
            <a:off x="6451600" y="2590800"/>
            <a:ext cx="10820400" cy="1714500"/>
          </a:xfrm>
          <a:prstGeom prst="rect">
            <a:avLst/>
          </a:prstGeom>
        </p:spPr>
      </p:pic>
      <p:pic>
        <p:nvPicPr>
          <p:cNvPr name="Picture 210" id="210">
            <a:hlinkClick r:id="rId211"/>
          </p:cNvPr>
          <p:cNvPicPr>
            <a:picLocks noChangeAspect="true"/>
          </p:cNvPicPr>
          <p:nvPr/>
        </p:nvPicPr>
        <p:blipFill>
          <a:blip r:embed="rId210"/>
          <a:stretch>
            <a:fillRect/>
          </a:stretch>
        </p:blipFill>
        <p:spPr>
          <a:xfrm>
            <a:off x="6451600" y="8293100"/>
            <a:ext cx="10820400" cy="1714500"/>
          </a:xfrm>
          <a:prstGeom prst="rect">
            <a:avLst/>
          </a:prstGeom>
        </p:spPr>
      </p:pic>
      <p:pic>
        <p:nvPicPr>
          <p:cNvPr name="Picture 212" id="212">
            <a:hlinkClick r:id="rId213"/>
          </p:cNvPr>
          <p:cNvPicPr>
            <a:picLocks noChangeAspect="true"/>
          </p:cNvPicPr>
          <p:nvPr/>
        </p:nvPicPr>
        <p:blipFill>
          <a:blip r:embed="rId212"/>
          <a:stretch>
            <a:fillRect/>
          </a:stretch>
        </p:blipFill>
        <p:spPr>
          <a:xfrm>
            <a:off x="6451600" y="11722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4" id="214"/>
          <p:cNvPicPr>
            <a:picLocks noChangeAspect="true"/>
          </p:cNvPicPr>
          <p:nvPr/>
        </p:nvPicPr>
        <p:blipFill>
          <a:blip r:embed="rId2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4" id="2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Editor queue] [IETF datatracker] [Status for draft-ietf-httpbis-cache-header-10 as of 2021-08-18: has been published as RFC ] - Published as RFC 9211 in June 2022.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August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July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April 2021 -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2021-07-23.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January 2021 -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2021-02-26.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January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August 2020</a:t>
            </a:r>
          </a:p>
        </p:txBody>
      </p:sp>
      <p:pic>
        <p:nvPicPr>
          <p:cNvPr name="Picture 216" id="216">
            <a:hlinkClick r:id="rId217"/>
          </p:cNvPr>
          <p:cNvPicPr>
            <a:picLocks noChangeAspect="true"/>
          </p:cNvPicPr>
          <p:nvPr/>
        </p:nvPicPr>
        <p:blipFill>
          <a:blip r:embed="rId216"/>
          <a:stretch>
            <a:fillRect/>
          </a:stretch>
        </p:blipFill>
        <p:spPr>
          <a:xfrm>
            <a:off x="6451600" y="8661400"/>
            <a:ext cx="10820400" cy="1714500"/>
          </a:xfrm>
          <a:prstGeom prst="rect">
            <a:avLst/>
          </a:prstGeom>
        </p:spPr>
      </p:pic>
      <p:pic>
        <p:nvPicPr>
          <p:cNvPr name="Picture 218" id="218">
            <a:hlinkClick r:id="rId219"/>
          </p:cNvPr>
          <p:cNvPicPr>
            <a:picLocks noChangeAspect="true"/>
          </p:cNvPicPr>
          <p:nvPr/>
        </p:nvPicPr>
        <p:blipFill>
          <a:blip r:embed="rId218"/>
          <a:stretch>
            <a:fillRect/>
          </a:stretch>
        </p:blipFill>
        <p:spPr>
          <a:xfrm>
            <a:off x="6451600" y="136017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0" id="220"/>
          <p:cNvPicPr>
            <a:picLocks noChangeAspect="true"/>
          </p:cNvPicPr>
          <p:nvPr/>
        </p:nvPicPr>
        <p:blipFill>
          <a:blip r:embed="rId2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0" id="2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04 (XML, TXT) - August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March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November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November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January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draft-ietf-httpbis-proxy-status: The Proxy-Status HTTP Header Field (XML, TXT) [in RFC Editor queue] [IETF datatracker] [Status for draft-ietf-httpbis-proxy-status-08 as of 2021-10-13: has been published as RFC ] - Published as RFC 9209 in June 2022.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October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October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August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April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February 2021 - In Working Group Last Call, see announcement in &lt;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2" id="222"/>
          <p:cNvPicPr>
            <a:picLocks noChangeAspect="true"/>
          </p:cNvPicPr>
          <p:nvPr/>
        </p:nvPicPr>
        <p:blipFill>
          <a:blip r:embed="rId2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2" id="2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2021-04-27.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February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August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March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May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draft-ietf-httpbis-bcp56bis: Building Protocols with HTTP (XML) [in RFC Editor queue] [IETF datatracker] [Status for draft-ietf-httpbis-bcp56bis-15 as of 2021-08-27: has been published as RFC ] - Published as RFC 9205 in June 2022.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August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August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August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April 2021 - In IETF Last Call, see announcement in &lt;</a:t>
            </a:r>
          </a:p>
        </p:txBody>
      </p:sp>
      <p:pic>
        <p:nvPicPr>
          <p:cNvPr name="Picture 224" id="224">
            <a:hlinkClick r:id="rId225"/>
          </p:cNvPr>
          <p:cNvPicPr>
            <a:picLocks noChangeAspect="true"/>
          </p:cNvPicPr>
          <p:nvPr/>
        </p:nvPicPr>
        <p:blipFill>
          <a:blip r:embed="rId224"/>
          <a:stretch>
            <a:fillRect/>
          </a:stretch>
        </p:blipFill>
        <p:spPr>
          <a:xfrm>
            <a:off x="6451600" y="1079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6" id="226"/>
          <p:cNvPicPr>
            <a:picLocks noChangeAspect="true"/>
          </p:cNvPicPr>
          <p:nvPr/>
        </p:nvPicPr>
        <p:blipFill>
          <a:blip r:embed="rId2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6" id="2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2021-07-23.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March 2021 - In second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2021-04-12.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March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October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November 2018 -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2018-12-14.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July 2018</a:t>
            </a:r>
          </a:p>
        </p:txBody>
      </p:sp>
      <p:pic>
        <p:nvPicPr>
          <p:cNvPr name="Picture 228" id="228">
            <a:hlinkClick r:id="rId229"/>
          </p:cNvPr>
          <p:cNvPicPr>
            <a:picLocks noChangeAspect="true"/>
          </p:cNvPicPr>
          <p:nvPr/>
        </p:nvPicPr>
        <p:blipFill>
          <a:blip r:embed="rId228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  <p:pic>
        <p:nvPicPr>
          <p:cNvPr name="Picture 230" id="230">
            <a:hlinkClick r:id="rId231"/>
          </p:cNvPr>
          <p:cNvPicPr>
            <a:picLocks noChangeAspect="true"/>
          </p:cNvPicPr>
          <p:nvPr/>
        </p:nvPicPr>
        <p:blipFill>
          <a:blip r:embed="rId230"/>
          <a:stretch>
            <a:fillRect/>
          </a:stretch>
        </p:blipFill>
        <p:spPr>
          <a:xfrm>
            <a:off x="6451600" y="5270500"/>
            <a:ext cx="10820400" cy="1714500"/>
          </a:xfrm>
          <a:prstGeom prst="rect">
            <a:avLst/>
          </a:prstGeom>
        </p:spPr>
      </p:pic>
      <p:pic>
        <p:nvPicPr>
          <p:cNvPr name="Picture 232" id="232">
            <a:hlinkClick r:id="rId233"/>
          </p:cNvPr>
          <p:cNvPicPr>
            <a:picLocks noChangeAspect="true"/>
          </p:cNvPicPr>
          <p:nvPr/>
        </p:nvPicPr>
        <p:blipFill>
          <a:blip r:embed="rId232"/>
          <a:stretch>
            <a:fillRect/>
          </a:stretch>
        </p:blipFill>
        <p:spPr>
          <a:xfrm>
            <a:off x="6451600" y="11722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4" id="234"/>
          <p:cNvPicPr>
            <a:picLocks noChangeAspect="true"/>
          </p:cNvPicPr>
          <p:nvPr/>
        </p:nvPicPr>
        <p:blipFill>
          <a:blip r:embed="rId2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4" id="2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05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April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April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March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February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December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draft-ietf-httpbis-expect-ct: Expect-CT Extension for HTTP (XML, TXT) [in RFC Editor queue] [IETF datatracker] [Status for draft-ietf-httpbis-expect-ct-08 as of 2018-12-09: has been published as RFC ] - Published as RFC 9163 in June 2022.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December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July 2018 -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2018-08-14.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June 2018</a:t>
            </a:r>
          </a:p>
        </p:txBody>
      </p:sp>
      <p:pic>
        <p:nvPicPr>
          <p:cNvPr name="Picture 236" id="236">
            <a:hlinkClick r:id="rId237"/>
          </p:cNvPr>
          <p:cNvPicPr>
            <a:picLocks noChangeAspect="true"/>
          </p:cNvPicPr>
          <p:nvPr/>
        </p:nvPicPr>
        <p:blipFill>
          <a:blip r:embed="rId236"/>
          <a:stretch>
            <a:fillRect/>
          </a:stretch>
        </p:blipFill>
        <p:spPr>
          <a:xfrm>
            <a:off x="6451600" y="124460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8" id="238"/>
          <p:cNvPicPr>
            <a:picLocks noChangeAspect="true"/>
          </p:cNvPicPr>
          <p:nvPr/>
        </p:nvPicPr>
        <p:blipFill>
          <a:blip r:embed="rId2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8" id="2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05 (XML, TXT) - May 2018 -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2018-06-08.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February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August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May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January 2017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draft-ietf-quic-qpack: QPACK: Header Compression for HTTP over QUIC (XML, TXT) [in RFC Editor queue] [IETF datatracker] [Status for draft-ietf-quic-qpack-21 as of 2021-02-02: has been published as RFC ] - Published as RFC 9204 in June 2022.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21 (XML, TXT) - February 2021</a:t>
            </a:r>
          </a:p>
        </p:txBody>
      </p:sp>
      <p:pic>
        <p:nvPicPr>
          <p:cNvPr name="Picture 240" id="240">
            <a:hlinkClick r:id="rId241"/>
          </p:cNvPr>
          <p:cNvPicPr>
            <a:picLocks noChangeAspect="true"/>
          </p:cNvPicPr>
          <p:nvPr/>
        </p:nvPicPr>
        <p:blipFill>
          <a:blip r:embed="rId240"/>
          <a:stretch>
            <a:fillRect/>
          </a:stretch>
        </p:blipFill>
        <p:spPr>
          <a:xfrm>
            <a:off x="6451600" y="2590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2" id="242"/>
          <p:cNvPicPr>
            <a:picLocks noChangeAspect="true"/>
          </p:cNvPicPr>
          <p:nvPr/>
        </p:nvPicPr>
        <p:blipFill>
          <a:blip r:embed="rId2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2" id="2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20 (XML, TXT) - December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19 (XML, TXT) - October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18 (XML, TXT) - September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September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June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May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February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February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January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November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September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July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April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March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January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December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December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August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June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May 2018</a:t>
            </a: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4" id="244"/>
          <p:cNvPicPr>
            <a:picLocks noChangeAspect="true"/>
          </p:cNvPicPr>
          <p:nvPr/>
        </p:nvPicPr>
        <p:blipFill>
          <a:blip r:embed="rId2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4" id="2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draft-ietf-quic-http: Hypertext Transfer Protocol Version 3 (HTTP/3) (XML, TXT) [in RFC Editor queue] [IETF datatracker] [Status for draft-ietf-quic-http-34 as of 2021-02-02: has been published as RFC ] - Published as RFC 9114 in June 2022.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34 (XML, TXT) - February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33 (XML, TXT) - December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32 (XML, TXT) - October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31 (XML, TXT) - September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30 (XML, TXT) - September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29 (XML, TXT) - June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28 (XML, TXT) - May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27 (XML, TXT) - February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26 (XML, TXT) - February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25 (XML, TXT) - January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24 (XML, TXT) - November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23 (XML, TXT) - September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22 (XML, TXT) - July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21 (XML, TXT) - July 2019</a:t>
            </a: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6" id="246"/>
          <p:cNvPicPr>
            <a:picLocks noChangeAspect="true"/>
          </p:cNvPicPr>
          <p:nvPr/>
        </p:nvPicPr>
        <p:blipFill>
          <a:blip r:embed="rId2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6" id="2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20 (XML, TXT) - April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19 (XML, TXT) - March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18 (XML, TXT) - January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December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August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July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April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March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January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December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October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September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August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June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May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March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January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November 2016</a:t>
            </a: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8" id="248"/>
          <p:cNvPicPr>
            <a:picLocks noChangeAspect="true"/>
          </p:cNvPicPr>
          <p:nvPr/>
        </p:nvPicPr>
        <p:blipFill>
          <a:blip r:embed="rId2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8" id="2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draft-ietf-httpbis-http2bis: Hypertext Transfer Protocol Version 2 (HTTP/2) (XML) [in RFC Editor queue] [IETF datatracker] [Status for draft-ietf-httpbis-http2bis-07 as of 2022-01-25: has been published as RFC ] - Published as RFC 9113 in June 2022.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January 2022 - Approved as Proposed Standard, see announcement in &lt;</a:t>
            </a:r>
            <a:r>
              <a:rPr lang="en-US" sz="3700">
                <a:solidFill>
                  <a:srgbClr val="252525"/>
                </a:solidFill>
              </a:rPr>
              <a:t>&gt;.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November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September 2021 -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2021-11-26.</a:t>
            </a:r>
          </a:p>
        </p:txBody>
      </p:sp>
      <p:pic>
        <p:nvPicPr>
          <p:cNvPr name="Picture 250" id="250">
            <a:hlinkClick r:id="rId251"/>
          </p:cNvPr>
          <p:cNvPicPr>
            <a:picLocks noChangeAspect="true"/>
          </p:cNvPicPr>
          <p:nvPr/>
        </p:nvPicPr>
        <p:blipFill>
          <a:blip r:embed="rId250"/>
          <a:stretch>
            <a:fillRect/>
          </a:stretch>
        </p:blipFill>
        <p:spPr>
          <a:xfrm>
            <a:off x="6451600" y="6870700"/>
            <a:ext cx="10820400" cy="1714500"/>
          </a:xfrm>
          <a:prstGeom prst="rect">
            <a:avLst/>
          </a:prstGeom>
        </p:spPr>
      </p:pic>
      <p:pic>
        <p:nvPicPr>
          <p:cNvPr name="Picture 252" id="252">
            <a:hlinkClick r:id="rId253"/>
          </p:cNvPr>
          <p:cNvPicPr>
            <a:picLocks noChangeAspect="true"/>
          </p:cNvPicPr>
          <p:nvPr/>
        </p:nvPicPr>
        <p:blipFill>
          <a:blip r:embed="rId252"/>
          <a:stretch>
            <a:fillRect/>
          </a:stretch>
        </p:blipFill>
        <p:spPr>
          <a:xfrm>
            <a:off x="6451600" y="118110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4" id="254"/>
          <p:cNvPicPr>
            <a:picLocks noChangeAspect="true"/>
          </p:cNvPicPr>
          <p:nvPr/>
        </p:nvPicPr>
        <p:blipFill>
          <a:blip r:embed="rId2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4" id="2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04 (XML, TXT) - September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July 2021 -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2021-08-13.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June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February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January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draft-ietf-httpbis-messaging: HTTP/1.1 (XML) [in RFC Editor queue] [IETF datatracker] [Status for draft-ietf-httpbis-messaging-19 as of 2021-09-12: has been published as RFC ] - RFC 723* Errata Status Published as RFC 9112 in June 2022.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19 (XML, TXT) - September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18 (XML, TXT) - August 2021 - In second IETF Last Call, see announcement </a:t>
            </a:r>
          </a:p>
        </p:txBody>
      </p:sp>
      <p:pic>
        <p:nvPicPr>
          <p:cNvPr name="Picture 256" id="256">
            <a:hlinkClick r:id="rId257"/>
          </p:cNvPr>
          <p:cNvPicPr>
            <a:picLocks noChangeAspect="true"/>
          </p:cNvPicPr>
          <p:nvPr/>
        </p:nvPicPr>
        <p:blipFill>
          <a:blip r:embed="rId256"/>
          <a:stretch>
            <a:fillRect/>
          </a:stretch>
        </p:blipFill>
        <p:spPr>
          <a:xfrm>
            <a:off x="6451600" y="1841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8" id="258"/>
          <p:cNvPicPr>
            <a:picLocks noChangeAspect="true"/>
          </p:cNvPicPr>
          <p:nvPr/>
        </p:nvPicPr>
        <p:blipFill>
          <a:blip r:embed="rId2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8" id="2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in &lt;</a:t>
            </a:r>
            <a:r>
              <a:rPr lang="en-US" sz="3700">
                <a:solidFill>
                  <a:srgbClr val="252525"/>
                </a:solidFill>
              </a:rPr>
              <a:t>&gt;, ending 2021-09-06.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July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May 2021 -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2021-06-10.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March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January 2021 -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2021-02-08.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December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October 2020</a:t>
            </a:r>
          </a:p>
        </p:txBody>
      </p:sp>
      <p:pic>
        <p:nvPicPr>
          <p:cNvPr name="Picture 260" id="260">
            <a:hlinkClick r:id="rId261"/>
          </p:cNvPr>
          <p:cNvPicPr>
            <a:picLocks noChangeAspect="true"/>
          </p:cNvPicPr>
          <p:nvPr/>
        </p:nvPicPr>
        <p:blipFill>
          <a:blip r:embed="rId260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  <p:pic>
        <p:nvPicPr>
          <p:cNvPr name="Picture 262" id="262">
            <a:hlinkClick r:id="rId263"/>
          </p:cNvPr>
          <p:cNvPicPr>
            <a:picLocks noChangeAspect="true"/>
          </p:cNvPicPr>
          <p:nvPr/>
        </p:nvPicPr>
        <p:blipFill>
          <a:blip r:embed="rId262"/>
          <a:stretch>
            <a:fillRect/>
          </a:stretch>
        </p:blipFill>
        <p:spPr>
          <a:xfrm>
            <a:off x="6451600" y="5270500"/>
            <a:ext cx="10820400" cy="1714500"/>
          </a:xfrm>
          <a:prstGeom prst="rect">
            <a:avLst/>
          </a:prstGeom>
        </p:spPr>
      </p:pic>
      <p:pic>
        <p:nvPicPr>
          <p:cNvPr name="Picture 264" id="264">
            <a:hlinkClick r:id="rId265"/>
          </p:cNvPr>
          <p:cNvPicPr>
            <a:picLocks noChangeAspect="true"/>
          </p:cNvPicPr>
          <p:nvPr/>
        </p:nvPicPr>
        <p:blipFill>
          <a:blip r:embed="rId264"/>
          <a:stretch>
            <a:fillRect/>
          </a:stretch>
        </p:blipFill>
        <p:spPr>
          <a:xfrm>
            <a:off x="6451600" y="10972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6" id="266"/>
          <p:cNvPicPr>
            <a:picLocks noChangeAspect="true"/>
          </p:cNvPicPr>
          <p:nvPr/>
        </p:nvPicPr>
        <p:blipFill>
          <a:blip r:embed="rId2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6" id="2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11 (XML, TXT) - August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July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July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May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March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November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July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March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July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April 2018 - (Diff from RFC7230)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draft-ietf-httpbis-cache: HTTP Caching (XML) [in RFC Editor queue] [IETF datatracker] [Status for draft-ietf-httpbis-cache-19 as of 2021-09-12: has been published as RFC ] - RFC 723* Errata Status Published as RFC 9111 in June 2022.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19 (XML, TXT) - September 2021</a:t>
            </a:r>
          </a:p>
        </p:txBody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8" id="268"/>
          <p:cNvPicPr>
            <a:picLocks noChangeAspect="true"/>
          </p:cNvPicPr>
          <p:nvPr/>
        </p:nvPicPr>
        <p:blipFill>
          <a:blip r:embed="rId2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8" id="2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18 (XML, TXT) - August 2021 - In second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2021-09-06.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July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May 2021 -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2021-06-10.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March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January 2021 -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2021-02-08.</a:t>
            </a:r>
          </a:p>
        </p:txBody>
      </p:sp>
      <p:pic>
        <p:nvPicPr>
          <p:cNvPr name="Picture 270" id="270">
            <a:hlinkClick r:id="rId271"/>
          </p:cNvPr>
          <p:cNvPicPr>
            <a:picLocks noChangeAspect="true"/>
          </p:cNvPicPr>
          <p:nvPr/>
        </p:nvPicPr>
        <p:blipFill>
          <a:blip r:embed="rId270"/>
          <a:stretch>
            <a:fillRect/>
          </a:stretch>
        </p:blipFill>
        <p:spPr>
          <a:xfrm>
            <a:off x="6451600" y="1841500"/>
            <a:ext cx="10820400" cy="1714500"/>
          </a:xfrm>
          <a:prstGeom prst="rect">
            <a:avLst/>
          </a:prstGeom>
        </p:spPr>
      </p:pic>
      <p:pic>
        <p:nvPicPr>
          <p:cNvPr name="Picture 272" id="272">
            <a:hlinkClick r:id="rId273"/>
          </p:cNvPr>
          <p:cNvPicPr>
            <a:picLocks noChangeAspect="true"/>
          </p:cNvPicPr>
          <p:nvPr/>
        </p:nvPicPr>
        <p:blipFill>
          <a:blip r:embed="rId272"/>
          <a:stretch>
            <a:fillRect/>
          </a:stretch>
        </p:blipFill>
        <p:spPr>
          <a:xfrm>
            <a:off x="6451600" y="6781800"/>
            <a:ext cx="10820400" cy="1714500"/>
          </a:xfrm>
          <a:prstGeom prst="rect">
            <a:avLst/>
          </a:prstGeom>
        </p:spPr>
      </p:pic>
      <p:pic>
        <p:nvPicPr>
          <p:cNvPr name="Picture 274" id="274">
            <a:hlinkClick r:id="rId275"/>
          </p:cNvPr>
          <p:cNvPicPr>
            <a:picLocks noChangeAspect="true"/>
          </p:cNvPicPr>
          <p:nvPr/>
        </p:nvPicPr>
        <p:blipFill>
          <a:blip r:embed="rId274"/>
          <a:stretch>
            <a:fillRect/>
          </a:stretch>
        </p:blipFill>
        <p:spPr>
          <a:xfrm>
            <a:off x="6451600" y="12484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6" id="276"/>
          <p:cNvPicPr>
            <a:picLocks noChangeAspect="true"/>
          </p:cNvPicPr>
          <p:nvPr/>
        </p:nvPicPr>
        <p:blipFill>
          <a:blip r:embed="rId2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76" id="27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13 (XML, TXT) - December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October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August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July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July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May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March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November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July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March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July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April 2018 - (Diff from RFC7234)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draft-ietf-httpbis-semantics: HTTP Semantics (XML) [in RFC Editor queue] [IETF datatracker] [Status for draft-ietf-httpbis-semantics-19 as of 2021-09-12: has been published as RFC ] - RFC 723* Errata Status Published as RFC 9110 in </a:t>
            </a:r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8" id="278"/>
          <p:cNvPicPr>
            <a:picLocks noChangeAspect="true"/>
          </p:cNvPicPr>
          <p:nvPr/>
        </p:nvPicPr>
        <p:blipFill>
          <a:blip r:embed="rId2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78" id="2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June 2022.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19 (XML, TXT) - September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18 (XML, TXT) - August 2021 - In second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2021-09-06.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July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May 2021 -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2021-06-10.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March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January 2021 - In Working Group Last Call, see announcement in &lt;</a:t>
            </a:r>
          </a:p>
        </p:txBody>
      </p:sp>
      <p:pic>
        <p:nvPicPr>
          <p:cNvPr name="Picture 280" id="280">
            <a:hlinkClick r:id="rId281"/>
          </p:cNvPr>
          <p:cNvPicPr>
            <a:picLocks noChangeAspect="true"/>
          </p:cNvPicPr>
          <p:nvPr/>
        </p:nvPicPr>
        <p:blipFill>
          <a:blip r:embed="rId280"/>
          <a:stretch>
            <a:fillRect/>
          </a:stretch>
        </p:blipFill>
        <p:spPr>
          <a:xfrm>
            <a:off x="6451600" y="3352800"/>
            <a:ext cx="10820400" cy="1714500"/>
          </a:xfrm>
          <a:prstGeom prst="rect">
            <a:avLst/>
          </a:prstGeom>
        </p:spPr>
      </p:pic>
      <p:pic>
        <p:nvPicPr>
          <p:cNvPr name="Picture 282" id="282">
            <a:hlinkClick r:id="rId283"/>
          </p:cNvPr>
          <p:cNvPicPr>
            <a:picLocks noChangeAspect="true"/>
          </p:cNvPicPr>
          <p:nvPr/>
        </p:nvPicPr>
        <p:blipFill>
          <a:blip r:embed="rId282"/>
          <a:stretch>
            <a:fillRect/>
          </a:stretch>
        </p:blipFill>
        <p:spPr>
          <a:xfrm>
            <a:off x="6451600" y="8293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4" id="284"/>
          <p:cNvPicPr>
            <a:picLocks noChangeAspect="true"/>
          </p:cNvPicPr>
          <p:nvPr/>
        </p:nvPicPr>
        <p:blipFill>
          <a:blip r:embed="rId2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4" id="2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2021-02-08.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December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October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August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July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July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May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March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November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July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March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July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April 2018 - (Diff from RFC7231)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draft-ietf-quic-recovery: QUIC Loss Detection and Congestion Control (XML, </a:t>
            </a:r>
          </a:p>
        </p:txBody>
      </p:sp>
      <p:pic>
        <p:nvPicPr>
          <p:cNvPr name="Picture 286" id="286">
            <a:hlinkClick r:id="rId287"/>
          </p:cNvPr>
          <p:cNvPicPr>
            <a:picLocks noChangeAspect="true"/>
          </p:cNvPicPr>
          <p:nvPr/>
        </p:nvPicPr>
        <p:blipFill>
          <a:blip r:embed="rId286"/>
          <a:stretch>
            <a:fillRect/>
          </a:stretch>
        </p:blipFill>
        <p:spPr>
          <a:xfrm>
            <a:off x="6451600" y="139954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8" id="288"/>
          <p:cNvPicPr>
            <a:picLocks noChangeAspect="true"/>
          </p:cNvPicPr>
          <p:nvPr/>
        </p:nvPicPr>
        <p:blipFill>
          <a:blip r:embed="rId2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8" id="2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TXT) [in RFC Editor queue] [IETF datatracker] [Status for draft-ietf-quic-recovery-34 as of 2021-01-15: has been published as RFC ] - Published as RFC 9002 in May 2021. - (Diff relative to previous draft) - (Diff between AUTH48 edits and latest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34 (XML, TXT) - January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33 (XML, TXT) - December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32 (XML, TXT) - October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31 (XML, TXT) - September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30 (XML, TXT) - September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29 (XML, TXT) - June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28 (XML, TXT) - May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27 (XML, TXT) - February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26 (XML, TXT) - February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25 (XML, TXT) - January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24 (XML, TXT) - November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23 (XML, TXT) - September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22 (XML, TXT) - July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21 (XML, TXT) - July 2019</a:t>
            </a:r>
          </a:p>
        </p:txBody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0" id="290"/>
          <p:cNvPicPr>
            <a:picLocks noChangeAspect="true"/>
          </p:cNvPicPr>
          <p:nvPr/>
        </p:nvPicPr>
        <p:blipFill>
          <a:blip r:embed="rId2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0" id="29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20 (XML, TXT) - April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19 (XML, TXT) - March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18 (XML, TXT) - January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December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August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July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April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March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January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December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October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September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August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June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May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March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January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November 2016</a:t>
            </a:r>
          </a:p>
        </p:txBody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2" id="292"/>
          <p:cNvPicPr>
            <a:picLocks noChangeAspect="true"/>
          </p:cNvPicPr>
          <p:nvPr/>
        </p:nvPicPr>
        <p:blipFill>
          <a:blip r:embed="rId2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2" id="2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draft-ietf-quic-tls: Using Transport Layer Security (TLS) to Secure QUIC (XML, TXT) [in RFC Editor queue] [IETF datatracker] [Status for draft-ietf-quic-tls-34 as of 2021-01-15: has been published as RFC ] - Published as RFC 9001 in May 2021. - (Diff relative to previous draft) - (Diff between AUTH48 edits and latest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34 (XML, TXT) - January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33 (XML, TXT) - December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32 (XML, TXT) - October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31 (XML, TXT) - September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30 (XML, TXT) - September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29 (XML, TXT) - June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28 (XML, TXT) - May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27 (XML, TXT) - February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26 (XML, TXT) - February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25 (XML, TXT) - January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24 (XML, TXT) - November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23 (XML, TXT) - September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22 (XML, TXT) - July 2019</a:t>
            </a:r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4" id="294"/>
          <p:cNvPicPr>
            <a:picLocks noChangeAspect="true"/>
          </p:cNvPicPr>
          <p:nvPr/>
        </p:nvPicPr>
        <p:blipFill>
          <a:blip r:embed="rId2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4" id="29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21 (XML, TXT) - July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20 (XML, TXT) - April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19 (XML, TXT) - March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18 (XML, TXT) - January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December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August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July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April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March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January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December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October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September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August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June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May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March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January 2017</a:t>
            </a:r>
          </a:p>
        </p:txBody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6" id="296"/>
          <p:cNvPicPr>
            <a:picLocks noChangeAspect="true"/>
          </p:cNvPicPr>
          <p:nvPr/>
        </p:nvPicPr>
        <p:blipFill>
          <a:blip r:embed="rId2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6" id="2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00 (XML, TXT) - November 2016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draft-ietf-quic-transport: QUIC: A UDP-Based Multiplexed and Secure Transport (XML, TXT) [in RFC Editor queue] [IETF datatracker] [Status for draft-ietf-quic-transport-34 as of 2021-01-15: has been published as RFC ] - Published as RFC 9000 in May 2021. - (Diff relative to previous draft) - (Diff between AUTH48 edits and latest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34 (XML, TXT) - January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33 (XML, TXT) - December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32 (XML, TXT) - October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31 (XML, TXT) - September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30 (XML, TXT) - September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29 (XML, TXT) - June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28 (XML, TXT) - May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27 (XML, TXT) - February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26 (XML, TXT) - February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25 (XML, TXT) - January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24 (XML, TXT) - November 2019</a:t>
            </a:r>
          </a:p>
        </p:txBody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8" id="298"/>
          <p:cNvPicPr>
            <a:picLocks noChangeAspect="true"/>
          </p:cNvPicPr>
          <p:nvPr/>
        </p:nvPicPr>
        <p:blipFill>
          <a:blip r:embed="rId2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8" id="2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23 (XML, TXT) - September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22 (XML, TXT) - July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21 (XML, TXT) - July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20 (XML, TXT) - April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19 (XML, TXT) - March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18 (XML, TXT) - January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December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August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July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April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March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January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December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October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September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August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June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May 2017</a:t>
            </a:r>
          </a:p>
        </p:txBody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0" id="300"/>
          <p:cNvPicPr>
            <a:picLocks noChangeAspect="true"/>
          </p:cNvPicPr>
          <p:nvPr/>
        </p:nvPicPr>
        <p:blipFill>
          <a:blip r:embed="rId3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0" id="30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02 (XML, TXT) - March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January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November 2016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draft-ietf-quic-invariants: Version-Independent Properties of QUIC (XML, TXT) [in RFC Editor queue] [IETF datatracker] [Status for draft-ietf-quic-invariants-13 as of 2021-01-15: has been published as RFC ] - Published as RFC 8999 in May 2021. - (Diff relative to previous draft) - (Diff between AUTH48 edits and latest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January 2021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September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September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September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June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May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September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July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July 2019</a:t>
            </a:r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2" id="302"/>
          <p:cNvPicPr>
            <a:picLocks noChangeAspect="true"/>
          </p:cNvPicPr>
          <p:nvPr/>
        </p:nvPicPr>
        <p:blipFill>
          <a:blip r:embed="rId3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2" id="3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04 (XML, TXT) - April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September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March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February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draft-ietf-httpbis-client-hints: HTTP Client Hints (XML) [in RFC Editor queue] [IETF datatracker] [Status for draft-ietf-httpbis-client-hints-15 as of 2020-07-03: has been published as RFC ] - Published as RFC 8942 in February 2021.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July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May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April 2020 -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2020-05-08.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March 2020</a:t>
            </a:r>
          </a:p>
        </p:txBody>
      </p:sp>
      <p:pic>
        <p:nvPicPr>
          <p:cNvPr name="Picture 304" id="304">
            <a:hlinkClick r:id="rId305"/>
          </p:cNvPr>
          <p:cNvPicPr>
            <a:picLocks noChangeAspect="true"/>
          </p:cNvPicPr>
          <p:nvPr/>
        </p:nvPicPr>
        <p:blipFill>
          <a:blip r:embed="rId304"/>
          <a:stretch>
            <a:fillRect/>
          </a:stretch>
        </p:blipFill>
        <p:spPr>
          <a:xfrm>
            <a:off x="6451600" y="39116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6" id="306"/>
          <p:cNvPicPr>
            <a:picLocks noChangeAspect="true"/>
          </p:cNvPicPr>
          <p:nvPr/>
        </p:nvPicPr>
        <p:blipFill>
          <a:blip r:embed="rId3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6" id="3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11 (XML, TXT) - March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February 2020 - In fourth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2020-03-04.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February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November 2019 - In fourth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2020-03-04.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March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July 2018 - In third Working Group Last Call, see announcement in &lt;</a:t>
            </a:r>
          </a:p>
        </p:txBody>
      </p:sp>
      <p:pic>
        <p:nvPicPr>
          <p:cNvPr name="Picture 308" id="308">
            <a:hlinkClick r:id="rId309"/>
          </p:cNvPr>
          <p:cNvPicPr>
            <a:picLocks noChangeAspect="true"/>
          </p:cNvPicPr>
          <p:nvPr/>
        </p:nvPicPr>
        <p:blipFill>
          <a:blip r:embed="rId308"/>
          <a:stretch>
            <a:fillRect/>
          </a:stretch>
        </p:blipFill>
        <p:spPr>
          <a:xfrm>
            <a:off x="6451600" y="10375900"/>
            <a:ext cx="10820400" cy="1714500"/>
          </a:xfrm>
          <a:prstGeom prst="rect">
            <a:avLst/>
          </a:prstGeom>
        </p:spPr>
      </p:pic>
      <p:pic>
        <p:nvPicPr>
          <p:cNvPr name="Picture 310" id="310">
            <a:hlinkClick r:id="rId311"/>
          </p:cNvPr>
          <p:cNvPicPr>
            <a:picLocks noChangeAspect="true"/>
          </p:cNvPicPr>
          <p:nvPr/>
        </p:nvPicPr>
        <p:blipFill>
          <a:blip r:embed="rId310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2" id="312"/>
          <p:cNvPicPr>
            <a:picLocks noChangeAspect="true"/>
          </p:cNvPicPr>
          <p:nvPr/>
        </p:nvPicPr>
        <p:blipFill>
          <a:blip r:embed="rId3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12" id="3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2018-08-07.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January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April 2017 - In second Working Group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2017-05-03.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December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October 2016 - In Working Group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2016-10-19.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November 2015</a:t>
            </a:r>
          </a:p>
        </p:txBody>
      </p:sp>
      <p:pic>
        <p:nvPicPr>
          <p:cNvPr name="Picture 314" id="314">
            <a:hlinkClick r:id="rId315"/>
          </p:cNvPr>
          <p:cNvPicPr>
            <a:picLocks noChangeAspect="true"/>
          </p:cNvPicPr>
          <p:nvPr/>
        </p:nvPicPr>
        <p:blipFill>
          <a:blip r:embed="rId314"/>
          <a:stretch>
            <a:fillRect/>
          </a:stretch>
        </p:blipFill>
        <p:spPr>
          <a:xfrm>
            <a:off x="6451600" y="6019800"/>
            <a:ext cx="10820400" cy="1714500"/>
          </a:xfrm>
          <a:prstGeom prst="rect">
            <a:avLst/>
          </a:prstGeom>
        </p:spPr>
      </p:pic>
      <p:pic>
        <p:nvPicPr>
          <p:cNvPr name="Picture 316" id="316">
            <a:hlinkClick r:id="rId317"/>
          </p:cNvPr>
          <p:cNvPicPr>
            <a:picLocks noChangeAspect="true"/>
          </p:cNvPicPr>
          <p:nvPr/>
        </p:nvPicPr>
        <p:blipFill>
          <a:blip r:embed="rId316"/>
          <a:stretch>
            <a:fillRect/>
          </a:stretch>
        </p:blipFill>
        <p:spPr>
          <a:xfrm>
            <a:off x="6451600" y="11722100"/>
            <a:ext cx="10820400" cy="1714500"/>
          </a:xfrm>
          <a:prstGeom prst="rect">
            <a:avLst/>
          </a:prstGeom>
        </p:spPr>
      </p:pic>
      <p:pic>
        <p:nvPicPr>
          <p:cNvPr name="Picture 318" id="318">
            <a:hlinkClick r:id="rId319"/>
          </p:cNvPr>
          <p:cNvPicPr>
            <a:picLocks noChangeAspect="true"/>
          </p:cNvPicPr>
          <p:nvPr/>
        </p:nvPicPr>
        <p:blipFill>
          <a:blip r:embed="rId318"/>
          <a:stretch>
            <a:fillRect/>
          </a:stretch>
        </p:blipFill>
        <p:spPr>
          <a:xfrm>
            <a:off x="6451600" y="1841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0" id="320"/>
          <p:cNvPicPr>
            <a:picLocks noChangeAspect="true"/>
          </p:cNvPicPr>
          <p:nvPr/>
        </p:nvPicPr>
        <p:blipFill>
          <a:blip r:embed="rId3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0" id="3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draft-ietf-httpbis-header-structure: Structured Field Values for HTTP (XML) [in RFC Editor queue] [IETF datatracker] [Status for draft-ietf-httpbis-header-structure-19 as of 2020-06-04: has been published as RFC ] - Published as RFC 8941 in February 2021.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19 (XML, TXT) - June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18 (XML, TXT) - April 2020 -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2020-05-04.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March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March 2020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January 2020 - In Working Group Last Call, see announcement in &lt;</a:t>
            </a:r>
          </a:p>
        </p:txBody>
      </p:sp>
      <p:pic>
        <p:nvPicPr>
          <p:cNvPr name="Picture 322" id="322">
            <a:hlinkClick r:id="rId323"/>
          </p:cNvPr>
          <p:cNvPicPr>
            <a:picLocks noChangeAspect="true"/>
          </p:cNvPicPr>
          <p:nvPr/>
        </p:nvPicPr>
        <p:blipFill>
          <a:blip r:embed="rId322"/>
          <a:stretch>
            <a:fillRect/>
          </a:stretch>
        </p:blipFill>
        <p:spPr>
          <a:xfrm>
            <a:off x="6451600" y="143510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4" id="324"/>
          <p:cNvPicPr>
            <a:picLocks noChangeAspect="true"/>
          </p:cNvPicPr>
          <p:nvPr/>
        </p:nvPicPr>
        <p:blipFill>
          <a:blip r:embed="rId3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4" id="3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2020-02-21.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October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August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August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July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April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December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October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July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June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March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February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November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April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December 2016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draft-ietf-httpbis-http2-tls13: Using TLS 1.3 with HTTP/2 (XML, TXT) [in RFC Editor </a:t>
            </a:r>
          </a:p>
        </p:txBody>
      </p:sp>
      <p:pic>
        <p:nvPicPr>
          <p:cNvPr name="Picture 326" id="326">
            <a:hlinkClick r:id="rId327"/>
          </p:cNvPr>
          <p:cNvPicPr>
            <a:picLocks noChangeAspect="true"/>
          </p:cNvPicPr>
          <p:nvPr/>
        </p:nvPicPr>
        <p:blipFill>
          <a:blip r:embed="rId326"/>
          <a:stretch>
            <a:fillRect/>
          </a:stretch>
        </p:blipFill>
        <p:spPr>
          <a:xfrm>
            <a:off x="6451600" y="4864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8" id="328"/>
          <p:cNvPicPr>
            <a:picLocks noChangeAspect="true"/>
          </p:cNvPicPr>
          <p:nvPr/>
        </p:nvPicPr>
        <p:blipFill>
          <a:blip r:embed="rId3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8" id="3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queue] [IETF datatracker] [Status for draft-ietf-httpbis-http2-tls13-03 as of 2019-10-17: has been published as RFC ] - Published as RFC 8740 in February 2020.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October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September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September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May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draft-ietf-httpbis-rand-access-live: HTTP Random Access and Live Content (XML, TXT) [in RFC Editor queue] [IETF datatracker] [Status for draft-ietf-httpbis-rand-access-live-04 as of 2019-03-07: has been published as RFC ] - Published as RFC 8673 in November 2019.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March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March 2018 - In 2nd Working Group Group Last Call, see announcement in &lt;</a:t>
            </a:r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0" id="330"/>
          <p:cNvPicPr>
            <a:picLocks noChangeAspect="true"/>
          </p:cNvPicPr>
          <p:nvPr/>
        </p:nvPicPr>
        <p:blipFill>
          <a:blip r:embed="rId3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0" id="3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2018-04-19.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November 2017 - In Working Group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2018-01-20.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September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March 2017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draft-ietf-httpbis-cdn-loop: CDN Loop Prevention (XML, TXT) [IETF datatracker] [Status for draft-ietf-httpbis-cdn-loop-02 as of 2019-02-04: has been published as RFC ] - Published as RFC 8586 in April 2019.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February 2019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October 2018 - In IESG Last Call, see announcement in &lt;</a:t>
            </a:r>
          </a:p>
        </p:txBody>
      </p:sp>
      <p:pic>
        <p:nvPicPr>
          <p:cNvPr name="Picture 332" id="332">
            <a:hlinkClick r:id="rId333"/>
          </p:cNvPr>
          <p:cNvPicPr>
            <a:picLocks noChangeAspect="true"/>
          </p:cNvPicPr>
          <p:nvPr/>
        </p:nvPicPr>
        <p:blipFill>
          <a:blip r:embed="rId332"/>
          <a:stretch>
            <a:fillRect/>
          </a:stretch>
        </p:blipFill>
        <p:spPr>
          <a:xfrm>
            <a:off x="6451600" y="4864100"/>
            <a:ext cx="10820400" cy="1714500"/>
          </a:xfrm>
          <a:prstGeom prst="rect">
            <a:avLst/>
          </a:prstGeom>
        </p:spPr>
      </p:pic>
      <p:pic>
        <p:nvPicPr>
          <p:cNvPr name="Picture 334" id="334">
            <a:hlinkClick r:id="rId335"/>
          </p:cNvPr>
          <p:cNvPicPr>
            <a:picLocks noChangeAspect="true"/>
          </p:cNvPicPr>
          <p:nvPr/>
        </p:nvPicPr>
        <p:blipFill>
          <a:blip r:embed="rId334"/>
          <a:stretch>
            <a:fillRect/>
          </a:stretch>
        </p:blipFill>
        <p:spPr>
          <a:xfrm>
            <a:off x="6451600" y="9817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6" id="336"/>
          <p:cNvPicPr>
            <a:picLocks noChangeAspect="true"/>
          </p:cNvPicPr>
          <p:nvPr/>
        </p:nvPicPr>
        <p:blipFill>
          <a:blip r:embed="rId3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6" id="3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2018-12-11.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2018-11-09.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August 2018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draft-ietf-httpbis-replay: Using Early Data in HTTP (XML, TXT) [IETF datatracker] [Status for draft-ietf-httpbis-replay-04 as of 2018-06-27: has been published as RFC ] - Published as RFC 8470 in September 2018.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June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May 2018 - In second Working Group Last Call, see announcement in &lt;</a:t>
            </a:r>
          </a:p>
        </p:txBody>
      </p:sp>
      <p:pic>
        <p:nvPicPr>
          <p:cNvPr name="Picture 338" id="338">
            <a:hlinkClick r:id="rId339"/>
          </p:cNvPr>
          <p:cNvPicPr>
            <a:picLocks noChangeAspect="true"/>
          </p:cNvPicPr>
          <p:nvPr/>
        </p:nvPicPr>
        <p:blipFill>
          <a:blip r:embed="rId338"/>
          <a:stretch>
            <a:fillRect/>
          </a:stretch>
        </p:blipFill>
        <p:spPr>
          <a:xfrm>
            <a:off x="6451600" y="4864100"/>
            <a:ext cx="10820400" cy="1714500"/>
          </a:xfrm>
          <a:prstGeom prst="rect">
            <a:avLst/>
          </a:prstGeom>
        </p:spPr>
      </p:pic>
      <p:pic>
        <p:nvPicPr>
          <p:cNvPr name="Picture 340" id="340">
            <a:hlinkClick r:id="rId341"/>
          </p:cNvPr>
          <p:cNvPicPr>
            <a:picLocks noChangeAspect="true"/>
          </p:cNvPicPr>
          <p:nvPr/>
        </p:nvPicPr>
        <p:blipFill>
          <a:blip r:embed="rId340"/>
          <a:stretch>
            <a:fillRect/>
          </a:stretch>
        </p:blipFill>
        <p:spPr>
          <a:xfrm>
            <a:off x="6451600" y="8293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2" id="342"/>
          <p:cNvPicPr>
            <a:picLocks noChangeAspect="true"/>
          </p:cNvPicPr>
          <p:nvPr/>
        </p:nvPicPr>
        <p:blipFill>
          <a:blip r:embed="rId3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2" id="3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2018-05-11.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November 2017 -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2018-04-23.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2017-12-10.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October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September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draft-ietf-httpbis-h2-websockets: Bootstrapping WebSockets with HTTP/2 (XML) [IETF datatracker] [Status for draft-ietf-httpbis-h2-websockets-07 as of 2018-06-18: has been published as RFC ] - </a:t>
            </a:r>
          </a:p>
        </p:txBody>
      </p:sp>
      <p:pic>
        <p:nvPicPr>
          <p:cNvPr name="Picture 344" id="344">
            <a:hlinkClick r:id="rId345"/>
          </p:cNvPr>
          <p:cNvPicPr>
            <a:picLocks noChangeAspect="true"/>
          </p:cNvPicPr>
          <p:nvPr/>
        </p:nvPicPr>
        <p:blipFill>
          <a:blip r:embed="rId344"/>
          <a:stretch>
            <a:fillRect/>
          </a:stretch>
        </p:blipFill>
        <p:spPr>
          <a:xfrm>
            <a:off x="6451600" y="3352800"/>
            <a:ext cx="10820400" cy="1714500"/>
          </a:xfrm>
          <a:prstGeom prst="rect">
            <a:avLst/>
          </a:prstGeom>
        </p:spPr>
      </p:pic>
      <p:pic>
        <p:nvPicPr>
          <p:cNvPr name="Picture 346" id="346">
            <a:hlinkClick r:id="rId347"/>
          </p:cNvPr>
          <p:cNvPicPr>
            <a:picLocks noChangeAspect="true"/>
          </p:cNvPicPr>
          <p:nvPr/>
        </p:nvPicPr>
        <p:blipFill>
          <a:blip r:embed="rId346"/>
          <a:stretch>
            <a:fillRect/>
          </a:stretch>
        </p:blipFill>
        <p:spPr>
          <a:xfrm>
            <a:off x="6451600" y="7543800"/>
            <a:ext cx="10820400" cy="1714500"/>
          </a:xfrm>
          <a:prstGeom prst="rect">
            <a:avLst/>
          </a:prstGeom>
        </p:spPr>
      </p:pic>
      <p:pic>
        <p:nvPicPr>
          <p:cNvPr name="Picture 348" id="348">
            <a:hlinkClick r:id="rId349"/>
          </p:cNvPr>
          <p:cNvPicPr>
            <a:picLocks noChangeAspect="true"/>
          </p:cNvPicPr>
          <p:nvPr/>
        </p:nvPicPr>
        <p:blipFill>
          <a:blip r:embed="rId348"/>
          <a:stretch>
            <a:fillRect/>
          </a:stretch>
        </p:blipFill>
        <p:spPr>
          <a:xfrm>
            <a:off x="6451600" y="10972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0" id="350"/>
          <p:cNvPicPr>
            <a:picLocks noChangeAspect="true"/>
          </p:cNvPicPr>
          <p:nvPr/>
        </p:nvPicPr>
        <p:blipFill>
          <a:blip r:embed="rId3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50" id="3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Published as RFC 8441 in September 2018.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June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May 2018 -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2018-05-21.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May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March 2018 -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2018-04-12.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December 2017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draft-ietf-httpbis-origin-frame: The ORIGIN </a:t>
            </a:r>
          </a:p>
        </p:txBody>
      </p:sp>
      <p:pic>
        <p:nvPicPr>
          <p:cNvPr name="Picture 352" id="352">
            <a:hlinkClick r:id="rId353"/>
          </p:cNvPr>
          <p:cNvPicPr>
            <a:picLocks noChangeAspect="true"/>
          </p:cNvPicPr>
          <p:nvPr/>
        </p:nvPicPr>
        <p:blipFill>
          <a:blip r:embed="rId352"/>
          <a:stretch>
            <a:fillRect/>
          </a:stretch>
        </p:blipFill>
        <p:spPr>
          <a:xfrm>
            <a:off x="6451600" y="7899400"/>
            <a:ext cx="10820400" cy="1714500"/>
          </a:xfrm>
          <a:prstGeom prst="rect">
            <a:avLst/>
          </a:prstGeom>
        </p:spPr>
      </p:pic>
      <p:pic>
        <p:nvPicPr>
          <p:cNvPr name="Picture 354" id="354">
            <a:hlinkClick r:id="rId355"/>
          </p:cNvPr>
          <p:cNvPicPr>
            <a:picLocks noChangeAspect="true"/>
          </p:cNvPicPr>
          <p:nvPr/>
        </p:nvPicPr>
        <p:blipFill>
          <a:blip r:embed="rId354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6" id="356"/>
          <p:cNvPicPr>
            <a:picLocks noChangeAspect="true"/>
          </p:cNvPicPr>
          <p:nvPr/>
        </p:nvPicPr>
        <p:blipFill>
          <a:blip r:embed="rId3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56" id="3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HTTP/2 Frame (XML, TXT) [IETF datatracker] [Status for draft-ietf-httpbis-origin-frame-06 as of 2018-01-13: has been published as RFC ] - Published as RFC 8336 in March 2018.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January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January 2018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August 2017 - In Working Group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2017-10-01.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2017-11-30.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April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February 2017</a:t>
            </a:r>
          </a:p>
        </p:txBody>
      </p:sp>
      <p:pic>
        <p:nvPicPr>
          <p:cNvPr name="Picture 358" id="358">
            <a:hlinkClick r:id="rId359"/>
          </p:cNvPr>
          <p:cNvPicPr>
            <a:picLocks noChangeAspect="true"/>
          </p:cNvPicPr>
          <p:nvPr/>
        </p:nvPicPr>
        <p:blipFill>
          <a:blip r:embed="rId358"/>
          <a:stretch>
            <a:fillRect/>
          </a:stretch>
        </p:blipFill>
        <p:spPr>
          <a:xfrm>
            <a:off x="6451600" y="12839700"/>
            <a:ext cx="10820400" cy="1714500"/>
          </a:xfrm>
          <a:prstGeom prst="rect">
            <a:avLst/>
          </a:prstGeom>
        </p:spPr>
      </p:pic>
      <p:pic>
        <p:nvPicPr>
          <p:cNvPr name="Picture 360" id="360">
            <a:hlinkClick r:id="rId361"/>
          </p:cNvPr>
          <p:cNvPicPr>
            <a:picLocks noChangeAspect="true"/>
          </p:cNvPicPr>
          <p:nvPr/>
        </p:nvPicPr>
        <p:blipFill>
          <a:blip r:embed="rId360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2" id="362"/>
          <p:cNvPicPr>
            <a:picLocks noChangeAspect="true"/>
          </p:cNvPicPr>
          <p:nvPr/>
        </p:nvPicPr>
        <p:blipFill>
          <a:blip r:embed="rId3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2" id="3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01 (XML, TXT) - September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May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draft-ietf-httpbis-early-hints: An HTTP Status Code for Indicating Hints (XML, TXT) [in RFC Editor queue] [IETF datatracker] [Status for draft-ietf-httpbis-early-hints-05 as of 2017-10-28: has been published as RFC ] - Published as RFC 8297 in December 2017.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October 2017 - Approved by IESG, see announcement in &lt;</a:t>
            </a:r>
            <a:r>
              <a:rPr lang="en-US" sz="3700">
                <a:solidFill>
                  <a:srgbClr val="252525"/>
                </a:solidFill>
              </a:rPr>
              <a:t>&gt;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July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June 2017 - In IETF Last Call, see announcement in &lt;</a:t>
            </a:r>
          </a:p>
        </p:txBody>
      </p:sp>
      <p:pic>
        <p:nvPicPr>
          <p:cNvPr name="Picture 364" id="364">
            <a:hlinkClick r:id="rId365"/>
          </p:cNvPr>
          <p:cNvPicPr>
            <a:picLocks noChangeAspect="true"/>
          </p:cNvPicPr>
          <p:nvPr/>
        </p:nvPicPr>
        <p:blipFill>
          <a:blip r:embed="rId364"/>
          <a:stretch>
            <a:fillRect/>
          </a:stretch>
        </p:blipFill>
        <p:spPr>
          <a:xfrm>
            <a:off x="6451600" y="13601700"/>
            <a:ext cx="10820400" cy="1714500"/>
          </a:xfrm>
          <a:prstGeom prst="rect">
            <a:avLst/>
          </a:prstGeom>
        </p:spPr>
      </p:pic>
      <p:pic>
        <p:nvPicPr>
          <p:cNvPr name="Picture 366" id="366">
            <a:hlinkClick r:id="rId367"/>
          </p:cNvPr>
          <p:cNvPicPr>
            <a:picLocks noChangeAspect="true"/>
          </p:cNvPicPr>
          <p:nvPr/>
        </p:nvPicPr>
        <p:blipFill>
          <a:blip r:embed="rId366"/>
          <a:stretch>
            <a:fillRect/>
          </a:stretch>
        </p:blipFill>
        <p:spPr>
          <a:xfrm>
            <a:off x="6451600" y="2590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8" id="368"/>
          <p:cNvPicPr>
            <a:picLocks noChangeAspect="true"/>
          </p:cNvPicPr>
          <p:nvPr/>
        </p:nvPicPr>
        <p:blipFill>
          <a:blip r:embed="rId3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8" id="3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&gt;, ending 2017-07-05.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May 2017 - In Working Group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2017-06-01.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March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January 2017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draft-ietf-httpbis-immutable: HTTP Immutable Responses (XML, TXT) [IETF datatracker] [Status for draft-ietf-httpbis-immutable-03 as of 2017-07-03: has been published as RFC ] - Published as RFC 8246 in September 2017.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July 2017 - In IETF Last Call, see announcement in &lt;</a:t>
            </a:r>
          </a:p>
        </p:txBody>
      </p:sp>
      <p:pic>
        <p:nvPicPr>
          <p:cNvPr name="Picture 370" id="370">
            <a:hlinkClick r:id="rId371"/>
          </p:cNvPr>
          <p:cNvPicPr>
            <a:picLocks noChangeAspect="true"/>
          </p:cNvPicPr>
          <p:nvPr/>
        </p:nvPicPr>
        <p:blipFill>
          <a:blip r:embed="rId370"/>
          <a:stretch>
            <a:fillRect/>
          </a:stretch>
        </p:blipFill>
        <p:spPr>
          <a:xfrm>
            <a:off x="6451600" y="7543800"/>
            <a:ext cx="10820400" cy="1714500"/>
          </a:xfrm>
          <a:prstGeom prst="rect">
            <a:avLst/>
          </a:prstGeom>
        </p:spPr>
      </p:pic>
      <p:pic>
        <p:nvPicPr>
          <p:cNvPr name="Picture 372" id="372">
            <a:hlinkClick r:id="rId373"/>
          </p:cNvPr>
          <p:cNvPicPr>
            <a:picLocks noChangeAspect="true"/>
          </p:cNvPicPr>
          <p:nvPr/>
        </p:nvPicPr>
        <p:blipFill>
          <a:blip r:embed="rId372"/>
          <a:stretch>
            <a:fillRect/>
          </a:stretch>
        </p:blipFill>
        <p:spPr>
          <a:xfrm>
            <a:off x="6451600" y="2590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74" id="374"/>
          <p:cNvPicPr>
            <a:picLocks noChangeAspect="true"/>
          </p:cNvPicPr>
          <p:nvPr/>
        </p:nvPicPr>
        <p:blipFill>
          <a:blip r:embed="rId37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74" id="37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&gt;, ending 2017-07-18.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April 2017 -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2017-05-17.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March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January 2017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draft-ietf-httpbis-encryption-encoding: Encrypted Content-Encoding for HTTP (XML, TXT) [IETF datatracker] [Status for draft-ietf-httpbis-encryption-encoding-09 as of 2017-04-18: has been published as RFC ] - Published as RFC 8188 in June 2017.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April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March 2017 - In IETF Last Call, see announcement in &lt;</a:t>
            </a:r>
          </a:p>
        </p:txBody>
      </p:sp>
      <p:pic>
        <p:nvPicPr>
          <p:cNvPr name="Picture 376" id="376">
            <a:hlinkClick r:id="rId377"/>
          </p:cNvPr>
          <p:cNvPicPr>
            <a:picLocks noChangeAspect="true"/>
          </p:cNvPicPr>
          <p:nvPr/>
        </p:nvPicPr>
        <p:blipFill>
          <a:blip r:embed="rId376"/>
          <a:stretch>
            <a:fillRect/>
          </a:stretch>
        </p:blipFill>
        <p:spPr>
          <a:xfrm>
            <a:off x="6451600" y="7543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78" id="378"/>
          <p:cNvPicPr>
            <a:picLocks noChangeAspect="true"/>
          </p:cNvPicPr>
          <p:nvPr/>
        </p:nvPicPr>
        <p:blipFill>
          <a:blip r:embed="rId3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78" id="3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2017-04-06.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February 2017 - In Working Group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2017-03-02.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December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December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October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October 2016 - In Working Group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2016-10-25.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June 2016</a:t>
            </a:r>
          </a:p>
        </p:txBody>
      </p:sp>
      <p:pic>
        <p:nvPicPr>
          <p:cNvPr name="Picture 380" id="380">
            <a:hlinkClick r:id="rId381"/>
          </p:cNvPr>
          <p:cNvPicPr>
            <a:picLocks noChangeAspect="true"/>
          </p:cNvPicPr>
          <p:nvPr/>
        </p:nvPicPr>
        <p:blipFill>
          <a:blip r:embed="rId380"/>
          <a:stretch>
            <a:fillRect/>
          </a:stretch>
        </p:blipFill>
        <p:spPr>
          <a:xfrm>
            <a:off x="6451600" y="3352800"/>
            <a:ext cx="10820400" cy="1714500"/>
          </a:xfrm>
          <a:prstGeom prst="rect">
            <a:avLst/>
          </a:prstGeom>
        </p:spPr>
      </p:pic>
      <p:pic>
        <p:nvPicPr>
          <p:cNvPr name="Picture 382" id="382">
            <a:hlinkClick r:id="rId383"/>
          </p:cNvPr>
          <p:cNvPicPr>
            <a:picLocks noChangeAspect="true"/>
          </p:cNvPicPr>
          <p:nvPr/>
        </p:nvPicPr>
        <p:blipFill>
          <a:blip r:embed="rId382"/>
          <a:stretch>
            <a:fillRect/>
          </a:stretch>
        </p:blipFill>
        <p:spPr>
          <a:xfrm>
            <a:off x="6451600" y="8293100"/>
            <a:ext cx="10820400" cy="1714500"/>
          </a:xfrm>
          <a:prstGeom prst="rect">
            <a:avLst/>
          </a:prstGeom>
        </p:spPr>
      </p:pic>
      <p:pic>
        <p:nvPicPr>
          <p:cNvPr name="Picture 384" id="384">
            <a:hlinkClick r:id="rId385"/>
          </p:cNvPr>
          <p:cNvPicPr>
            <a:picLocks noChangeAspect="true"/>
          </p:cNvPicPr>
          <p:nvPr/>
        </p:nvPicPr>
        <p:blipFill>
          <a:blip r:embed="rId384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6" id="386"/>
          <p:cNvPicPr>
            <a:picLocks noChangeAspect="true"/>
          </p:cNvPicPr>
          <p:nvPr/>
        </p:nvPicPr>
        <p:blipFill>
          <a:blip r:embed="rId3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6" id="38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01 (XML, TXT) - March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December 2015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draft-ietf-httpbis-rfc5987bis: Indicating Character Encoding and Language for HTTP Header Field Parameters (XML, TXT) [IETF datatracker] [Status for draft-ietf-httpbis-rfc5987bis-05 as of 2017-02-20: has been published as RFC ] - Published as RFC 8187 in September 2017.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March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January 2017 -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2017-02-20.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October 2016 - In Working Group Group Last Call, see announcement in &lt;</a:t>
            </a:r>
          </a:p>
        </p:txBody>
      </p:sp>
      <p:pic>
        <p:nvPicPr>
          <p:cNvPr name="Picture 388" id="388">
            <a:hlinkClick r:id="rId389"/>
          </p:cNvPr>
          <p:cNvPicPr>
            <a:picLocks noChangeAspect="true"/>
          </p:cNvPicPr>
          <p:nvPr/>
        </p:nvPicPr>
        <p:blipFill>
          <a:blip r:embed="rId388"/>
          <a:stretch>
            <a:fillRect/>
          </a:stretch>
        </p:blipFill>
        <p:spPr>
          <a:xfrm>
            <a:off x="6451600" y="136017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90" id="390"/>
          <p:cNvPicPr>
            <a:picLocks noChangeAspect="true"/>
          </p:cNvPicPr>
          <p:nvPr/>
        </p:nvPicPr>
        <p:blipFill>
          <a:blip r:embed="rId3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90" id="39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2016-10-27.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July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March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October 2015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draft-ietf-httpbis-http2-encryption: Opportunistic Security for HTTP (XML, TXT) [IETF datatracker] [Status for draft-ietf-httpbis-http2-encryption-11 as of 2017-03-17: has been published as RFC ] - Published as RFC 8164 in May 2017.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March 2017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January 2017 -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2017-03-06.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December 2016</a:t>
            </a:r>
          </a:p>
        </p:txBody>
      </p:sp>
      <p:pic>
        <p:nvPicPr>
          <p:cNvPr name="Picture 392" id="392">
            <a:hlinkClick r:id="rId393"/>
          </p:cNvPr>
          <p:cNvPicPr>
            <a:picLocks noChangeAspect="true"/>
          </p:cNvPicPr>
          <p:nvPr/>
        </p:nvPicPr>
        <p:blipFill>
          <a:blip r:embed="rId392"/>
          <a:stretch>
            <a:fillRect/>
          </a:stretch>
        </p:blipFill>
        <p:spPr>
          <a:xfrm>
            <a:off x="6451600" y="2590800"/>
            <a:ext cx="10820400" cy="1714500"/>
          </a:xfrm>
          <a:prstGeom prst="rect">
            <a:avLst/>
          </a:prstGeom>
        </p:spPr>
      </p:pic>
      <p:pic>
        <p:nvPicPr>
          <p:cNvPr name="Picture 394" id="394">
            <a:hlinkClick r:id="rId395"/>
          </p:cNvPr>
          <p:cNvPicPr>
            <a:picLocks noChangeAspect="true"/>
          </p:cNvPicPr>
          <p:nvPr/>
        </p:nvPicPr>
        <p:blipFill>
          <a:blip r:embed="rId394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96" id="396"/>
          <p:cNvPicPr>
            <a:picLocks noChangeAspect="true"/>
          </p:cNvPicPr>
          <p:nvPr/>
        </p:nvPicPr>
        <p:blipFill>
          <a:blip r:embed="rId3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96" id="3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08 (XML, TXT) - October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October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June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May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March 2016 - In Working Group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2016-04-01.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December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June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December 2014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June 2014</a:t>
            </a:r>
          </a:p>
          <a:p>
            <a:r>
              <a:rPr lang="en-US" sz="3700">
                <a:solidFill>
                  <a:srgbClr val="252525"/>
                </a:solidFill>
              </a:rPr>
              <a:t>CSS Requirements for RFCs [IETF datatracker] [Status for draft-iab-rfc-css-01 as of 2016-07-04: has been published as RFC ] - Published as RFC 7993 in December 2016.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July 2016</a:t>
            </a:r>
          </a:p>
        </p:txBody>
      </p:sp>
      <p:pic>
        <p:nvPicPr>
          <p:cNvPr name="Picture 398" id="398">
            <a:hlinkClick r:id="rId399"/>
          </p:cNvPr>
          <p:cNvPicPr>
            <a:picLocks noChangeAspect="true"/>
          </p:cNvPicPr>
          <p:nvPr/>
        </p:nvPicPr>
        <p:blipFill>
          <a:blip r:embed="rId398"/>
          <a:stretch>
            <a:fillRect/>
          </a:stretch>
        </p:blipFill>
        <p:spPr>
          <a:xfrm>
            <a:off x="6451600" y="9055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0" id="400"/>
          <p:cNvPicPr>
            <a:picLocks noChangeAspect="true"/>
          </p:cNvPicPr>
          <p:nvPr/>
        </p:nvPicPr>
        <p:blipFill>
          <a:blip r:embed="rId4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0" id="40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00 (XML) - January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draft-iab-rfc-use-of-pdf: PDF for an RFC Series Output Document Format (XML) [IETF datatracker] [Status for draft-iab-rfc-use-of-pdf-02 as of 2016-05-17: has been published as RFC ] - Published as RFC 7995 in December 2016.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(XML) - May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January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January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draft-iab-rfcv3-preptool: RFC v3 Prep Tool Description (XML) [IETF datatracker] [Status for draft-iab-rfcv3-preptool-02 as of 2016-06-30: has been published as RFC ] - Published as RFC 7998 in December 2016.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(XML) - June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February 2016</a:t>
            </a:r>
          </a:p>
          <a:p>
            <a:r>
              <a:rPr lang="en-US" sz="3700">
                <a:solidFill>
                  <a:srgbClr val="252525"/>
                </a:solidFill>
              </a:rPr>
              <a:t>SVG Drawings for RFCs: SVG 1.2 RFC [IETF datatracker] [Status for draft-iab-svg-rfc-02 </a:t>
            </a:r>
          </a:p>
        </p:txBody>
      </p:sp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2" id="402"/>
          <p:cNvPicPr>
            <a:picLocks noChangeAspect="true"/>
          </p:cNvPicPr>
          <p:nvPr/>
        </p:nvPicPr>
        <p:blipFill>
          <a:blip r:embed="rId4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2" id="4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as of 2016-02-25: has been published as RFC ] - Published as RFC 7996 in December 2016.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(XML) - February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January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January 2016</a:t>
            </a:r>
          </a:p>
          <a:p>
            <a:r>
              <a:rPr lang="en-US" sz="3700">
                <a:solidFill>
                  <a:srgbClr val="252525"/>
                </a:solidFill>
              </a:rPr>
              <a:t>Requirements for Plain-Text RFCs [IETF datatracker] [Status for draft-iab-rfc-plaintext-03 as of 2016-05-16: has been published as RFC ] - Published as RFC 7994 in December 2016.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(XML) - May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(XML) - February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January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January 2016</a:t>
            </a:r>
          </a:p>
          <a:p>
            <a:r>
              <a:rPr lang="en-US" sz="3700">
                <a:solidFill>
                  <a:srgbClr val="252525"/>
                </a:solidFill>
              </a:rPr>
              <a:t>RFC Format Framework [IETF datatracker] [Status for draft-iab-rfc-framework-06 as of 2016-06-23: has been published as RFC ] - Published as RFC 7990 in December 2016.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(XML) - June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(XML) - June 2016</a:t>
            </a:r>
          </a:p>
        </p:txBody>
      </p:sp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4" id="404"/>
          <p:cNvPicPr>
            <a:picLocks noChangeAspect="true"/>
          </p:cNvPicPr>
          <p:nvPr/>
        </p:nvPicPr>
        <p:blipFill>
          <a:blip r:embed="rId4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4" id="40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04 (XML) - February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(XML) - February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(XML) - January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January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January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draft-iab-html-rfc: HyperText Markup Language Request For Comments Format (XML) [IETF datatracker] [Status for draft-iab-html-rfc-03 as of 2016-06-30: has been published as RFC ] - Published as RFC 7992 in December 2016.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(XML) - June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(XML) - February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January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January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draft-iab-rfc-nonascii: The Use of Non-ASCII Characters in RFCs (XML) [IETF datatracker] [Status for draft-iab-rfc-nonascii-02 as of 2016-04-27: has been published as RFC ] - Published as RFC </a:t>
            </a:r>
          </a:p>
        </p:txBody>
      </p:sp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6" id="406"/>
          <p:cNvPicPr>
            <a:picLocks noChangeAspect="true"/>
          </p:cNvPicPr>
          <p:nvPr/>
        </p:nvPicPr>
        <p:blipFill>
          <a:blip r:embed="rId4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6" id="4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7997 in December 2016.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(XML) - April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February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January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draft-iab-xml2rfc: The "xml2rfc" version 3 Vocabulary (XML) [IETF datatracker] [Status for draft-iab-xml2rfc-04 as of 2016-06-22: has been published as RFC ] - Published as RFC 7991 in December 2016.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(XML) - June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(XML) - February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(XML) - January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January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December 2015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draft-ietf-httpbis-alt-svc: HTTP Alternative Services (XML, TXT) [IETF datatracker] [Status for draft-ietf-httpbis-alt-svc-14 as of 2016-03-08: has been published as RFC ] - Published as RFC 7838 in April 2016. </a:t>
            </a:r>
          </a:p>
        </p:txBody>
      </p:sp>
    </p:spTree>
  </p:cSld>
  <p:clrMapOvr>
    <a:masterClrMapping/>
  </p:clrMapOvr>
</p:sld>
</file>

<file path=ppt/slides/slide1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8" id="408"/>
          <p:cNvPicPr>
            <a:picLocks noChangeAspect="true"/>
          </p:cNvPicPr>
          <p:nvPr/>
        </p:nvPicPr>
        <p:blipFill>
          <a:blip r:embed="rId4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8" id="40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March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February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February 2016 -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2016-02-24.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February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December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November 2015 - In Working Group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2015-12-04.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September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May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February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December 2014</a:t>
            </a:r>
          </a:p>
        </p:txBody>
      </p:sp>
      <p:pic>
        <p:nvPicPr>
          <p:cNvPr name="Picture 410" id="410">
            <a:hlinkClick r:id="rId411"/>
          </p:cNvPr>
          <p:cNvPicPr>
            <a:picLocks noChangeAspect="true"/>
          </p:cNvPicPr>
          <p:nvPr/>
        </p:nvPicPr>
        <p:blipFill>
          <a:blip r:embed="rId410"/>
          <a:stretch>
            <a:fillRect/>
          </a:stretch>
        </p:blipFill>
        <p:spPr>
          <a:xfrm>
            <a:off x="6451600" y="4457700"/>
            <a:ext cx="10820400" cy="1714500"/>
          </a:xfrm>
          <a:prstGeom prst="rect">
            <a:avLst/>
          </a:prstGeom>
        </p:spPr>
      </p:pic>
      <p:pic>
        <p:nvPicPr>
          <p:cNvPr name="Picture 412" id="412">
            <a:hlinkClick r:id="rId413"/>
          </p:cNvPr>
          <p:cNvPicPr>
            <a:picLocks noChangeAspect="true"/>
          </p:cNvPicPr>
          <p:nvPr/>
        </p:nvPicPr>
        <p:blipFill>
          <a:blip r:embed="rId412"/>
          <a:stretch>
            <a:fillRect/>
          </a:stretch>
        </p:blipFill>
        <p:spPr>
          <a:xfrm>
            <a:off x="6451600" y="109220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14" id="414"/>
          <p:cNvPicPr>
            <a:picLocks noChangeAspect="true"/>
          </p:cNvPicPr>
          <p:nvPr/>
        </p:nvPicPr>
        <p:blipFill>
          <a:blip r:embed="rId4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14" id="4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04 (XML, TXT) - October 2014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September 2014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July 2014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April 2014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March 2014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draft-ietf-appsawg-http-problem: Problem Details for HTTP APIs (XML) [IETF datatracker] [Status for draft-ietf-appsawg-http-problem-03 as of 2016-01-20: has been published as RFC ] - Published as RFC 7807 in March 2016.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(XML) - January 2016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(XML) - December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September 2015 -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2015-12-04.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September 2014</a:t>
            </a:r>
          </a:p>
        </p:txBody>
      </p:sp>
      <p:pic>
        <p:nvPicPr>
          <p:cNvPr name="Picture 416" id="416">
            <a:hlinkClick r:id="rId417"/>
          </p:cNvPr>
          <p:cNvPicPr>
            <a:picLocks noChangeAspect="true"/>
          </p:cNvPicPr>
          <p:nvPr/>
        </p:nvPicPr>
        <p:blipFill>
          <a:blip r:embed="rId416"/>
          <a:stretch>
            <a:fillRect/>
          </a:stretch>
        </p:blipFill>
        <p:spPr>
          <a:xfrm>
            <a:off x="6451600" y="131953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18" id="418"/>
          <p:cNvPicPr>
            <a:picLocks noChangeAspect="true"/>
          </p:cNvPicPr>
          <p:nvPr/>
        </p:nvPicPr>
        <p:blipFill>
          <a:blip r:embed="rId4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18" id="4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draft-ietf-httpbis-legally-restricted-status: An HTTP Status Code to Report Legal Obstacles (XML) [IETF datatracker] [Status for draft-ietf-httpbis-legally-restricted-status-04 as of 2015-11-10: has been published as RFC ]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November 2015 -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2015-12-04.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November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August 2015 -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2015-10-15.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June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April 2015</a:t>
            </a:r>
          </a:p>
        </p:txBody>
      </p:sp>
      <p:pic>
        <p:nvPicPr>
          <p:cNvPr name="Picture 420" id="420">
            <a:hlinkClick r:id="rId421"/>
          </p:cNvPr>
          <p:cNvPicPr>
            <a:picLocks noChangeAspect="true"/>
          </p:cNvPicPr>
          <p:nvPr/>
        </p:nvPicPr>
        <p:blipFill>
          <a:blip r:embed="rId420"/>
          <a:stretch>
            <a:fillRect/>
          </a:stretch>
        </p:blipFill>
        <p:spPr>
          <a:xfrm>
            <a:off x="6451600" y="7137400"/>
            <a:ext cx="10820400" cy="1714500"/>
          </a:xfrm>
          <a:prstGeom prst="rect">
            <a:avLst/>
          </a:prstGeom>
        </p:spPr>
      </p:pic>
      <p:pic>
        <p:nvPicPr>
          <p:cNvPr name="Picture 422" id="422">
            <a:hlinkClick r:id="rId423"/>
          </p:cNvPr>
          <p:cNvPicPr>
            <a:picLocks noChangeAspect="true"/>
          </p:cNvPicPr>
          <p:nvPr/>
        </p:nvPicPr>
        <p:blipFill>
          <a:blip r:embed="rId422"/>
          <a:stretch>
            <a:fillRect/>
          </a:stretch>
        </p:blipFill>
        <p:spPr>
          <a:xfrm>
            <a:off x="6451600" y="128397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24" id="424"/>
          <p:cNvPicPr>
            <a:picLocks noChangeAspect="true"/>
          </p:cNvPicPr>
          <p:nvPr/>
        </p:nvPicPr>
        <p:blipFill>
          <a:blip r:embed="rId4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24" id="4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draft-iab-xml2rfcv2: The 'XML2RFC' version 2 Vocabulary (XML) [IETF datatracker] [Status for draft-iab-xml2rfcv2-02 as of 2015-09-16: has been published as RFC ] - Published as RFC 7749 in February 2016. (Diff relative to previous draft) (previously draft-reschke-xml2rfc)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(XML) - September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June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January 2015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draft-ietf-httpbis-cice: Hypertext Transfer Protocol (HTTP) Client-Initiated Content-Encoding (XML) [in RFC Editor queue] [IETF datatracker] [Status for draft-ietf-httpbis-cice-03 as of 2015-09-08: has been published as RFC ] - Published as RFC 7694 in November 2015.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September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August 2015</a:t>
            </a:r>
          </a:p>
        </p:txBody>
      </p:sp>
    </p:spTree>
  </p:cSld>
  <p:clrMapOvr>
    <a:masterClrMapping/>
  </p:clrMapOvr>
</p:sld>
</file>

<file path=ppt/slides/slide1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26" id="426"/>
          <p:cNvPicPr>
            <a:picLocks noChangeAspect="true"/>
          </p:cNvPicPr>
          <p:nvPr/>
        </p:nvPicPr>
        <p:blipFill>
          <a:blip r:embed="rId4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26" id="4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01 (XML, TXT) - May 2015 -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2015-08-04. In Working Group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2015-06-22.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April 2015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draft-ietf-httpauth-basicauth-update: The 'Basic' HTTP Authentication Scheme (XML, TXT) [IETF datatracker] [Status for draft-ietf-httpauth-basicauth-update-07 as of 2015-02-28: has been published as RFC ] - Published as RFC 7617 in September 2015.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(XML) - February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(XML) - February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(XML) - January 2015 - In IETF Last Call, see announcement in &lt;</a:t>
            </a:r>
          </a:p>
        </p:txBody>
      </p:sp>
      <p:pic>
        <p:nvPicPr>
          <p:cNvPr name="Picture 428" id="428">
            <a:hlinkClick r:id="rId429"/>
          </p:cNvPr>
          <p:cNvPicPr>
            <a:picLocks noChangeAspect="true"/>
          </p:cNvPicPr>
          <p:nvPr/>
        </p:nvPicPr>
        <p:blipFill>
          <a:blip r:embed="rId428"/>
          <a:stretch>
            <a:fillRect/>
          </a:stretch>
        </p:blipFill>
        <p:spPr>
          <a:xfrm>
            <a:off x="6451600" y="2590800"/>
            <a:ext cx="10820400" cy="1714500"/>
          </a:xfrm>
          <a:prstGeom prst="rect">
            <a:avLst/>
          </a:prstGeom>
        </p:spPr>
      </p:pic>
      <p:pic>
        <p:nvPicPr>
          <p:cNvPr name="Picture 430" id="430">
            <a:hlinkClick r:id="rId431"/>
          </p:cNvPr>
          <p:cNvPicPr>
            <a:picLocks noChangeAspect="true"/>
          </p:cNvPicPr>
          <p:nvPr/>
        </p:nvPicPr>
        <p:blipFill>
          <a:blip r:embed="rId430"/>
          <a:stretch>
            <a:fillRect/>
          </a:stretch>
        </p:blipFill>
        <p:spPr>
          <a:xfrm>
            <a:off x="6451600" y="6019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32" id="432"/>
          <p:cNvPicPr>
            <a:picLocks noChangeAspect="true"/>
          </p:cNvPicPr>
          <p:nvPr/>
        </p:nvPicPr>
        <p:blipFill>
          <a:blip r:embed="rId4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32" id="4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2015-02-19.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(XML) - December 2014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(XML) - December 2014 - In Working Group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2013-11-04.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(XML) - October 2014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(XML) - July 2014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(XML) - September 2013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draft-ietf-httpbis-auth-info: The Hypertext Transfer Protocol (HTTP) Authentication-Info and Proxy-Authentication-Info Response Header Fields (XML) [IETF datatracker] [Status for draft-ietf-httpbis-auth-info-05 as of 2015-04-07: has been published as RFC ] - Published as RFC </a:t>
            </a:r>
          </a:p>
        </p:txBody>
      </p:sp>
      <p:pic>
        <p:nvPicPr>
          <p:cNvPr name="Picture 434" id="434">
            <a:hlinkClick r:id="rId435"/>
          </p:cNvPr>
          <p:cNvPicPr>
            <a:picLocks noChangeAspect="true"/>
          </p:cNvPicPr>
          <p:nvPr/>
        </p:nvPicPr>
        <p:blipFill>
          <a:blip r:embed="rId434"/>
          <a:stretch>
            <a:fillRect/>
          </a:stretch>
        </p:blipFill>
        <p:spPr>
          <a:xfrm>
            <a:off x="6451600" y="1079500"/>
            <a:ext cx="10820400" cy="1714500"/>
          </a:xfrm>
          <a:prstGeom prst="rect">
            <a:avLst/>
          </a:prstGeom>
        </p:spPr>
      </p:pic>
      <p:pic>
        <p:nvPicPr>
          <p:cNvPr name="Picture 436" id="436">
            <a:hlinkClick r:id="rId437"/>
          </p:cNvPr>
          <p:cNvPicPr>
            <a:picLocks noChangeAspect="true"/>
          </p:cNvPicPr>
          <p:nvPr/>
        </p:nvPicPr>
        <p:blipFill>
          <a:blip r:embed="rId436"/>
          <a:stretch>
            <a:fillRect/>
          </a:stretch>
        </p:blipFill>
        <p:spPr>
          <a:xfrm>
            <a:off x="6451600" y="67818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38" id="438"/>
          <p:cNvPicPr>
            <a:picLocks noChangeAspect="true"/>
          </p:cNvPicPr>
          <p:nvPr/>
        </p:nvPicPr>
        <p:blipFill>
          <a:blip r:embed="rId4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38" id="4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7615 in September 2015.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April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March 2015 -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2015-04-02.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March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February 2015 - In Working Group Last Call ending 2015-02-25, see announcement in &lt;</a:t>
            </a:r>
            <a:r>
              <a:rPr lang="en-US" sz="3700">
                <a:solidFill>
                  <a:srgbClr val="252525"/>
                </a:solidFill>
              </a:rPr>
              <a:t>&gt;.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February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January 2015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draft-ietf-httpbis-tunnel-protocol: The ALPN HTTP Header Field (XML, TXT) [IETF datatracker] [Status for draft-ietf-httpbis-tunnel-protocol-05 as of 2015-06-11: has </a:t>
            </a:r>
          </a:p>
        </p:txBody>
      </p:sp>
      <p:pic>
        <p:nvPicPr>
          <p:cNvPr name="Picture 440" id="440">
            <a:hlinkClick r:id="rId441"/>
          </p:cNvPr>
          <p:cNvPicPr>
            <a:picLocks noChangeAspect="true"/>
          </p:cNvPicPr>
          <p:nvPr/>
        </p:nvPicPr>
        <p:blipFill>
          <a:blip r:embed="rId440"/>
          <a:stretch>
            <a:fillRect/>
          </a:stretch>
        </p:blipFill>
        <p:spPr>
          <a:xfrm>
            <a:off x="6451600" y="4114800"/>
            <a:ext cx="10820400" cy="1714500"/>
          </a:xfrm>
          <a:prstGeom prst="rect">
            <a:avLst/>
          </a:prstGeom>
        </p:spPr>
      </p:pic>
      <p:pic>
        <p:nvPicPr>
          <p:cNvPr name="Picture 442" id="442">
            <a:hlinkClick r:id="rId443"/>
          </p:cNvPr>
          <p:cNvPicPr>
            <a:picLocks noChangeAspect="true"/>
          </p:cNvPicPr>
          <p:nvPr/>
        </p:nvPicPr>
        <p:blipFill>
          <a:blip r:embed="rId442"/>
          <a:stretch>
            <a:fillRect/>
          </a:stretch>
        </p:blipFill>
        <p:spPr>
          <a:xfrm>
            <a:off x="6451600" y="9817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44" id="444"/>
          <p:cNvPicPr>
            <a:picLocks noChangeAspect="true"/>
          </p:cNvPicPr>
          <p:nvPr/>
        </p:nvPicPr>
        <p:blipFill>
          <a:blip r:embed="rId4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44" id="4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been published as RFC ] - Published as RFC 7639 in August 2015.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June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May 2015 - In IETF Last Call ending 2015-06-03, see announcement in &lt;</a:t>
            </a:r>
            <a:r>
              <a:rPr lang="en-US" sz="3700">
                <a:solidFill>
                  <a:srgbClr val="252525"/>
                </a:solidFill>
              </a:rPr>
              <a:t>&gt;.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April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March 2015 - In Working Group Last Call ending 2015-04-10, see announcement in &lt;</a:t>
            </a:r>
            <a:r>
              <a:rPr lang="en-US" sz="3700">
                <a:solidFill>
                  <a:srgbClr val="252525"/>
                </a:solidFill>
              </a:rPr>
              <a:t>&gt;.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January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August 2014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draft-ietf-httpbis-http2: Hypertext Transfer Protocol version 2 (XML, TXT) [issues list] </a:t>
            </a:r>
          </a:p>
        </p:txBody>
      </p:sp>
      <p:pic>
        <p:nvPicPr>
          <p:cNvPr name="Picture 446" id="446">
            <a:hlinkClick r:id="rId447"/>
          </p:cNvPr>
          <p:cNvPicPr>
            <a:picLocks noChangeAspect="true"/>
          </p:cNvPicPr>
          <p:nvPr/>
        </p:nvPicPr>
        <p:blipFill>
          <a:blip r:embed="rId446"/>
          <a:stretch>
            <a:fillRect/>
          </a:stretch>
        </p:blipFill>
        <p:spPr>
          <a:xfrm>
            <a:off x="6451600" y="5626100"/>
            <a:ext cx="10820400" cy="1714500"/>
          </a:xfrm>
          <a:prstGeom prst="rect">
            <a:avLst/>
          </a:prstGeom>
        </p:spPr>
      </p:pic>
      <p:pic>
        <p:nvPicPr>
          <p:cNvPr name="Picture 448" id="448">
            <a:hlinkClick r:id="rId449"/>
          </p:cNvPr>
          <p:cNvPicPr>
            <a:picLocks noChangeAspect="true"/>
          </p:cNvPicPr>
          <p:nvPr/>
        </p:nvPicPr>
        <p:blipFill>
          <a:blip r:embed="rId448"/>
          <a:stretch>
            <a:fillRect/>
          </a:stretch>
        </p:blipFill>
        <p:spPr>
          <a:xfrm>
            <a:off x="6451600" y="113284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50" id="450"/>
          <p:cNvPicPr>
            <a:picLocks noChangeAspect="true"/>
          </p:cNvPicPr>
          <p:nvPr/>
        </p:nvPicPr>
        <p:blipFill>
          <a:blip r:embed="rId4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50" id="4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[IETF datatracker] [Status for draft-ietf-httpbis-http2-17 as of 2015-02-11: has been published as RFC ] - Published as RFC 7540 in May 2015. (Diff relative to previous draft) (Diff relative to IETF Last Call draft) (Diff relative to Working Group Last Call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February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November 2014 -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2015-01-14.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October 2014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July 2014 -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2014-09-01.</a:t>
            </a:r>
          </a:p>
        </p:txBody>
      </p:sp>
      <p:pic>
        <p:nvPicPr>
          <p:cNvPr name="Picture 452" id="452">
            <a:hlinkClick r:id="rId453"/>
          </p:cNvPr>
          <p:cNvPicPr>
            <a:picLocks noChangeAspect="true"/>
          </p:cNvPicPr>
          <p:nvPr/>
        </p:nvPicPr>
        <p:blipFill>
          <a:blip r:embed="rId452"/>
          <a:stretch>
            <a:fillRect/>
          </a:stretch>
        </p:blipFill>
        <p:spPr>
          <a:xfrm>
            <a:off x="6451600" y="8661400"/>
            <a:ext cx="10820400" cy="1714500"/>
          </a:xfrm>
          <a:prstGeom prst="rect">
            <a:avLst/>
          </a:prstGeom>
        </p:spPr>
      </p:pic>
      <p:pic>
        <p:nvPicPr>
          <p:cNvPr name="Picture 454" id="454">
            <a:hlinkClick r:id="rId455"/>
          </p:cNvPr>
          <p:cNvPicPr>
            <a:picLocks noChangeAspect="true"/>
          </p:cNvPicPr>
          <p:nvPr/>
        </p:nvPicPr>
        <p:blipFill>
          <a:blip r:embed="rId454"/>
          <a:stretch>
            <a:fillRect/>
          </a:stretch>
        </p:blipFill>
        <p:spPr>
          <a:xfrm>
            <a:off x="6451600" y="143510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56" id="456"/>
          <p:cNvPicPr>
            <a:picLocks noChangeAspect="true"/>
          </p:cNvPicPr>
          <p:nvPr/>
        </p:nvPicPr>
        <p:blipFill>
          <a:blip r:embed="rId4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56" id="4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13 (XML, TXT) - June 2014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April 2014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April 2014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February 2014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December 2013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November 2013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October 2013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August 2013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August 2013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July 2013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May 2013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April 2013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January 2013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November 2012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draft-ietf-httpbis-header-compression: HPACK - Header Compression for HTTP/2 (XML, TXT) [IETF datatracker] [Status for draft-ietf-httpbis-header-compression-12 as of 2015-02-17: has been published as RFC ] - Published as RFC 7541 in May 2015. (Diff relative to previous draft) (Diff </a:t>
            </a:r>
          </a:p>
        </p:txBody>
      </p:sp>
    </p:spTree>
  </p:cSld>
  <p:clrMapOvr>
    <a:masterClrMapping/>
  </p:clrMapOvr>
</p:sld>
</file>

<file path=ppt/slides/slide1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58" id="458"/>
          <p:cNvPicPr>
            <a:picLocks noChangeAspect="true"/>
          </p:cNvPicPr>
          <p:nvPr/>
        </p:nvPicPr>
        <p:blipFill>
          <a:blip r:embed="rId4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58" id="4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relative to IETF Last Call draft) (Diff relative to Working Group Last Call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February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February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November 2014 -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2015-01-14.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July 2014 -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2014-09-01.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June 2014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April 2014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February 2014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December 2013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October 2013</a:t>
            </a:r>
          </a:p>
        </p:txBody>
      </p:sp>
      <p:pic>
        <p:nvPicPr>
          <p:cNvPr name="Picture 460" id="460">
            <a:hlinkClick r:id="rId461"/>
          </p:cNvPr>
          <p:cNvPicPr>
            <a:picLocks noChangeAspect="true"/>
          </p:cNvPicPr>
          <p:nvPr/>
        </p:nvPicPr>
        <p:blipFill>
          <a:blip r:embed="rId460"/>
          <a:stretch>
            <a:fillRect/>
          </a:stretch>
        </p:blipFill>
        <p:spPr>
          <a:xfrm>
            <a:off x="6451600" y="5626100"/>
            <a:ext cx="10820400" cy="1714500"/>
          </a:xfrm>
          <a:prstGeom prst="rect">
            <a:avLst/>
          </a:prstGeom>
        </p:spPr>
      </p:pic>
      <p:pic>
        <p:nvPicPr>
          <p:cNvPr name="Picture 462" id="462">
            <a:hlinkClick r:id="rId463"/>
          </p:cNvPr>
          <p:cNvPicPr>
            <a:picLocks noChangeAspect="true"/>
          </p:cNvPicPr>
          <p:nvPr/>
        </p:nvPicPr>
        <p:blipFill>
          <a:blip r:embed="rId462"/>
          <a:stretch>
            <a:fillRect/>
          </a:stretch>
        </p:blipFill>
        <p:spPr>
          <a:xfrm>
            <a:off x="6451600" y="105664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64" id="464"/>
          <p:cNvPicPr>
            <a:picLocks noChangeAspect="true"/>
          </p:cNvPicPr>
          <p:nvPr/>
        </p:nvPicPr>
        <p:blipFill>
          <a:blip r:embed="rId4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64" id="4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03 (XML, TXT) - August 2013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August 2013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July 2013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June 2013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draft-ietf-httpbis-rfc7238bis: The Hypertext Transfer Protocol Status Code 308 (Permanent Redirect) (XML, TXT) [IETF datatracker] [Status for draft-ietf-httpbis-rfc7238bis-03 as of 2015-02-05: has been published as RFC ] - Published as RFC 7538 in April 2015. (Diff relative to RFC 7238)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February 2015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January 2015 -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2015-01-28.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September 2014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August 2014</a:t>
            </a:r>
          </a:p>
        </p:txBody>
      </p:sp>
      <p:pic>
        <p:nvPicPr>
          <p:cNvPr name="Picture 466" id="466">
            <a:hlinkClick r:id="rId467"/>
          </p:cNvPr>
          <p:cNvPicPr>
            <a:picLocks noChangeAspect="true"/>
          </p:cNvPicPr>
          <p:nvPr/>
        </p:nvPicPr>
        <p:blipFill>
          <a:blip r:embed="rId466"/>
          <a:stretch>
            <a:fillRect/>
          </a:stretch>
        </p:blipFill>
        <p:spPr>
          <a:xfrm>
            <a:off x="6451600" y="124460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68" id="468"/>
          <p:cNvPicPr>
            <a:picLocks noChangeAspect="true"/>
          </p:cNvPicPr>
          <p:nvPr/>
        </p:nvPicPr>
        <p:blipFill>
          <a:blip r:embed="rId4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68" id="4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draft-ietf-httpbis-p1-messaging: Hypertext Transfer Protocol (HTTP/1.1): Message Syntax and Routing (XML, TXT) [IETF datatracker] [Status for draft-ietf-httpbis-p1-messaging-26 as of 2014-02-06: has been published as RFC ] - Published as RFC 7230 in June 2014.</a:t>
            </a:r>
          </a:p>
          <a:p>
            <a:r>
              <a:rPr lang="en-US" sz="3700">
                <a:solidFill>
                  <a:srgbClr val="252525"/>
                </a:solidFill>
              </a:rPr>
              <a:t>Draft 26 (XML, TXT) - February 2014 -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25 (XML, TXT) - November 2013 -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24 (XML, TXT) - September 2013 - In IETF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2013-11-04.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23 (XML, TXT) - July 2013 -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22 (XML, TXT) - January 2013 - In </a:t>
            </a:r>
          </a:p>
        </p:txBody>
      </p:sp>
      <p:pic>
        <p:nvPicPr>
          <p:cNvPr name="Picture 470" id="470">
            <a:hlinkClick r:id="rId471"/>
          </p:cNvPr>
          <p:cNvPicPr>
            <a:picLocks noChangeAspect="true"/>
          </p:cNvPicPr>
          <p:nvPr/>
        </p:nvPicPr>
        <p:blipFill>
          <a:blip r:embed="rId470"/>
          <a:stretch>
            <a:fillRect/>
          </a:stretch>
        </p:blipFill>
        <p:spPr>
          <a:xfrm>
            <a:off x="6451600" y="109347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72" id="472"/>
          <p:cNvPicPr>
            <a:picLocks noChangeAspect="true"/>
          </p:cNvPicPr>
          <p:nvPr/>
        </p:nvPicPr>
        <p:blipFill>
          <a:blip r:embed="rId4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72" id="4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2013-04-30.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21 (XML, TXT) - October 2012 -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2012-11-25.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20 (XML, TXT) - July 2012 -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19 (XML, TXT) - March 2012 -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18 (XML, TXT) - January 2012 -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October 2011 - (Diff </a:t>
            </a:r>
          </a:p>
        </p:txBody>
      </p:sp>
      <p:pic>
        <p:nvPicPr>
          <p:cNvPr name="Picture 474" id="474">
            <a:hlinkClick r:id="rId475"/>
          </p:cNvPr>
          <p:cNvPicPr>
            <a:picLocks noChangeAspect="true"/>
          </p:cNvPicPr>
          <p:nvPr/>
        </p:nvPicPr>
        <p:blipFill>
          <a:blip r:embed="rId474"/>
          <a:stretch>
            <a:fillRect/>
          </a:stretch>
        </p:blipFill>
        <p:spPr>
          <a:xfrm>
            <a:off x="6451600" y="2590800"/>
            <a:ext cx="10820400" cy="1714500"/>
          </a:xfrm>
          <a:prstGeom prst="rect">
            <a:avLst/>
          </a:prstGeom>
        </p:spPr>
      </p:pic>
      <p:pic>
        <p:nvPicPr>
          <p:cNvPr name="Picture 476" id="476">
            <a:hlinkClick r:id="rId477"/>
          </p:cNvPr>
          <p:cNvPicPr>
            <a:picLocks noChangeAspect="true"/>
          </p:cNvPicPr>
          <p:nvPr/>
        </p:nvPicPr>
        <p:blipFill>
          <a:blip r:embed="rId476"/>
          <a:stretch>
            <a:fillRect/>
          </a:stretch>
        </p:blipFill>
        <p:spPr>
          <a:xfrm>
            <a:off x="6451600" y="8293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78" id="478"/>
          <p:cNvPicPr>
            <a:picLocks noChangeAspect="true"/>
          </p:cNvPicPr>
          <p:nvPr/>
        </p:nvPicPr>
        <p:blipFill>
          <a:blip r:embed="rId4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78" id="4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August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July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April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13 (XML, TXT) - March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October 2010 -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August 2010 -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July 2010 -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March 2010 -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October 2009 -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July 2009 - (Diff relative to previous draft)</a:t>
            </a:r>
          </a:p>
        </p:txBody>
      </p:sp>
    </p:spTree>
  </p:cSld>
  <p:clrMapOvr>
    <a:masterClrMapping/>
  </p:clrMapOvr>
</p:sld>
</file>

<file path=ppt/slides/slide1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80" id="480"/>
          <p:cNvPicPr>
            <a:picLocks noChangeAspect="true"/>
          </p:cNvPicPr>
          <p:nvPr/>
        </p:nvPicPr>
        <p:blipFill>
          <a:blip r:embed="rId4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80" id="4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06 (XML, TXT) - March 2009 -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November 2008 -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August 2008 -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June 2008 -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February 2008 -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January 2008 -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December 2007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draft-ietf-httpbis-p2-semantics: Hypertext Transfer Protocol (HTTP/1.1): Semantics and Content (XML, TXT) [IETF datatracker] [Status for draft-ietf-httpbis-p2-semantics-26 as of 2014-02-06: has been published as RFC ] - Published as RFC 7231 in June 2014.</a:t>
            </a:r>
          </a:p>
          <a:p>
            <a:r>
              <a:rPr lang="en-US" sz="3700">
                <a:solidFill>
                  <a:srgbClr val="252525"/>
                </a:solidFill>
              </a:rPr>
              <a:t>Draft 26 (XML, TXT) - February 2014 - (Diff </a:t>
            </a:r>
          </a:p>
        </p:txBody>
      </p:sp>
    </p:spTree>
  </p:cSld>
  <p:clrMapOvr>
    <a:masterClrMapping/>
  </p:clrMapOvr>
</p:sld>
</file>

<file path=ppt/slides/slide1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82" id="482"/>
          <p:cNvPicPr>
            <a:picLocks noChangeAspect="true"/>
          </p:cNvPicPr>
          <p:nvPr/>
        </p:nvPicPr>
        <p:blipFill>
          <a:blip r:embed="rId4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82" id="4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25 (XML, TXT) - November 2013 -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24 (XML, TXT) - September 2013 - In IETF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2013-11-04.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23 (XML, TXT) - July 2013 -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22 (XML, TXT) - January 2013 -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2013-04-30.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21 (XML, TXT) - October 2012 - In </a:t>
            </a:r>
          </a:p>
        </p:txBody>
      </p:sp>
      <p:pic>
        <p:nvPicPr>
          <p:cNvPr name="Picture 484" id="484">
            <a:hlinkClick r:id="rId485"/>
          </p:cNvPr>
          <p:cNvPicPr>
            <a:picLocks noChangeAspect="true"/>
          </p:cNvPicPr>
          <p:nvPr/>
        </p:nvPicPr>
        <p:blipFill>
          <a:blip r:embed="rId484"/>
          <a:stretch>
            <a:fillRect/>
          </a:stretch>
        </p:blipFill>
        <p:spPr>
          <a:xfrm>
            <a:off x="6451600" y="4737100"/>
            <a:ext cx="10820400" cy="1714500"/>
          </a:xfrm>
          <a:prstGeom prst="rect">
            <a:avLst/>
          </a:prstGeom>
        </p:spPr>
      </p:pic>
      <p:pic>
        <p:nvPicPr>
          <p:cNvPr name="Picture 486" id="486">
            <a:hlinkClick r:id="rId487"/>
          </p:cNvPr>
          <p:cNvPicPr>
            <a:picLocks noChangeAspect="true"/>
          </p:cNvPicPr>
          <p:nvPr/>
        </p:nvPicPr>
        <p:blipFill>
          <a:blip r:embed="rId486"/>
          <a:stretch>
            <a:fillRect/>
          </a:stretch>
        </p:blipFill>
        <p:spPr>
          <a:xfrm>
            <a:off x="6451600" y="119507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88" id="488"/>
          <p:cNvPicPr>
            <a:picLocks noChangeAspect="true"/>
          </p:cNvPicPr>
          <p:nvPr/>
        </p:nvPicPr>
        <p:blipFill>
          <a:blip r:embed="rId4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88" id="4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2012-11-25.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20 (XML, TXT) - July 2012 -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19 (XML, TXT) - March 2012 -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18 (XML, TXT) - January 2012 -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October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August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July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April 2011 - (Diff relative to previous draft)</a:t>
            </a:r>
          </a:p>
        </p:txBody>
      </p:sp>
      <p:pic>
        <p:nvPicPr>
          <p:cNvPr name="Picture 490" id="490">
            <a:hlinkClick r:id="rId491"/>
          </p:cNvPr>
          <p:cNvPicPr>
            <a:picLocks noChangeAspect="true"/>
          </p:cNvPicPr>
          <p:nvPr/>
        </p:nvPicPr>
        <p:blipFill>
          <a:blip r:embed="rId490"/>
          <a:stretch>
            <a:fillRect/>
          </a:stretch>
        </p:blipFill>
        <p:spPr>
          <a:xfrm>
            <a:off x="6451600" y="1841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92" id="492"/>
          <p:cNvPicPr>
            <a:picLocks noChangeAspect="true"/>
          </p:cNvPicPr>
          <p:nvPr/>
        </p:nvPicPr>
        <p:blipFill>
          <a:blip r:embed="rId4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92" id="4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13 (XML, TXT) - March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October 2010 -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August 2010 -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July 2010 -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March 2010 -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October 2009 -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July 2009 -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March 2009 -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November 2008 -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August 2008 -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June 2008 - (Diff </a:t>
            </a:r>
          </a:p>
        </p:txBody>
      </p:sp>
    </p:spTree>
  </p:cSld>
  <p:clrMapOvr>
    <a:masterClrMapping/>
  </p:clrMapOvr>
</p:sld>
</file>

<file path=ppt/slides/slide1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94" id="494"/>
          <p:cNvPicPr>
            <a:picLocks noChangeAspect="true"/>
          </p:cNvPicPr>
          <p:nvPr/>
        </p:nvPicPr>
        <p:blipFill>
          <a:blip r:embed="rId4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94" id="49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February 2008 -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January 2008 -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December 2007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draft-ietf-httpbis-p4-conditional: Hypertext Transfer Protocol (HTTP/1.1): Conditional Requests (XML, TXT) [IETF datatracker] [Status for draft-ietf-httpbis-p4-conditional-26 as of 2014-02-06: has been published as RFC ] - Published as RFC 7232 in June 2014.</a:t>
            </a:r>
          </a:p>
          <a:p>
            <a:r>
              <a:rPr lang="en-US" sz="3700">
                <a:solidFill>
                  <a:srgbClr val="252525"/>
                </a:solidFill>
              </a:rPr>
              <a:t>Draft 26 (XML, TXT) - February 2014 -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25 (XML, TXT) - November 2013 -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24 (XML, TXT) - September 2013 - In IETF Group Last Call, see announcement in &lt;</a:t>
            </a:r>
          </a:p>
        </p:txBody>
      </p:sp>
    </p:spTree>
  </p:cSld>
  <p:clrMapOvr>
    <a:masterClrMapping/>
  </p:clrMapOvr>
</p:sld>
</file>

<file path=ppt/slides/slide1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96" id="496"/>
          <p:cNvPicPr>
            <a:picLocks noChangeAspect="true"/>
          </p:cNvPicPr>
          <p:nvPr/>
        </p:nvPicPr>
        <p:blipFill>
          <a:blip r:embed="rId4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96" id="4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2013-11-04.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23 (XML, TXT) - July 2013 -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22 (XML, TXT) - January 2013 -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2013-04-30.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21 (XML, TXT) - October 2012 - In 2nd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2012-11-25. (Diff relative to </a:t>
            </a:r>
          </a:p>
        </p:txBody>
      </p:sp>
      <p:pic>
        <p:nvPicPr>
          <p:cNvPr name="Picture 498" id="498">
            <a:hlinkClick r:id="rId499"/>
          </p:cNvPr>
          <p:cNvPicPr>
            <a:picLocks noChangeAspect="true"/>
          </p:cNvPicPr>
          <p:nvPr/>
        </p:nvPicPr>
        <p:blipFill>
          <a:blip r:embed="rId498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  <p:pic>
        <p:nvPicPr>
          <p:cNvPr name="Picture 500" id="500">
            <a:hlinkClick r:id="rId501"/>
          </p:cNvPr>
          <p:cNvPicPr>
            <a:picLocks noChangeAspect="true"/>
          </p:cNvPicPr>
          <p:nvPr/>
        </p:nvPicPr>
        <p:blipFill>
          <a:blip r:embed="rId500"/>
          <a:stretch>
            <a:fillRect/>
          </a:stretch>
        </p:blipFill>
        <p:spPr>
          <a:xfrm>
            <a:off x="6451600" y="7543800"/>
            <a:ext cx="10820400" cy="1714500"/>
          </a:xfrm>
          <a:prstGeom prst="rect">
            <a:avLst/>
          </a:prstGeom>
        </p:spPr>
      </p:pic>
      <p:pic>
        <p:nvPicPr>
          <p:cNvPr name="Picture 502" id="502">
            <a:hlinkClick r:id="rId503"/>
          </p:cNvPr>
          <p:cNvPicPr>
            <a:picLocks noChangeAspect="true"/>
          </p:cNvPicPr>
          <p:nvPr/>
        </p:nvPicPr>
        <p:blipFill>
          <a:blip r:embed="rId502"/>
          <a:stretch>
            <a:fillRect/>
          </a:stretch>
        </p:blipFill>
        <p:spPr>
          <a:xfrm>
            <a:off x="6451600" y="132334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04" id="504"/>
          <p:cNvPicPr>
            <a:picLocks noChangeAspect="true"/>
          </p:cNvPicPr>
          <p:nvPr/>
        </p:nvPicPr>
        <p:blipFill>
          <a:blip r:embed="rId5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04" id="50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20 (XML, TXT) - July 2012 -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19 (XML, TXT) - March 2012 -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2012-04-12.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18 (XML, TXT) - January 2012 -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October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August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July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April 2011 - (Diff relative to previous draft)</a:t>
            </a:r>
          </a:p>
        </p:txBody>
      </p:sp>
      <p:pic>
        <p:nvPicPr>
          <p:cNvPr name="Picture 506" id="506">
            <a:hlinkClick r:id="rId507"/>
          </p:cNvPr>
          <p:cNvPicPr>
            <a:picLocks noChangeAspect="true"/>
          </p:cNvPicPr>
          <p:nvPr/>
        </p:nvPicPr>
        <p:blipFill>
          <a:blip r:embed="rId506"/>
          <a:stretch>
            <a:fillRect/>
          </a:stretch>
        </p:blipFill>
        <p:spPr>
          <a:xfrm>
            <a:off x="6451600" y="4864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08" id="508"/>
          <p:cNvPicPr>
            <a:picLocks noChangeAspect="true"/>
          </p:cNvPicPr>
          <p:nvPr/>
        </p:nvPicPr>
        <p:blipFill>
          <a:blip r:embed="rId5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08" id="50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13 (XML, TXT) - March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October 2010 -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August 2010 -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July 2010 -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March 2010 -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October 2009 -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July 2009 -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March 2009 -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November 2008 -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August 2008 -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June 2008 - (Diff </a:t>
            </a:r>
          </a:p>
        </p:txBody>
      </p:sp>
    </p:spTree>
  </p:cSld>
  <p:clrMapOvr>
    <a:masterClrMapping/>
  </p:clrMapOvr>
</p:sld>
</file>

<file path=ppt/slides/slide1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10" id="510"/>
          <p:cNvPicPr>
            <a:picLocks noChangeAspect="true"/>
          </p:cNvPicPr>
          <p:nvPr/>
        </p:nvPicPr>
        <p:blipFill>
          <a:blip r:embed="rId5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10" id="5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February 2008 -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January 2008 -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December 2007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draft-ietf-httpbis-p5-range: Hypertext Transfer Protocol (HTTP/1.1): Range Requests (XML, TXT) [IETF datatracker] [Status for draft-ietf-httpbis-p5-range-26 as of 2014-02-06: has been published as RFC ] - Published as RFC 7233 in June 2014.</a:t>
            </a:r>
          </a:p>
          <a:p>
            <a:r>
              <a:rPr lang="en-US" sz="3700">
                <a:solidFill>
                  <a:srgbClr val="252525"/>
                </a:solidFill>
              </a:rPr>
              <a:t>Draft 26 (XML, TXT) - February 2014 -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25 (XML, TXT) - November 2013 -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24 (XML, TXT) - September 2013 - In IETF Group Last Call, see announcement in &lt;</a:t>
            </a:r>
          </a:p>
        </p:txBody>
      </p:sp>
    </p:spTree>
  </p:cSld>
  <p:clrMapOvr>
    <a:masterClrMapping/>
  </p:clrMapOvr>
</p:sld>
</file>

<file path=ppt/slides/slide1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12" id="512"/>
          <p:cNvPicPr>
            <a:picLocks noChangeAspect="true"/>
          </p:cNvPicPr>
          <p:nvPr/>
        </p:nvPicPr>
        <p:blipFill>
          <a:blip r:embed="rId5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12" id="5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2013-11-04.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23 (XML, TXT) - July 2013 -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22 (XML, TXT) - January 2013 -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2013-04-30.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21 (XML, TXT) - October 2012 - In 2nd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2012-11-25. (Diff relative to </a:t>
            </a:r>
          </a:p>
        </p:txBody>
      </p:sp>
      <p:pic>
        <p:nvPicPr>
          <p:cNvPr name="Picture 514" id="514">
            <a:hlinkClick r:id="rId515"/>
          </p:cNvPr>
          <p:cNvPicPr>
            <a:picLocks noChangeAspect="true"/>
          </p:cNvPicPr>
          <p:nvPr/>
        </p:nvPicPr>
        <p:blipFill>
          <a:blip r:embed="rId514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  <p:pic>
        <p:nvPicPr>
          <p:cNvPr name="Picture 516" id="516">
            <a:hlinkClick r:id="rId517"/>
          </p:cNvPr>
          <p:cNvPicPr>
            <a:picLocks noChangeAspect="true"/>
          </p:cNvPicPr>
          <p:nvPr/>
        </p:nvPicPr>
        <p:blipFill>
          <a:blip r:embed="rId516"/>
          <a:stretch>
            <a:fillRect/>
          </a:stretch>
        </p:blipFill>
        <p:spPr>
          <a:xfrm>
            <a:off x="6451600" y="7543800"/>
            <a:ext cx="10820400" cy="1714500"/>
          </a:xfrm>
          <a:prstGeom prst="rect">
            <a:avLst/>
          </a:prstGeom>
        </p:spPr>
      </p:pic>
      <p:pic>
        <p:nvPicPr>
          <p:cNvPr name="Picture 518" id="518">
            <a:hlinkClick r:id="rId519"/>
          </p:cNvPr>
          <p:cNvPicPr>
            <a:picLocks noChangeAspect="true"/>
          </p:cNvPicPr>
          <p:nvPr/>
        </p:nvPicPr>
        <p:blipFill>
          <a:blip r:embed="rId518"/>
          <a:stretch>
            <a:fillRect/>
          </a:stretch>
        </p:blipFill>
        <p:spPr>
          <a:xfrm>
            <a:off x="6451600" y="132334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20" id="520"/>
          <p:cNvPicPr>
            <a:picLocks noChangeAspect="true"/>
          </p:cNvPicPr>
          <p:nvPr/>
        </p:nvPicPr>
        <p:blipFill>
          <a:blip r:embed="rId5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20" id="5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20 (XML, TXT) - July 2012 -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19 (XML, TXT) - March 2012 -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2012-04-12.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18 (XML, TXT) - January 2012 -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October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August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July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April 2011 - (Diff relative to previous draft)</a:t>
            </a:r>
          </a:p>
        </p:txBody>
      </p:sp>
      <p:pic>
        <p:nvPicPr>
          <p:cNvPr name="Picture 522" id="522">
            <a:hlinkClick r:id="rId523"/>
          </p:cNvPr>
          <p:cNvPicPr>
            <a:picLocks noChangeAspect="true"/>
          </p:cNvPicPr>
          <p:nvPr/>
        </p:nvPicPr>
        <p:blipFill>
          <a:blip r:embed="rId522"/>
          <a:stretch>
            <a:fillRect/>
          </a:stretch>
        </p:blipFill>
        <p:spPr>
          <a:xfrm>
            <a:off x="6451600" y="4864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24" id="524"/>
          <p:cNvPicPr>
            <a:picLocks noChangeAspect="true"/>
          </p:cNvPicPr>
          <p:nvPr/>
        </p:nvPicPr>
        <p:blipFill>
          <a:blip r:embed="rId5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24" id="5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Draft 13 (XML, TXT) - March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12 (XML, TXT) - October 2010 -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11 (XML, TXT) - August 2010 -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10 (XML, TXT) - July 2010 -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09 (XML, TXT) - March 2010 -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08 (XML, TXT) - October 2009 -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07 (XML, TXT) - July 2009 -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06 (XML, TXT) - March 2009 -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05 (XML, TXT) - November 2008 -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04 (XML, TXT) - August 2008 -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03 (XML, TXT) - June 2008 - (Diff </a:t>
            </a:r>
          </a:p>
        </p:txBody>
      </p:sp>
    </p:spTree>
  </p:cSld>
  <p:clrMapOvr>
    <a:masterClrMapping/>
  </p:clrMapOvr>
</p:sld>
</file>

<file path=ppt/slides/slide1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26" id="526"/>
          <p:cNvPicPr>
            <a:picLocks noChangeAspect="true"/>
          </p:cNvPicPr>
          <p:nvPr/>
        </p:nvPicPr>
        <p:blipFill>
          <a:blip r:embed="rId5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26" id="5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02 (XML, TXT) - February 2008 -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01 (XML, TXT) - January 2008 -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00 (XML, TXT) - December 2007</a:t>
            </a:r>
          </a:p>
          <a:p>
            <a:r>
              <a:rPr lang="en-US" sz="3700">
                <a:solidFill>
                  <a:srgbClr val="252525"/>
                </a:solidFill>
              </a:rPr>
              <a:t>draft-ietf-httpbis-p6-cache: Hypertext Transfer Protocol (HTTP/1.1): Caching (XML, TXT) [IETF datatracker] [Status for draft-ietf-httpbis-p6-cache-26 as of 2014-02-06: has been published as RFC ] - Published as RFC 7234 in June 2014.</a:t>
            </a:r>
          </a:p>
          <a:p>
            <a:r>
              <a:rPr lang="en-US" sz="3700">
                <a:solidFill>
                  <a:srgbClr val="252525"/>
                </a:solidFill>
              </a:rPr>
              <a:t>Draft 26 (XML, TXT) - February 2014 -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25 (XML, TXT) - November 2013 -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24 (XML, TXT) - September 2013 - In IETF Group Last Call, see announcement in &lt;</a:t>
            </a:r>
          </a:p>
        </p:txBody>
      </p:sp>
    </p:spTree>
  </p:cSld>
  <p:clrMapOvr>
    <a:masterClrMapping/>
  </p:clrMapOvr>
</p:sld>
</file>

<file path=ppt/slides/slide1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28" id="528"/>
          <p:cNvPicPr>
            <a:picLocks noChangeAspect="true"/>
          </p:cNvPicPr>
          <p:nvPr/>
        </p:nvPicPr>
        <p:blipFill>
          <a:blip r:embed="rId5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28" id="5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&gt;, ending 2013-11-04.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23 (XML, TXT) - July 2013 -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22 (XML, TXT) - January 2013 -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2013-04-30.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21 (XML, TXT) - October 2012 - In 2nd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2012-11-25. (Diff relative to </a:t>
            </a:r>
          </a:p>
        </p:txBody>
      </p:sp>
      <p:pic>
        <p:nvPicPr>
          <p:cNvPr name="Picture 530" id="530">
            <a:hlinkClick r:id="rId531"/>
          </p:cNvPr>
          <p:cNvPicPr>
            <a:picLocks noChangeAspect="true"/>
          </p:cNvPicPr>
          <p:nvPr/>
        </p:nvPicPr>
        <p:blipFill>
          <a:blip r:embed="rId530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  <p:pic>
        <p:nvPicPr>
          <p:cNvPr name="Picture 532" id="532">
            <a:hlinkClick r:id="rId533"/>
          </p:cNvPr>
          <p:cNvPicPr>
            <a:picLocks noChangeAspect="true"/>
          </p:cNvPicPr>
          <p:nvPr/>
        </p:nvPicPr>
        <p:blipFill>
          <a:blip r:embed="rId532"/>
          <a:stretch>
            <a:fillRect/>
          </a:stretch>
        </p:blipFill>
        <p:spPr>
          <a:xfrm>
            <a:off x="6451600" y="7543800"/>
            <a:ext cx="10820400" cy="1714500"/>
          </a:xfrm>
          <a:prstGeom prst="rect">
            <a:avLst/>
          </a:prstGeom>
        </p:spPr>
      </p:pic>
      <p:pic>
        <p:nvPicPr>
          <p:cNvPr name="Picture 534" id="534">
            <a:hlinkClick r:id="rId535"/>
          </p:cNvPr>
          <p:cNvPicPr>
            <a:picLocks noChangeAspect="true"/>
          </p:cNvPicPr>
          <p:nvPr/>
        </p:nvPicPr>
        <p:blipFill>
          <a:blip r:embed="rId534"/>
          <a:stretch>
            <a:fillRect/>
          </a:stretch>
        </p:blipFill>
        <p:spPr>
          <a:xfrm>
            <a:off x="6451600" y="132334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36" id="536"/>
          <p:cNvPicPr>
            <a:picLocks noChangeAspect="true"/>
          </p:cNvPicPr>
          <p:nvPr/>
        </p:nvPicPr>
        <p:blipFill>
          <a:blip r:embed="rId5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36" id="5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20 (XML, TXT) - July 2012 -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19 (XML, TXT) - March 2012 - In Working Group Last Call, see announcement in &lt;</a:t>
            </a:r>
            <a:r>
              <a:rPr lang="en-US" sz="3700">
                <a:solidFill>
                  <a:srgbClr val="252525"/>
                </a:solidFill>
              </a:rPr>
              <a:t>&gt;, ending 2012-04-12.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18 (XML, TXT) - January 2012 -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17 (XML, TXT) - October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16 (XML, TXT) - August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15 (XML, TXT) - July 2011 - (Diff relative to previous draft)</a:t>
            </a:r>
          </a:p>
          <a:p>
            <a:r>
              <a:rPr lang="en-US" sz="3700">
                <a:solidFill>
                  <a:srgbClr val="252525"/>
                </a:solidFill>
              </a:rPr>
              <a:t>Draft 14 (XML, TXT) - April 2011 -…</a:t>
            </a:r>
          </a:p>
        </p:txBody>
      </p:sp>
      <p:pic>
        <p:nvPicPr>
          <p:cNvPr name="Picture 538" id="538">
            <a:hlinkClick r:id="rId539"/>
          </p:cNvPr>
          <p:cNvPicPr>
            <a:picLocks noChangeAspect="true"/>
          </p:cNvPicPr>
          <p:nvPr/>
        </p:nvPicPr>
        <p:blipFill>
          <a:blip r:embed="rId538"/>
          <a:stretch>
            <a:fillRect/>
          </a:stretch>
        </p:blipFill>
        <p:spPr>
          <a:xfrm>
            <a:off x="6451600" y="4864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