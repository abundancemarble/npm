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 Type="http://schemas.openxmlformats.org/officeDocument/2006/relationships/theme" Target="theme/theme1.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 Type="http://schemas.openxmlformats.org/officeDocument/2006/relationships/slide" Target="slides/slide1.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hyperlink" TargetMode="External" Target="http://purl.org/dc/elements/1.1/"/><Relationship Id="rId6" Type="http://schemas.openxmlformats.org/officeDocument/2006/relationships/image" Target="../media/image6.png"/><Relationship Id="rId7" Type="http://schemas.openxmlformats.org/officeDocument/2006/relationships/hyperlink" TargetMode="External" Target="https://slack-status.com"/></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 Id="rId11" Type="http://schemas.openxmlformats.org/officeDocument/2006/relationships/hyperlink" TargetMode="External" Target="https://slack-status.com/2025-02/cc2978035e4aca1e"/><Relationship Id="rId12" Type="http://schemas.openxmlformats.org/officeDocument/2006/relationships/image" Target="../media/image12.png"/><Relationship Id="rId13" Type="http://schemas.openxmlformats.org/officeDocument/2006/relationships/hyperlink" TargetMode="External" Target="https://slack-status.com/2025-02/cc2978035e4aca1e"/><Relationship Id="rId8" Type="http://schemas.openxmlformats.org/officeDocument/2006/relationships/image" Target="../media/image8.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 Id="rId18" Type="http://schemas.openxmlformats.org/officeDocument/2006/relationships/image" Target="../media/image18.png"/><Relationship Id="rId19" Type="http://schemas.openxmlformats.org/officeDocument/2006/relationships/hyperlink" TargetMode="External" Target="https://slack-status.com/2025-02/0a57df32942814ba"/><Relationship Id="rId20" Type="http://schemas.openxmlformats.org/officeDocument/2006/relationships/image" Target="../media/image20.png"/><Relationship Id="rId21" Type="http://schemas.openxmlformats.org/officeDocument/2006/relationships/hyperlink" TargetMode="External" Target="https://slack-status.com/2025-02/0a57df32942814ba"/></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 Id="rId24" Type="http://schemas.openxmlformats.org/officeDocument/2006/relationships/image" Target="../media/image24.png"/><Relationship Id="rId25" Type="http://schemas.openxmlformats.org/officeDocument/2006/relationships/hyperlink" TargetMode="External" Target="https://slack-status.com/2025-02/a94fbd4e89936743"/><Relationship Id="rId26" Type="http://schemas.openxmlformats.org/officeDocument/2006/relationships/image" Target="../media/image26.png"/><Relationship Id="rId27" Type="http://schemas.openxmlformats.org/officeDocument/2006/relationships/hyperlink" TargetMode="External" Target="https://slack-status.com/2025-02/a94fbd4e89936743"/></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 Id="rId32" Type="http://schemas.openxmlformats.org/officeDocument/2006/relationships/image" Target="../media/image32.png"/><Relationship Id="rId33" Type="http://schemas.openxmlformats.org/officeDocument/2006/relationships/hyperlink" TargetMode="External" Target="https://slack-status.com/2025-02/62ec522bb1d310d2"/><Relationship Id="rId34" Type="http://schemas.openxmlformats.org/officeDocument/2006/relationships/image" Target="../media/image34.png"/><Relationship Id="rId35" Type="http://schemas.openxmlformats.org/officeDocument/2006/relationships/hyperlink" TargetMode="External" Target="https://slack-status.com/2025-02/62ec522bb1d310d2"/></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 Id="rId38" Type="http://schemas.openxmlformats.org/officeDocument/2006/relationships/image" Target="../media/image38.png"/><Relationship Id="rId39" Type="http://schemas.openxmlformats.org/officeDocument/2006/relationships/hyperlink" TargetMode="External" Target="https://slack-status.com/2025-02/8b9d27b92b5ce7d0"/><Relationship Id="rId40" Type="http://schemas.openxmlformats.org/officeDocument/2006/relationships/image" Target="../media/image40.png"/><Relationship Id="rId41" Type="http://schemas.openxmlformats.org/officeDocument/2006/relationships/hyperlink" TargetMode="External" Target="https://slack-status.com/2025-02/8b9d27b92b5ce7d0"/></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 Id="rId46" Type="http://schemas.openxmlformats.org/officeDocument/2006/relationships/image" Target="../media/image46.png"/><Relationship Id="rId47" Type="http://schemas.openxmlformats.org/officeDocument/2006/relationships/hyperlink" TargetMode="External" Target="https://slack-status.com/2025-02/d9ddb421ef80415a"/><Relationship Id="rId48" Type="http://schemas.openxmlformats.org/officeDocument/2006/relationships/image" Target="../media/image48.png"/><Relationship Id="rId49" Type="http://schemas.openxmlformats.org/officeDocument/2006/relationships/hyperlink" TargetMode="External" Target="https://slack-status.com/2025-02/d9ddb421ef80415a"/></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 Id="rId54" Type="http://schemas.openxmlformats.org/officeDocument/2006/relationships/image" Target="../media/image54.png"/><Relationship Id="rId55" Type="http://schemas.openxmlformats.org/officeDocument/2006/relationships/hyperlink" TargetMode="External" Target="https://slack-status.com/2025-02/d41e4bfd1ccae26a"/><Relationship Id="rId56" Type="http://schemas.openxmlformats.org/officeDocument/2006/relationships/image" Target="../media/image56.png"/><Relationship Id="rId57" Type="http://schemas.openxmlformats.org/officeDocument/2006/relationships/hyperlink" TargetMode="External" Target="https://slack-status.com/2025-02/1b757d1d0f444c34"/><Relationship Id="rId58" Type="http://schemas.openxmlformats.org/officeDocument/2006/relationships/image" Target="../media/image58.png"/><Relationship Id="rId59" Type="http://schemas.openxmlformats.org/officeDocument/2006/relationships/hyperlink" TargetMode="External" Target="https://slack-status.com/2025-02/1b757d1d0f444c34"/></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62" Type="http://schemas.openxmlformats.org/officeDocument/2006/relationships/image" Target="../media/image62.png"/><Relationship Id="rId64" Type="http://schemas.openxmlformats.org/officeDocument/2006/relationships/image" Target="../media/image64.png"/><Relationship Id="rId65" Type="http://schemas.openxmlformats.org/officeDocument/2006/relationships/hyperlink" TargetMode="External" Target="https://slack-status.com/2025-02/d41e4bfd1ccae26a"/></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66" Type="http://schemas.openxmlformats.org/officeDocument/2006/relationships/image" Target="../media/image66.png"/><Relationship Id="rId68" Type="http://schemas.openxmlformats.org/officeDocument/2006/relationships/image" Target="../media/image68.png"/><Relationship Id="rId69" Type="http://schemas.openxmlformats.org/officeDocument/2006/relationships/hyperlink" TargetMode="External" Target="https://slack-status.com/2025-02/d41e4bfd1ccae26a"/></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70" Type="http://schemas.openxmlformats.org/officeDocument/2006/relationships/image" Target="../media/image70.png"/><Relationship Id="rId72" Type="http://schemas.openxmlformats.org/officeDocument/2006/relationships/image" Target="../media/image72.png"/><Relationship Id="rId73" Type="http://schemas.openxmlformats.org/officeDocument/2006/relationships/hyperlink" TargetMode="External" Target="https://slack-status.com/2025-03/a797b24299cd0d29"/><Relationship Id="rId74" Type="http://schemas.openxmlformats.org/officeDocument/2006/relationships/image" Target="../media/image74.png"/><Relationship Id="rId75" Type="http://schemas.openxmlformats.org/officeDocument/2006/relationships/hyperlink" TargetMode="External" Target="https://slack-status.com/2025-03/a797b24299cd0d29"/></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76" Type="http://schemas.openxmlformats.org/officeDocument/2006/relationships/image" Target="../media/image76.png"/><Relationship Id="rId78" Type="http://schemas.openxmlformats.org/officeDocument/2006/relationships/image" Target="../media/image78.png"/><Relationship Id="rId79" Type="http://schemas.openxmlformats.org/officeDocument/2006/relationships/hyperlink" TargetMode="External" Target="https://slack-status.com/2025-03/4e6f4a0936c8eb2e"/></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80" Type="http://schemas.openxmlformats.org/officeDocument/2006/relationships/image" Target="../media/image80.png"/><Relationship Id="rId82" Type="http://schemas.openxmlformats.org/officeDocument/2006/relationships/image" Target="../media/image82.png"/><Relationship Id="rId83" Type="http://schemas.openxmlformats.org/officeDocument/2006/relationships/hyperlink" TargetMode="External" Target="https://slack-status.com/2025-03/4e6f4a0936c8eb2e"/></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84" Type="http://schemas.openxmlformats.org/officeDocument/2006/relationships/image" Target="../media/image84.png"/><Relationship Id="rId86" Type="http://schemas.openxmlformats.org/officeDocument/2006/relationships/image" Target="../media/image86.png"/><Relationship Id="rId87" Type="http://schemas.openxmlformats.org/officeDocument/2006/relationships/hyperlink" TargetMode="External" Target="https://slack-status.com/2025-03/81e039368cad50fe"/><Relationship Id="rId88" Type="http://schemas.openxmlformats.org/officeDocument/2006/relationships/image" Target="../media/image88.png"/><Relationship Id="rId89" Type="http://schemas.openxmlformats.org/officeDocument/2006/relationships/hyperlink" TargetMode="External" Target="https://slack-status.com/2025-03/81e039368cad50fe"/></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image" Target="../media/image90.png"/><Relationship Id="rId92" Type="http://schemas.openxmlformats.org/officeDocument/2006/relationships/image" Target="../media/image92.png"/><Relationship Id="rId93" Type="http://schemas.openxmlformats.org/officeDocument/2006/relationships/hyperlink" TargetMode="External" Target="https://slack-status.com/2025-03/e5f6aca28f9e550c"/></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94" Type="http://schemas.openxmlformats.org/officeDocument/2006/relationships/image" Target="../media/image94.png"/><Relationship Id="rId96" Type="http://schemas.openxmlformats.org/officeDocument/2006/relationships/image" Target="../media/image96.png"/><Relationship Id="rId97" Type="http://schemas.openxmlformats.org/officeDocument/2006/relationships/hyperlink" TargetMode="External" Target="https://slack-status.com/2025-03/e5f6aca28f9e550c"/></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100" Type="http://schemas.openxmlformats.org/officeDocument/2006/relationships/image" Target="../media/image100.png"/><Relationship Id="rId101" Type="http://schemas.openxmlformats.org/officeDocument/2006/relationships/hyperlink" TargetMode="External" Target="https://slack-status.com/2025-03/1dd1fa07d4ad94f7"/><Relationship Id="rId102" Type="http://schemas.openxmlformats.org/officeDocument/2006/relationships/image" Target="../media/image102.png"/><Relationship Id="rId103" Type="http://schemas.openxmlformats.org/officeDocument/2006/relationships/hyperlink" TargetMode="External" Target="https://slack-status.com/2025-03/1dd1fa07d4ad94f7"/><Relationship Id="rId98" Type="http://schemas.openxmlformats.org/officeDocument/2006/relationships/image" Target="../media/image98.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104" Type="http://schemas.openxmlformats.org/officeDocument/2006/relationships/image" Target="../media/image104.png"/><Relationship Id="rId106" Type="http://schemas.openxmlformats.org/officeDocument/2006/relationships/image" Target="../media/image106.png"/><Relationship Id="rId107" Type="http://schemas.openxmlformats.org/officeDocument/2006/relationships/hyperlink" TargetMode="External" Target="https://slack-status.com/2025-04/1e831a374b3ad5e9"/><Relationship Id="rId108" Type="http://schemas.openxmlformats.org/officeDocument/2006/relationships/image" Target="../media/image108.png"/><Relationship Id="rId109" Type="http://schemas.openxmlformats.org/officeDocument/2006/relationships/hyperlink" TargetMode="External" Target="https://slack-status.com/2025-04/1e831a374b3ad5e9"/></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110" Type="http://schemas.openxmlformats.org/officeDocument/2006/relationships/image" Target="../media/image110.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112" Type="http://schemas.openxmlformats.org/officeDocument/2006/relationships/image" Target="../media/image112.png"/><Relationship Id="rId114" Type="http://schemas.openxmlformats.org/officeDocument/2006/relationships/image" Target="../media/image114.png"/><Relationship Id="rId115" Type="http://schemas.openxmlformats.org/officeDocument/2006/relationships/hyperlink" TargetMode="External" Target="https://slack-status.com/2025-04/bbb10712f46a5ab5"/><Relationship Id="rId116" Type="http://schemas.openxmlformats.org/officeDocument/2006/relationships/image" Target="../media/image116.png"/><Relationship Id="rId117" Type="http://schemas.openxmlformats.org/officeDocument/2006/relationships/hyperlink" TargetMode="External" Target="https://slack-status.com/2025-04/bbb10712f46a5ab5"/></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118" Type="http://schemas.openxmlformats.org/officeDocument/2006/relationships/image" Target="../media/image118.png"/><Relationship Id="rId120" Type="http://schemas.openxmlformats.org/officeDocument/2006/relationships/image" Target="../media/image120.png"/><Relationship Id="rId121" Type="http://schemas.openxmlformats.org/officeDocument/2006/relationships/hyperlink" TargetMode="External" Target="https://status.zoom.us/incidents/pw9r9vnq5rvk"/><Relationship Id="rId122" Type="http://schemas.openxmlformats.org/officeDocument/2006/relationships/image" Target="../media/image122.png"/><Relationship Id="rId123" Type="http://schemas.openxmlformats.org/officeDocument/2006/relationships/hyperlink" TargetMode="External" Target="https://slack-status.com/2025-04/2a537b16ac3fbcbf"/><Relationship Id="rId124" Type="http://schemas.openxmlformats.org/officeDocument/2006/relationships/image" Target="../media/image124.png"/><Relationship Id="rId125" Type="http://schemas.openxmlformats.org/officeDocument/2006/relationships/hyperlink" TargetMode="External" Target="https://slack-status.com/2025-04/2a537b16ac3fbcbf"/></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126" Type="http://schemas.openxmlformats.org/officeDocument/2006/relationships/image" Target="../media/image126.png"/><Relationship Id="rId128" Type="http://schemas.openxmlformats.org/officeDocument/2006/relationships/image" Target="../media/image128.png"/><Relationship Id="rId129" Type="http://schemas.openxmlformats.org/officeDocument/2006/relationships/hyperlink" TargetMode="External" Target="https://slack-status.com/2025-04/fb75639d041029a5"/></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130" Type="http://schemas.openxmlformats.org/officeDocument/2006/relationships/image" Target="../media/image130.png"/><Relationship Id="rId132" Type="http://schemas.openxmlformats.org/officeDocument/2006/relationships/image" Target="../media/image132.png"/><Relationship Id="rId133" Type="http://schemas.openxmlformats.org/officeDocument/2006/relationships/hyperlink" TargetMode="External" Target="https://slack-status.com/2025-04/fb75639d041029a5"/></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134" Type="http://schemas.openxmlformats.org/officeDocument/2006/relationships/image" Target="../media/image134.png"/><Relationship Id="rId136" Type="http://schemas.openxmlformats.org/officeDocument/2006/relationships/image" Target="../media/image136.png"/><Relationship Id="rId137" Type="http://schemas.openxmlformats.org/officeDocument/2006/relationships/hyperlink" TargetMode="External" Target="https://slack-status.com/2025-05/54c54d26368bad5e"/><Relationship Id="rId138" Type="http://schemas.openxmlformats.org/officeDocument/2006/relationships/image" Target="../media/image138.png"/><Relationship Id="rId139" Type="http://schemas.openxmlformats.org/officeDocument/2006/relationships/hyperlink" TargetMode="External" Target="https://slack-status.com/2025-05/54c54d26368bad5e"/></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140" Type="http://schemas.openxmlformats.org/officeDocument/2006/relationships/image" Target="../media/image140.png"/><Relationship Id="rId142" Type="http://schemas.openxmlformats.org/officeDocument/2006/relationships/image" Target="../media/image142.png"/><Relationship Id="rId143" Type="http://schemas.openxmlformats.org/officeDocument/2006/relationships/hyperlink" TargetMode="External" Target="https://slack-status.com/2025-05/aa733d73845b2faa"/><Relationship Id="rId144" Type="http://schemas.openxmlformats.org/officeDocument/2006/relationships/image" Target="../media/image144.png"/><Relationship Id="rId145" Type="http://schemas.openxmlformats.org/officeDocument/2006/relationships/hyperlink" TargetMode="External" Target="https://slack-status.com/2025-05/aa733d73845b2faa"/></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146" Type="http://schemas.openxmlformats.org/officeDocument/2006/relationships/image" Target="../media/image146.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148" Type="http://schemas.openxmlformats.org/officeDocument/2006/relationships/image" Target="../media/image148.png"/><Relationship Id="rId150" Type="http://schemas.openxmlformats.org/officeDocument/2006/relationships/image" Target="../media/image150.png"/><Relationship Id="rId151" Type="http://schemas.openxmlformats.org/officeDocument/2006/relationships/hyperlink" TargetMode="External" Target="https://slack-status.com/2025-05/6f079b4236dd6b29"/><Relationship Id="rId152" Type="http://schemas.openxmlformats.org/officeDocument/2006/relationships/image" Target="../media/image152.png"/><Relationship Id="rId153" Type="http://schemas.openxmlformats.org/officeDocument/2006/relationships/hyperlink" TargetMode="External" Target="https://slack-status.com/2025-05/6f079b4236dd6b29"/></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154" Type="http://schemas.openxmlformats.org/officeDocument/2006/relationships/image" Target="../media/image154.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156" Type="http://schemas.openxmlformats.org/officeDocument/2006/relationships/image" Target="../media/image156.png"/><Relationship Id="rId158" Type="http://schemas.openxmlformats.org/officeDocument/2006/relationships/image" Target="../media/image158.png"/><Relationship Id="rId159" Type="http://schemas.openxmlformats.org/officeDocument/2006/relationships/hyperlink" TargetMode="External" Target="https://slack-status.com/2025-05/7b32241eb41a54aa"/><Relationship Id="rId160" Type="http://schemas.openxmlformats.org/officeDocument/2006/relationships/image" Target="../media/image160.png"/><Relationship Id="rId161" Type="http://schemas.openxmlformats.org/officeDocument/2006/relationships/hyperlink" TargetMode="External" Target="https://slack-status.com/2025-05/7b32241eb41a54aa"/></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162" Type="http://schemas.openxmlformats.org/officeDocument/2006/relationships/image" Target="../media/image162.png"/><Relationship Id="rId164" Type="http://schemas.openxmlformats.org/officeDocument/2006/relationships/image" Target="../media/image164.png"/><Relationship Id="rId165" Type="http://schemas.openxmlformats.org/officeDocument/2006/relationships/hyperlink" TargetMode="External" Target="https://slack-status.com/2025-06/8657f083c1928c8e"/></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166" Type="http://schemas.openxmlformats.org/officeDocument/2006/relationships/image" Target="../media/image166.png"/><Relationship Id="rId168" Type="http://schemas.openxmlformats.org/officeDocument/2006/relationships/image" Target="../media/image168.png"/><Relationship Id="rId169" Type="http://schemas.openxmlformats.org/officeDocument/2006/relationships/hyperlink" TargetMode="External" Target="https://slack-status.com/2025-06/8657f083c1928c8e"/></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170" Type="http://schemas.openxmlformats.org/officeDocument/2006/relationships/image" Target="../media/image170.png"/><Relationship Id="rId172" Type="http://schemas.openxmlformats.org/officeDocument/2006/relationships/image" Target="../media/image172.png"/><Relationship Id="rId173" Type="http://schemas.openxmlformats.org/officeDocument/2006/relationships/hyperlink" TargetMode="External" Target="https://slack-status.com/2025-06/dddd4cb1bad5c570"/><Relationship Id="rId174" Type="http://schemas.openxmlformats.org/officeDocument/2006/relationships/image" Target="../media/image174.png"/><Relationship Id="rId175" Type="http://schemas.openxmlformats.org/officeDocument/2006/relationships/hyperlink" TargetMode="External" Target="https://slack-status.com/2025-06/dddd4cb1bad5c570"/></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176" Type="http://schemas.openxmlformats.org/officeDocument/2006/relationships/image" Target="../media/image176.png"/><Relationship Id="rId178" Type="http://schemas.openxmlformats.org/officeDocument/2006/relationships/image" Target="../media/image178.png"/><Relationship Id="rId179" Type="http://schemas.openxmlformats.org/officeDocument/2006/relationships/hyperlink" TargetMode="External" Target="https://slack-status.com/2025-06/b48ea2268f727f19"/><Relationship Id="rId180" Type="http://schemas.openxmlformats.org/officeDocument/2006/relationships/image" Target="../media/image180.png"/><Relationship Id="rId181" Type="http://schemas.openxmlformats.org/officeDocument/2006/relationships/hyperlink" TargetMode="External" Target="https://slack-status.com/2025-06/b48ea2268f727f19"/></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182" Type="http://schemas.openxmlformats.org/officeDocument/2006/relationships/image" Target="../media/image182.png"/><Relationship Id="rId184" Type="http://schemas.openxmlformats.org/officeDocument/2006/relationships/image" Target="../media/image184.png"/><Relationship Id="rId185" Type="http://schemas.openxmlformats.org/officeDocument/2006/relationships/hyperlink" TargetMode="External" Target="https://slack-status.com/2025-06/eff1ca4280873d9a"/><Relationship Id="rId186" Type="http://schemas.openxmlformats.org/officeDocument/2006/relationships/image" Target="../media/image186.png"/><Relationship Id="rId187" Type="http://schemas.openxmlformats.org/officeDocument/2006/relationships/hyperlink" TargetMode="External" Target="https://slack-status.com/2025-06/eff1ca4280873d9a"/></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188" Type="http://schemas.openxmlformats.org/officeDocument/2006/relationships/image" Target="../media/image188.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190" Type="http://schemas.openxmlformats.org/officeDocument/2006/relationships/image" Target="../media/image190.png"/><Relationship Id="rId192" Type="http://schemas.openxmlformats.org/officeDocument/2006/relationships/image" Target="../media/image192.png"/><Relationship Id="rId193" Type="http://schemas.openxmlformats.org/officeDocument/2006/relationships/hyperlink" TargetMode="External" Target="https://slack-status.com/2025-06/1d4e1af9af6be5be"/><Relationship Id="rId194" Type="http://schemas.openxmlformats.org/officeDocument/2006/relationships/image" Target="../media/image194.png"/><Relationship Id="rId195" Type="http://schemas.openxmlformats.org/officeDocument/2006/relationships/hyperlink" TargetMode="External" Target="https://slack-status.com/2025-06/1d4e1af9af6be5be"/></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196" Type="http://schemas.openxmlformats.org/officeDocument/2006/relationships/image" Target="../media/image196.png"/><Relationship Id="rId198" Type="http://schemas.openxmlformats.org/officeDocument/2006/relationships/image" Target="../media/image198.png"/><Relationship Id="rId199" Type="http://schemas.openxmlformats.org/officeDocument/2006/relationships/hyperlink" TargetMode="External" Target="https://slack-status.com/2025-06/c8a961289b9d0b90"/><Relationship Id="rId200" Type="http://schemas.openxmlformats.org/officeDocument/2006/relationships/image" Target="../media/image200.png"/><Relationship Id="rId201" Type="http://schemas.openxmlformats.org/officeDocument/2006/relationships/hyperlink" TargetMode="External" Target="https://slack-status.com/2025-06/c8a961289b9d0b90"/></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202" Type="http://schemas.openxmlformats.org/officeDocument/2006/relationships/image" Target="../media/image202.png"/><Relationship Id="rId204" Type="http://schemas.openxmlformats.org/officeDocument/2006/relationships/image" Target="../media/image204.png"/><Relationship Id="rId205" Type="http://schemas.openxmlformats.org/officeDocument/2006/relationships/hyperlink" TargetMode="External" Target="https://slack-status.com/2025-06/487db60d6c229514"/><Relationship Id="rId206" Type="http://schemas.openxmlformats.org/officeDocument/2006/relationships/image" Target="../media/image206.png"/><Relationship Id="rId207" Type="http://schemas.openxmlformats.org/officeDocument/2006/relationships/hyperlink" TargetMode="External" Target="https://slack-status.com/2025-06/487db60d6c229514"/></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208" Type="http://schemas.openxmlformats.org/officeDocument/2006/relationships/image" Target="../media/image208.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210" Type="http://schemas.openxmlformats.org/officeDocument/2006/relationships/image" Target="../media/image210.png"/><Relationship Id="rId212" Type="http://schemas.openxmlformats.org/officeDocument/2006/relationships/image" Target="../media/image212.png"/><Relationship Id="rId213" Type="http://schemas.openxmlformats.org/officeDocument/2006/relationships/hyperlink" TargetMode="External" Target="https://slack-status.com/2025-06/87dbd394326bddf0"/><Relationship Id="rId214" Type="http://schemas.openxmlformats.org/officeDocument/2006/relationships/image" Target="../media/image214.png"/><Relationship Id="rId215" Type="http://schemas.openxmlformats.org/officeDocument/2006/relationships/hyperlink" TargetMode="External" Target="https://slack-status.com/2025-06/87dbd394326bddf0"/></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216" Type="http://schemas.openxmlformats.org/officeDocument/2006/relationships/image" Target="../media/image216.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218" Type="http://schemas.openxmlformats.org/officeDocument/2006/relationships/image" Target="../media/image218.png"/><Relationship Id="rId220" Type="http://schemas.openxmlformats.org/officeDocument/2006/relationships/image" Target="../media/image220.png"/><Relationship Id="rId221" Type="http://schemas.openxmlformats.org/officeDocument/2006/relationships/hyperlink" TargetMode="External" Target="https://slack-status.com/2025-07/6d5667d91b249c7c"/><Relationship Id="rId222" Type="http://schemas.openxmlformats.org/officeDocument/2006/relationships/image" Target="../media/image222.png"/><Relationship Id="rId223" Type="http://schemas.openxmlformats.org/officeDocument/2006/relationships/hyperlink" TargetMode="External" Target="https://slack-status.com/2025-07/6d5667d91b249c7c"/></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224" Type="http://schemas.openxmlformats.org/officeDocument/2006/relationships/image" Target="../media/image224.png"/><Relationship Id="rId226" Type="http://schemas.openxmlformats.org/officeDocument/2006/relationships/image" Target="../media/image226.png"/><Relationship Id="rId227" Type="http://schemas.openxmlformats.org/officeDocument/2006/relationships/hyperlink" TargetMode="External" Target="https://slack-status.com/2025-07/53ea713200a3d4e6"/><Relationship Id="rId228" Type="http://schemas.openxmlformats.org/officeDocument/2006/relationships/image" Target="../media/image228.png"/><Relationship Id="rId229" Type="http://schemas.openxmlformats.org/officeDocument/2006/relationships/hyperlink" TargetMode="External" Target="https://slack-status.com/2025-07/53ea713200a3d4e6"/></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230" Type="http://schemas.openxmlformats.org/officeDocument/2006/relationships/image" Target="../media/image230.png"/><Relationship Id="rId232" Type="http://schemas.openxmlformats.org/officeDocument/2006/relationships/image" Target="../media/image232.png"/><Relationship Id="rId233" Type="http://schemas.openxmlformats.org/officeDocument/2006/relationships/hyperlink" TargetMode="External" Target="https://api.slack.com"/></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234" Type="http://schemas.openxmlformats.org/officeDocument/2006/relationships/image" Target="../media/image234.png"/><Relationship Id="rId236" Type="http://schemas.openxmlformats.org/officeDocument/2006/relationships/image" Target="../media/image236.png"/><Relationship Id="rId237" Type="http://schemas.openxmlformats.org/officeDocument/2006/relationships/hyperlink" TargetMode="External" Target="https://slack-status.com/2025-07/779768a07dc47779"/><Relationship Id="rId238" Type="http://schemas.openxmlformats.org/officeDocument/2006/relationships/image" Target="../media/image238.png"/><Relationship Id="rId239" Type="http://schemas.openxmlformats.org/officeDocument/2006/relationships/hyperlink" TargetMode="External" Target="https://slack-status.com/2025-07/779768a07dc47779"/></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240" Type="http://schemas.openxmlformats.org/officeDocument/2006/relationships/image" Target="../media/image240.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242" Type="http://schemas.openxmlformats.org/officeDocument/2006/relationships/image" Target="../media/image242.png"/><Relationship Id="rId244" Type="http://schemas.openxmlformats.org/officeDocument/2006/relationships/image" Target="../media/image244.png"/><Relationship Id="rId245" Type="http://schemas.openxmlformats.org/officeDocument/2006/relationships/hyperlink" TargetMode="External" Target="https://slack-status.com/2025-07/1ce16e396a56dcf8"/><Relationship Id="rId246" Type="http://schemas.openxmlformats.org/officeDocument/2006/relationships/image" Target="../media/image246.png"/><Relationship Id="rId247" Type="http://schemas.openxmlformats.org/officeDocument/2006/relationships/hyperlink" TargetMode="External" Target="https://slack-status.com/2025-07/1ce16e396a56dcf8"/></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248" Type="http://schemas.openxmlformats.org/officeDocument/2006/relationships/image" Target="../media/image248.png"/><Relationship Id="rId250" Type="http://schemas.openxmlformats.org/officeDocument/2006/relationships/image" Target="../media/image250.png"/><Relationship Id="rId251" Type="http://schemas.openxmlformats.org/officeDocument/2006/relationships/hyperlink" TargetMode="External" Target="https://slack-status.com/2025-07/9aeb079ccc0e805b"/><Relationship Id="rId252" Type="http://schemas.openxmlformats.org/officeDocument/2006/relationships/image" Target="../media/image252.png"/><Relationship Id="rId253" Type="http://schemas.openxmlformats.org/officeDocument/2006/relationships/hyperlink" TargetMode="External" Target="https://slack-status.com/2025-07/9aeb079ccc0e805b"/></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254" Type="http://schemas.openxmlformats.org/officeDocument/2006/relationships/image" Target="../media/image254.png"/><Relationship Id="rId256" Type="http://schemas.openxmlformats.org/officeDocument/2006/relationships/image" Target="../media/image256.png"/><Relationship Id="rId257" Type="http://schemas.openxmlformats.org/officeDocument/2006/relationships/hyperlink" TargetMode="External" Target="https://slack-status.com/2025-07/4c68ebc86edc263c"/></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258" Type="http://schemas.openxmlformats.org/officeDocument/2006/relationships/image" Target="../media/image258.png"/><Relationship Id="rId260" Type="http://schemas.openxmlformats.org/officeDocument/2006/relationships/image" Target="../media/image260.png"/><Relationship Id="rId261" Type="http://schemas.openxmlformats.org/officeDocument/2006/relationships/hyperlink" TargetMode="External" Target="https://slack-status.com/2025-07/4c68ebc86edc263c"/></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262" Type="http://schemas.openxmlformats.org/officeDocument/2006/relationships/image" Target="../media/image262.png"/><Relationship Id="rId264" Type="http://schemas.openxmlformats.org/officeDocument/2006/relationships/image" Target="../media/image264.png"/><Relationship Id="rId265" Type="http://schemas.openxmlformats.org/officeDocument/2006/relationships/hyperlink" TargetMode="External" Target="https://slack-status.com/2025-07/bf5fd61231b4f229"/><Relationship Id="rId266" Type="http://schemas.openxmlformats.org/officeDocument/2006/relationships/image" Target="../media/image266.png"/><Relationship Id="rId267" Type="http://schemas.openxmlformats.org/officeDocument/2006/relationships/hyperlink" TargetMode="External" Target="https://slack-status.com/2025-07/bf5fd61231b4f229"/></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268" Type="http://schemas.openxmlformats.org/officeDocument/2006/relationships/image" Target="../media/image268.png"/><Relationship Id="rId270" Type="http://schemas.openxmlformats.org/officeDocument/2006/relationships/image" Target="../media/image270.png"/><Relationship Id="rId271" Type="http://schemas.openxmlformats.org/officeDocument/2006/relationships/hyperlink" TargetMode="External" Target="https://slack-status.com/2025-07/83f171d86890480b"/></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272" Type="http://schemas.openxmlformats.org/officeDocument/2006/relationships/image" Target="../media/image272.png"/><Relationship Id="rId274" Type="http://schemas.openxmlformats.org/officeDocument/2006/relationships/image" Target="../media/image274.png"/><Relationship Id="rId275" Type="http://schemas.openxmlformats.org/officeDocument/2006/relationships/hyperlink" TargetMode="External" Target="https://slack-status.com/2025-07/83f171d86890480b"/></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276" Type="http://schemas.openxmlformats.org/officeDocument/2006/relationships/image" Target="../media/image276.png"/><Relationship Id="rId278" Type="http://schemas.openxmlformats.org/officeDocument/2006/relationships/image" Target="../media/image278.png"/><Relationship Id="rId279" Type="http://schemas.openxmlformats.org/officeDocument/2006/relationships/hyperlink" TargetMode="External" Target="https://slack-status.com/2025-07/6ba1febee8703c76"/><Relationship Id="rId280" Type="http://schemas.openxmlformats.org/officeDocument/2006/relationships/image" Target="../media/image280.png"/><Relationship Id="rId281" Type="http://schemas.openxmlformats.org/officeDocument/2006/relationships/hyperlink" TargetMode="External" Target="https://slack-status.com/2025-07/6ba1febee8703c76"/></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282" Type="http://schemas.openxmlformats.org/officeDocument/2006/relationships/image" Target="../media/image282.png"/><Relationship Id="rId284" Type="http://schemas.openxmlformats.org/officeDocument/2006/relationships/image" Target="../media/image284.png"/><Relationship Id="rId285" Type="http://schemas.openxmlformats.org/officeDocument/2006/relationships/hyperlink" TargetMode="External" Target="https://slack-status.com/2025-07/f9c795cfab5043c2"/></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286" Type="http://schemas.openxmlformats.org/officeDocument/2006/relationships/image" Target="../media/image286.png"/><Relationship Id="rId288" Type="http://schemas.openxmlformats.org/officeDocument/2006/relationships/image" Target="../media/image288.png"/><Relationship Id="rId289" Type="http://schemas.openxmlformats.org/officeDocument/2006/relationships/hyperlink" TargetMode="External" Target="https://slack-status.com/2025-07/f9c795cfab5043c2"/></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290" Type="http://schemas.openxmlformats.org/officeDocument/2006/relationships/image" Target="../media/image290.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292" Type="http://schemas.openxmlformats.org/officeDocument/2006/relationships/image" Target="../media/image292.png"/><Relationship Id="rId294" Type="http://schemas.openxmlformats.org/officeDocument/2006/relationships/image" Target="../media/image294.png"/><Relationship Id="rId295" Type="http://schemas.openxmlformats.org/officeDocument/2006/relationships/hyperlink" TargetMode="External" Target="https://slack-status.com/2025-07/0bd792223418618c"/><Relationship Id="rId296" Type="http://schemas.openxmlformats.org/officeDocument/2006/relationships/image" Target="../media/image296.png"/><Relationship Id="rId297" Type="http://schemas.openxmlformats.org/officeDocument/2006/relationships/hyperlink" TargetMode="External" Target="https://slack-status.com/2025-07/0bd792223418618c"/></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&lt;rss xmlns:dc="</a:t>
            </a:r>
            <a:r>
              <a:rPr lang="en-US" sz="3700">
                <a:solidFill>
                  <a:srgbClr val="252525"/>
                </a:solidFill>
              </a:rPr>
              <a:t>" version="2.0"&gt;</a:t>
            </a:r>
          </a:p>
          <a:p>
            <a:r>
              <a:rPr lang="en-US" sz="3700">
                <a:solidFill>
                  <a:srgbClr val="252525"/>
                </a:solidFill>
              </a:rPr>
              <a:t>&lt;channel&gt;</a:t>
            </a:r>
          </a:p>
          <a:p>
            <a:r>
              <a:rPr lang="en-US" sz="3700">
                <a:solidFill>
                  <a:srgbClr val="252525"/>
                </a:solidFill>
              </a:rPr>
              <a:t>&lt;title&gt;Slack System Status&lt;/title&gt;</a:t>
            </a:r>
          </a:p>
          <a:p>
            <a:r>
              <a:rPr lang="en-US" sz="3700">
                <a:solidFill>
                  <a:srgbClr val="252525"/>
                </a:solidFill>
              </a:rPr>
              <a:t>&lt;link&gt;</a:t>
            </a:r>
            <a:r>
              <a:rPr lang="en-US" sz="3700">
                <a:solidFill>
                  <a:srgbClr val="252525"/>
                </a:solidFill>
              </a:rPr>
              <a:t>&lt;/link&gt;</a:t>
            </a:r>
          </a:p>
          <a:p>
            <a:r>
              <a:rPr lang="en-US" sz="3700">
                <a:solidFill>
                  <a:srgbClr val="252525"/>
                </a:solidFill>
              </a:rPr>
              <a:t>&lt;description&gt;History of Slack System Status&lt;/description&gt;</a:t>
            </a:r>
          </a:p>
          <a:p>
            <a:r>
              <a:rPr lang="en-US" sz="3700">
                <a:solidFill>
                  <a:srgbClr val="252525"/>
                </a:solidFill>
              </a:rPr>
              <a:t>&lt;lastBuildDate&gt;Fri, 07 Feb 2025 02:54:20 -0800&lt;/lastBuildDate&gt;</a:t>
            </a:r>
          </a:p>
          <a:p>
            <a:r>
              <a:rPr lang="en-US" sz="3700">
                <a:solidFill>
                  <a:srgbClr val="252525"/>
                </a:solidFill>
              </a:rPr>
              <a:t>&lt;item&gt;</a:t>
            </a:r>
          </a:p>
          <a:p>
            <a:r>
              <a:rPr lang="en-US" sz="3700">
                <a:solidFill>
                  <a:srgbClr val="252525"/>
                </a:solidFill>
              </a:rPr>
              <a:t>&lt;title&gt;Incident: Errors when using search filters&lt;/title&gt;</a:t>
            </a:r>
          </a:p>
          <a:p>
            <a:r>
              <a:rPr lang="en-US" sz="3700">
                <a:solidFill>
                  <a:srgbClr val="252525"/>
                </a:solidFill>
              </a:rPr>
              <a:t>&lt;description&gt; From 2:30 PM PST on </a:t>
            </a:r>
          </a:p>
        </p:txBody>
      </p:sp>
      <p:pic>
        <p:nvPicPr>
          <p:cNvPr name="Picture 4" id="4">
            <a:hlinkClick r:id="rId5"/>
          </p:cNvPr>
          <p:cNvPicPr>
            <a:picLocks noChangeAspect="true"/>
          </p:cNvPicPr>
          <p:nvPr/>
        </p:nvPicPr>
        <p:blipFill>
          <a:blip r:embed="rId4"/>
          <a:stretch>
            <a:fillRect/>
          </a:stretch>
        </p:blipFill>
        <p:spPr>
          <a:xfrm>
            <a:off x="6451600" y="4114800"/>
            <a:ext cx="10820400" cy="1714500"/>
          </a:xfrm>
          <a:prstGeom prst="rect">
            <a:avLst/>
          </a:prstGeom>
        </p:spPr>
      </p:pic>
      <p:pic>
        <p:nvPicPr>
          <p:cNvPr name="Picture 6" id="6">
            <a:hlinkClick r:id="rId7"/>
          </p:cNvPr>
          <p:cNvPicPr>
            <a:picLocks noChangeAspect="true"/>
          </p:cNvPicPr>
          <p:nvPr/>
        </p:nvPicPr>
        <p:blipFill>
          <a:blip r:embed="rId6"/>
          <a:stretch>
            <a:fillRect/>
          </a:stretch>
        </p:blipFill>
        <p:spPr>
          <a:xfrm>
            <a:off x="6451600" y="9055100"/>
            <a:ext cx="10820400" cy="17145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February 6, 2025 to around 1:30 AM PST on February 7, 2025, some users experienced a "Something went wrong" error while searching in Slack when using filers.&amp;nbsp;A recent code change was made which lead to the issue.&amp;nbsp;As soon as this was identified, we rolled back to a previous version and worked a fix which resolved the problem for all impacted users. &lt;/description&gt;</a:t>
            </a:r>
          </a:p>
          <a:p>
            <a:r>
              <a:rPr lang="en-US" sz="3700">
                <a:solidFill>
                  <a:srgbClr val="252525"/>
                </a:solidFill>
              </a:rPr>
              <a:t>&lt;pubDate&gt;Fri, 07 Feb 2025 02:54:20 -0800&lt;/pubDate&gt;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p:txBody>
      </p:sp>
      <p:pic>
        <p:nvPicPr>
          <p:cNvPr name="Picture 10" id="10">
            <a:hlinkClick r:id="rId11"/>
          </p:cNvPr>
          <p:cNvPicPr>
            <a:picLocks noChangeAspect="true"/>
          </p:cNvPicPr>
          <p:nvPr/>
        </p:nvPicPr>
        <p:blipFill>
          <a:blip r:embed="rId10"/>
          <a:stretch>
            <a:fillRect/>
          </a:stretch>
        </p:blipFill>
        <p:spPr>
          <a:xfrm>
            <a:off x="6451600" y="11684000"/>
            <a:ext cx="10820400" cy="1714500"/>
          </a:xfrm>
          <a:prstGeom prst="rect">
            <a:avLst/>
          </a:prstGeom>
        </p:spPr>
      </p:pic>
      <p:pic>
        <p:nvPicPr>
          <p:cNvPr name="Picture 12" id="12">
            <a:hlinkClick r:id="rId13"/>
          </p:cNvPr>
          <p:cNvPicPr>
            <a:picLocks noChangeAspect="true"/>
          </p:cNvPicPr>
          <p:nvPr/>
        </p:nvPicPr>
        <p:blipFill>
          <a:blip r:embed="rId12"/>
          <a:stretch>
            <a:fillRect/>
          </a:stretch>
        </p:blipFill>
        <p:spPr>
          <a:xfrm>
            <a:off x="6451600" y="317500"/>
            <a:ext cx="10820400" cy="17145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Custom emoji not loading&lt;/title&gt;</a:t>
            </a:r>
          </a:p>
          <a:p>
            <a:r>
              <a:rPr lang="en-US" sz="3700">
                <a:solidFill>
                  <a:srgbClr val="252525"/>
                </a:solidFill>
              </a:rPr>
              <a:t>&lt;description&gt; From 2:00 PM PST on February 9, 2025, to 8:24 PM PST on February 11, 2025, some users experienced issues with custom emoji failing to load.&amp;nbsp;A backend process responsible for handling custom emoji was experiencing an unexpected spike of requests, resulting in a backlog. This backlog primarily caused delays with recently added emoji.&amp;nbsp;We made a change to restart emoji rendering jobs to help with request traffic, resolving the issue for all affected users. &lt;/description&gt;</a:t>
            </a:r>
          </a:p>
          <a:p>
            <a:r>
              <a:rPr lang="en-US" sz="3700">
                <a:solidFill>
                  <a:srgbClr val="252525"/>
                </a:solidFill>
              </a:rPr>
              <a:t>&lt;pubDate&gt;Thu, 20 Feb 2025 16:31:53 -0800&lt;/pubDate&gt;</a:t>
            </a:r>
          </a:p>
          <a:p>
            <a:r>
              <a:rPr lang="en-US" sz="3700">
                <a:solidFill>
                  <a:srgbClr val="252525"/>
                </a:solidFill>
              </a:rPr>
              <a:t>&lt;link&gt;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 id="16"/>
          <p:cNvPicPr>
            <a:picLocks noChangeAspect="true"/>
          </p:cNvPicPr>
          <p:nvPr/>
        </p:nvPicPr>
        <p:blipFill>
          <a:blip r:embed="rId16"/>
          <a:stretch>
            <a:fillRect/>
          </a:stretch>
        </p:blipFill>
        <p:spPr>
          <a:xfrm>
            <a:off x="0" y="127000"/>
            <a:ext cx="23749000" cy="16548100"/>
          </a:xfrm>
          <a:prstGeom prst="rect">
            <a:avLst/>
          </a:prstGeom>
        </p:spPr>
      </p:pic>
      <p:sp>
        <p:nvSpPr>
          <p:cNvPr name="TextBox 16" id="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with adding or triggering steps in Workflow Builder&lt;/title&gt;</a:t>
            </a:r>
          </a:p>
          <a:p>
            <a:r>
              <a:rPr lang="en-US" sz="3700">
                <a:solidFill>
                  <a:srgbClr val="252525"/>
                </a:solidFill>
              </a:rPr>
              <a:t>&lt;description&gt; On February 13, 2025, from 11:00 AM to 1:45 PM PST, we detected an increase in backend errors relating to Workflow Builder. During this time, some users may have encountered various errors when running or editing workflows.We discovered that a recent backend change to our workflow process was creating these errors. We immediately </a:t>
            </a:r>
          </a:p>
        </p:txBody>
      </p:sp>
      <p:pic>
        <p:nvPicPr>
          <p:cNvPr name="Picture 18" id="18">
            <a:hlinkClick r:id="rId19"/>
          </p:cNvPr>
          <p:cNvPicPr>
            <a:picLocks noChangeAspect="true"/>
          </p:cNvPicPr>
          <p:nvPr/>
        </p:nvPicPr>
        <p:blipFill>
          <a:blip r:embed="rId18"/>
          <a:stretch>
            <a:fillRect/>
          </a:stretch>
        </p:blipFill>
        <p:spPr>
          <a:xfrm>
            <a:off x="6451600" y="2590800"/>
            <a:ext cx="10820400" cy="1714500"/>
          </a:xfrm>
          <a:prstGeom prst="rect">
            <a:avLst/>
          </a:prstGeom>
        </p:spPr>
      </p:pic>
      <p:pic>
        <p:nvPicPr>
          <p:cNvPr name="Picture 20" id="20">
            <a:hlinkClick r:id="rId21"/>
          </p:cNvPr>
          <p:cNvPicPr>
            <a:picLocks noChangeAspect="true"/>
          </p:cNvPicPr>
          <p:nvPr/>
        </p:nvPicPr>
        <p:blipFill>
          <a:blip r:embed="rId20"/>
          <a:stretch>
            <a:fillRect/>
          </a:stretch>
        </p:blipFill>
        <p:spPr>
          <a:xfrm>
            <a:off x="6451600" y="6019800"/>
            <a:ext cx="10820400" cy="17145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reverted this change, which resolved the issue for all affected users. We're analyzing data from this event to understand ways to mitigate similar issues that may occur in the future. &lt;/description&gt;</a:t>
            </a:r>
          </a:p>
          <a:p>
            <a:r>
              <a:rPr lang="en-US" sz="3700">
                <a:solidFill>
                  <a:srgbClr val="252525"/>
                </a:solidFill>
              </a:rPr>
              <a:t>&lt;pubDate&gt;Thu, 13 Feb 2025 17:27:11 -0800&lt;/pubDate&gt;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Some users may have trouble adding multiple existing workspace members to channels by email address&lt;/</a:t>
            </a:r>
          </a:p>
        </p:txBody>
      </p:sp>
      <p:pic>
        <p:nvPicPr>
          <p:cNvPr name="Picture 24" id="24">
            <a:hlinkClick r:id="rId25"/>
          </p:cNvPr>
          <p:cNvPicPr>
            <a:picLocks noChangeAspect="true"/>
          </p:cNvPicPr>
          <p:nvPr/>
        </p:nvPicPr>
        <p:blipFill>
          <a:blip r:embed="rId24"/>
          <a:stretch>
            <a:fillRect/>
          </a:stretch>
        </p:blipFill>
        <p:spPr>
          <a:xfrm>
            <a:off x="6451600" y="8661400"/>
            <a:ext cx="10820400" cy="1714500"/>
          </a:xfrm>
          <a:prstGeom prst="rect">
            <a:avLst/>
          </a:prstGeom>
        </p:spPr>
      </p:pic>
      <p:pic>
        <p:nvPicPr>
          <p:cNvPr name="Picture 26" id="26">
            <a:hlinkClick r:id="rId27"/>
          </p:cNvPr>
          <p:cNvPicPr>
            <a:picLocks noChangeAspect="true"/>
          </p:cNvPicPr>
          <p:nvPr/>
        </p:nvPicPr>
        <p:blipFill>
          <a:blip r:embed="rId26"/>
          <a:stretch>
            <a:fillRect/>
          </a:stretch>
        </p:blipFill>
        <p:spPr>
          <a:xfrm>
            <a:off x="6451600" y="12090400"/>
            <a:ext cx="10820400" cy="17145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title&gt;</a:t>
            </a:r>
          </a:p>
          <a:p>
            <a:r>
              <a:rPr lang="en-US" sz="3700">
                <a:solidFill>
                  <a:srgbClr val="252525"/>
                </a:solidFill>
              </a:rPr>
              <a:t>&lt;description&gt; From around 5:00 PM PST on February 11, 2025 until around 1:00 PM PST on February 17, 2025, some users were unable to add existing workspace members to channels using their email addresses in bulk. Affected users reported the issue presenting as an endless loading icon or various errors appearing when entering user emails. It was also noted that some users were not displayed as existing members of the channel.We traced this issue back to a logic condition that would prevent Slack from returning proper results if there were multiple users with matching search query conditions. We removed the problematic condition within the code, resolving the issue for all affected users. &lt;/description&gt;</a:t>
            </a:r>
          </a:p>
          <a:p>
            <a:r>
              <a:rPr lang="en-US" sz="3700">
                <a:solidFill>
                  <a:srgbClr val="252525"/>
                </a:solidFill>
              </a:rPr>
              <a:t>&lt;pubDate&gt;Mon, 17 Feb 2025 15:24:15 -0800&lt;/pubDate&gt;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Non-English iOS users can't set default status&lt;/title&gt;</a:t>
            </a:r>
          </a:p>
          <a:p>
            <a:r>
              <a:rPr lang="en-US" sz="3700">
                <a:solidFill>
                  <a:srgbClr val="252525"/>
                </a:solidFill>
              </a:rPr>
              <a:t>&lt;description&gt; From 9:00 AM PST on February 14, 2025 to 4:30 PM PST on February 19, 2025, iOS users with Slack set to a non-English language were unable to set a default status and may have also encountered intermittent issues setting custom statuses.We identified that a recent code change had resulted in </a:t>
            </a:r>
          </a:p>
        </p:txBody>
      </p:sp>
      <p:pic>
        <p:nvPicPr>
          <p:cNvPr name="Picture 32" id="32">
            <a:hlinkClick r:id="rId33"/>
          </p:cNvPr>
          <p:cNvPicPr>
            <a:picLocks noChangeAspect="true"/>
          </p:cNvPicPr>
          <p:nvPr/>
        </p:nvPicPr>
        <p:blipFill>
          <a:blip r:embed="rId32"/>
          <a:stretch>
            <a:fillRect/>
          </a:stretch>
        </p:blipFill>
        <p:spPr>
          <a:xfrm>
            <a:off x="6451600" y="3352800"/>
            <a:ext cx="10820400" cy="1714500"/>
          </a:xfrm>
          <a:prstGeom prst="rect">
            <a:avLst/>
          </a:prstGeom>
        </p:spPr>
      </p:pic>
      <p:pic>
        <p:nvPicPr>
          <p:cNvPr name="Picture 34" id="34">
            <a:hlinkClick r:id="rId35"/>
          </p:cNvPr>
          <p:cNvPicPr>
            <a:picLocks noChangeAspect="true"/>
          </p:cNvPicPr>
          <p:nvPr/>
        </p:nvPicPr>
        <p:blipFill>
          <a:blip r:embed="rId34"/>
          <a:stretch>
            <a:fillRect/>
          </a:stretch>
        </p:blipFill>
        <p:spPr>
          <a:xfrm>
            <a:off x="6451600" y="6781800"/>
            <a:ext cx="10820400" cy="17145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localized emoji names being returned to our systems in error, which was causing status updates to fail.We deployed a fix in version 25.02.30, which should be available to all users via the Apple App Store shortly. &lt;/description&gt;</a:t>
            </a:r>
          </a:p>
          <a:p>
            <a:r>
              <a:rPr lang="en-US" sz="3700">
                <a:solidFill>
                  <a:srgbClr val="252525"/>
                </a:solidFill>
              </a:rPr>
              <a:t>&lt;pubDate&gt;Wed, 19 Feb 2025 21:51:45 -0800&lt;/pubDate&gt;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Specific @-mentions like @channelname, @here and @everyone are </a:t>
            </a:r>
          </a:p>
        </p:txBody>
      </p:sp>
      <p:pic>
        <p:nvPicPr>
          <p:cNvPr name="Picture 38" id="38">
            <a:hlinkClick r:id="rId39"/>
          </p:cNvPr>
          <p:cNvPicPr>
            <a:picLocks noChangeAspect="true"/>
          </p:cNvPicPr>
          <p:nvPr/>
        </p:nvPicPr>
        <p:blipFill>
          <a:blip r:embed="rId38"/>
          <a:stretch>
            <a:fillRect/>
          </a:stretch>
        </p:blipFill>
        <p:spPr>
          <a:xfrm>
            <a:off x="6451600" y="9410700"/>
            <a:ext cx="10820400" cy="1714500"/>
          </a:xfrm>
          <a:prstGeom prst="rect">
            <a:avLst/>
          </a:prstGeom>
        </p:spPr>
      </p:pic>
      <p:pic>
        <p:nvPicPr>
          <p:cNvPr name="Picture 40" id="40">
            <a:hlinkClick r:id="rId41"/>
          </p:cNvPr>
          <p:cNvPicPr>
            <a:picLocks noChangeAspect="true"/>
          </p:cNvPicPr>
          <p:nvPr/>
        </p:nvPicPr>
        <p:blipFill>
          <a:blip r:embed="rId40"/>
          <a:stretch>
            <a:fillRect/>
          </a:stretch>
        </p:blipFill>
        <p:spPr>
          <a:xfrm>
            <a:off x="6451600" y="12839700"/>
            <a:ext cx="10820400" cy="17145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 working on iOS app version 25.02.30&lt;/title&gt;</a:t>
            </a:r>
          </a:p>
          <a:p>
            <a:r>
              <a:rPr lang="en-US" sz="3700">
                <a:solidFill>
                  <a:srgbClr val="252525"/>
                </a:solidFill>
              </a:rPr>
              <a:t>&lt;description&gt; From 7:19 PM PST on February 23, 2025 to 3:14 PM PST on February 24, 2025, some users may have been unable to use @here, @channel or @everyone mentions in the Slack for iOS app on version 25.02.30.A routine code update introduced an error in the most recent version of the Slack for iOS app, which prevented these mentions from autocompleting or sending correctly.We released a fix in version 25.02.31 (available via the Apple App Store), which resolved these issues for all impacted users. &lt;/description&gt;</a:t>
            </a:r>
          </a:p>
          <a:p>
            <a:r>
              <a:rPr lang="en-US" sz="3700">
                <a:solidFill>
                  <a:srgbClr val="252525"/>
                </a:solidFill>
              </a:rPr>
              <a:t>&lt;pubDate&gt;Mon, 24 Feb 2025 16:47:57 -0800&lt;/pubDate&gt;</a:t>
            </a:r>
          </a:p>
          <a:p>
            <a:r>
              <a:rPr lang="en-US" sz="3700">
                <a:solidFill>
                  <a:srgbClr val="252525"/>
                </a:solidFill>
              </a:rPr>
              <a:t>&lt;link&gt;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&lt;title&gt;Outage: Trouble loading or using Slack&lt;/title&gt;</a:t>
            </a:r>
          </a:p>
          <a:p>
            <a:r>
              <a:rPr lang="en-US" sz="3700">
                <a:solidFill>
                  <a:srgbClr val="252525"/>
                </a:solidFill>
              </a:rPr>
              <a:t>&lt;description&gt; From 6:45 AM PST to 4:13 PM PST on February 26, 2025, a large percentage of Slack users experienced issues with various features including sending and receiving messages, using workflows, loading channels or threads, and logging into Slack. These features may have been degraded or in some cases fully unusable. &amp;nbsp;We traced this issue </a:t>
            </a:r>
          </a:p>
        </p:txBody>
      </p:sp>
      <p:pic>
        <p:nvPicPr>
          <p:cNvPr name="Picture 46" id="46">
            <a:hlinkClick r:id="rId47"/>
          </p:cNvPr>
          <p:cNvPicPr>
            <a:picLocks noChangeAspect="true"/>
          </p:cNvPicPr>
          <p:nvPr/>
        </p:nvPicPr>
        <p:blipFill>
          <a:blip r:embed="rId46"/>
          <a:stretch>
            <a:fillRect/>
          </a:stretch>
        </p:blipFill>
        <p:spPr>
          <a:xfrm>
            <a:off x="6451600" y="1079500"/>
            <a:ext cx="10820400" cy="1714500"/>
          </a:xfrm>
          <a:prstGeom prst="rect">
            <a:avLst/>
          </a:prstGeom>
        </p:spPr>
      </p:pic>
      <p:pic>
        <p:nvPicPr>
          <p:cNvPr name="Picture 48" id="48">
            <a:hlinkClick r:id="rId49"/>
          </p:cNvPr>
          <p:cNvPicPr>
            <a:picLocks noChangeAspect="true"/>
          </p:cNvPicPr>
          <p:nvPr/>
        </p:nvPicPr>
        <p:blipFill>
          <a:blip r:embed="rId48"/>
          <a:stretch>
            <a:fillRect/>
          </a:stretch>
        </p:blipFill>
        <p:spPr>
          <a:xfrm>
            <a:off x="6451600" y="4508500"/>
            <a:ext cx="10820400" cy="17145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to a maintenance action in one of our database systems, which, combined with a latent defect in our caching system, caused an overload of heavy traffic to the database. As a result, approximately 50% of instances relying on this database became unavailable.&amp;nbsp;We took several actions to reduce the heavy load on the database system and implemented a fix for the source of the load. At around 9:32 AM PST, we observed improved health metrics for some affected Slack features and at around 4:13 PM PST, our health metrics returned to normal rates, indicating the issue was resolved for all affected users.Edit: After the main impact of this issue was resolved, users experienced issues with our Events API - specifically related to custom applications, integrations and bots not working. This issue is now resolved and these are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functioning as expected. You can review specific updates on this resolution here: </a:t>
            </a:r>
            <a:r>
              <a:rPr lang="en-US" sz="3700">
                <a:solidFill>
                  <a:srgbClr val="252525"/>
                </a:solidFill>
              </a:rPr>
              <a:t>. &lt;/description&gt;</a:t>
            </a:r>
          </a:p>
          <a:p>
            <a:r>
              <a:rPr lang="en-US" sz="3700">
                <a:solidFill>
                  <a:srgbClr val="252525"/>
                </a:solidFill>
              </a:rPr>
              <a:t>&lt;pubDate&gt;Thu, 27 Feb 2025 12:31:09 -0800&lt;/pubDate&gt;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Custom Applications and Bots may not be working as expected&lt;/</a:t>
            </a:r>
          </a:p>
        </p:txBody>
      </p:sp>
      <p:pic>
        <p:nvPicPr>
          <p:cNvPr name="Picture 54" id="54">
            <a:hlinkClick r:id="rId55"/>
          </p:cNvPr>
          <p:cNvPicPr>
            <a:picLocks noChangeAspect="true"/>
          </p:cNvPicPr>
          <p:nvPr/>
        </p:nvPicPr>
        <p:blipFill>
          <a:blip r:embed="rId54"/>
          <a:stretch>
            <a:fillRect/>
          </a:stretch>
        </p:blipFill>
        <p:spPr>
          <a:xfrm>
            <a:off x="6451600" y="2590800"/>
            <a:ext cx="10820400" cy="1714500"/>
          </a:xfrm>
          <a:prstGeom prst="rect">
            <a:avLst/>
          </a:prstGeom>
        </p:spPr>
      </p:pic>
      <p:pic>
        <p:nvPicPr>
          <p:cNvPr name="Picture 56" id="56">
            <a:hlinkClick r:id="rId57"/>
          </p:cNvPr>
          <p:cNvPicPr>
            <a:picLocks noChangeAspect="true"/>
          </p:cNvPicPr>
          <p:nvPr/>
        </p:nvPicPr>
        <p:blipFill>
          <a:blip r:embed="rId56"/>
          <a:stretch>
            <a:fillRect/>
          </a:stretch>
        </p:blipFill>
        <p:spPr>
          <a:xfrm>
            <a:off x="6451600" y="7543800"/>
            <a:ext cx="10820400" cy="1714500"/>
          </a:xfrm>
          <a:prstGeom prst="rect">
            <a:avLst/>
          </a:prstGeom>
        </p:spPr>
      </p:pic>
      <p:pic>
        <p:nvPicPr>
          <p:cNvPr name="Picture 58" id="58">
            <a:hlinkClick r:id="rId59"/>
          </p:cNvPr>
          <p:cNvPicPr>
            <a:picLocks noChangeAspect="true"/>
          </p:cNvPicPr>
          <p:nvPr/>
        </p:nvPicPr>
        <p:blipFill>
          <a:blip r:embed="rId58"/>
          <a:stretch>
            <a:fillRect/>
          </a:stretch>
        </p:blipFill>
        <p:spPr>
          <a:xfrm>
            <a:off x="6451600" y="10972800"/>
            <a:ext cx="10820400" cy="17145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title&gt;</a:t>
            </a:r>
          </a:p>
          <a:p>
            <a:r>
              <a:rPr lang="en-US" sz="3700">
                <a:solidFill>
                  <a:srgbClr val="252525"/>
                </a:solidFill>
              </a:rPr>
              <a:t>&lt;description&gt; From around 6:45 AM PST on February 26, 2025 to 8:30 AM PST on February 27, 2025, Slack users experienced issues with our Events API. Specifically, custom applications, integrations, and bots may not have worked as expected. Additionally, some users may have experienced issues with @mentioning Slack Connect channel members.This issue was a result of the mitigation measures we took while working to resolve a concurrent incident. To help us address the initial incident, we paused the Events API job queue and rate-limited a non-critical API endpoint that was generating an outsized load.&amp;nbsp;While the queue was paused, incoming Events API requests were placed in a backlog. Once we stabilized the database tier and restored critical Slack functionality, we 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2" id="62"/>
          <p:cNvPicPr>
            <a:picLocks noChangeAspect="true"/>
          </p:cNvPicPr>
          <p:nvPr/>
        </p:nvPicPr>
        <p:blipFill>
          <a:blip r:embed="rId62"/>
          <a:stretch>
            <a:fillRect/>
          </a:stretch>
        </p:blipFill>
        <p:spPr>
          <a:xfrm>
            <a:off x="0" y="127000"/>
            <a:ext cx="23749000" cy="16548100"/>
          </a:xfrm>
          <a:prstGeom prst="rect">
            <a:avLst/>
          </a:prstGeom>
        </p:spPr>
      </p:pic>
      <p:sp>
        <p:nvSpPr>
          <p:cNvPr name="TextBox 62" id="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enabled the Events API queue at around 11:27 PM PST on February 26, 2025. From this point onwards, all new events were processed as expected. We made the decision not to replay the backlogged events to avoid confusion over significantly delayed app responses, and to avoid a surge of queued events for both our own systems and those of third-party providers.&amp;nbsp;We continued working to address lingering issues with Slack Connect @mentions, fully resolving the incident for all impacted users at 8:30 AM PST on February 27, 2025. &lt;/description&gt;</a:t>
            </a:r>
          </a:p>
          <a:p>
            <a:r>
              <a:rPr lang="en-US" sz="3700">
                <a:solidFill>
                  <a:srgbClr val="252525"/>
                </a:solidFill>
              </a:rPr>
              <a:t>&lt;pubDate&gt;Tue, 11 Mar 2025 21:12:46 -0700&lt;/pubDate&gt;</a:t>
            </a:r>
          </a:p>
          <a:p>
            <a:r>
              <a:rPr lang="en-US" sz="3700">
                <a:solidFill>
                  <a:srgbClr val="252525"/>
                </a:solidFill>
              </a:rPr>
              <a:t>&lt;link&gt; </a:t>
            </a:r>
            <a:r>
              <a:rPr lang="en-US" sz="3700">
                <a:solidFill>
                  <a:srgbClr val="252525"/>
                </a:solidFill>
              </a:rPr>
              <a:t> &lt;/link&gt;</a:t>
            </a:r>
          </a:p>
        </p:txBody>
      </p:sp>
      <p:pic>
        <p:nvPicPr>
          <p:cNvPr name="Picture 64" id="64">
            <a:hlinkClick r:id="rId65"/>
          </p:cNvPr>
          <p:cNvPicPr>
            <a:picLocks noChangeAspect="true"/>
          </p:cNvPicPr>
          <p:nvPr/>
        </p:nvPicPr>
        <p:blipFill>
          <a:blip r:embed="rId64"/>
          <a:stretch>
            <a:fillRect/>
          </a:stretch>
        </p:blipFill>
        <p:spPr>
          <a:xfrm>
            <a:off x="6451600" y="13957300"/>
            <a:ext cx="10820400" cy="17145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6" id="66"/>
          <p:cNvPicPr>
            <a:picLocks noChangeAspect="true"/>
          </p:cNvPicPr>
          <p:nvPr/>
        </p:nvPicPr>
        <p:blipFill>
          <a:blip r:embed="rId66"/>
          <a:stretch>
            <a:fillRect/>
          </a:stretch>
        </p:blipFill>
        <p:spPr>
          <a:xfrm>
            <a:off x="0" y="127000"/>
            <a:ext cx="23749000" cy="16548100"/>
          </a:xfrm>
          <a:prstGeom prst="rect">
            <a:avLst/>
          </a:prstGeom>
        </p:spPr>
      </p:pic>
      <p:sp>
        <p:nvSpPr>
          <p:cNvPr name="TextBox 66" id="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Issues with Search in Slack&lt;/title&gt;</a:t>
            </a:r>
          </a:p>
          <a:p>
            <a:r>
              <a:rPr lang="en-US" sz="3700">
                <a:solidFill>
                  <a:srgbClr val="252525"/>
                </a:solidFill>
              </a:rPr>
              <a:t>&lt;description&gt; On March 10, 2025, from 12:47 PM PDT to 1:42 PM PDT, all users may have experienced issues with search in Slack. File, message, and channel searches did not return results, and the admin dashboard may not have loaded correctly.A misconfiguration in our search-related infrastructure caused queries to fail to resolve.To restore search behaviour, we scaled up our infrastructure and redirected incoming search requests to other servers. In parallel, we rolled back </a:t>
            </a:r>
          </a:p>
        </p:txBody>
      </p:sp>
      <p:pic>
        <p:nvPicPr>
          <p:cNvPr name="Picture 68" id="68">
            <a:hlinkClick r:id="rId69"/>
          </p:cNvPr>
          <p:cNvPicPr>
            <a:picLocks noChangeAspect="true"/>
          </p:cNvPicPr>
          <p:nvPr/>
        </p:nvPicPr>
        <p:blipFill>
          <a:blip r:embed="rId68"/>
          <a:stretch>
            <a:fillRect/>
          </a:stretch>
        </p:blipFill>
        <p:spPr>
          <a:xfrm>
            <a:off x="6451600" y="1841500"/>
            <a:ext cx="10820400" cy="1714500"/>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0" id="70"/>
          <p:cNvPicPr>
            <a:picLocks noChangeAspect="true"/>
          </p:cNvPicPr>
          <p:nvPr/>
        </p:nvPicPr>
        <p:blipFill>
          <a:blip r:embed="rId70"/>
          <a:stretch>
            <a:fillRect/>
          </a:stretch>
        </p:blipFill>
        <p:spPr>
          <a:xfrm>
            <a:off x="0" y="127000"/>
            <a:ext cx="23749000" cy="16548100"/>
          </a:xfrm>
          <a:prstGeom prst="rect">
            <a:avLst/>
          </a:prstGeom>
        </p:spPr>
      </p:pic>
      <p:sp>
        <p:nvSpPr>
          <p:cNvPr name="TextBox 70" id="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incorrect configuration on the impacted search server. Once this was complete, we verified that the affected search server was functioning normally once again. We resumed the flow of search traffic to this server, fully resolving the issue for all users. &lt;/description&gt;</a:t>
            </a:r>
          </a:p>
          <a:p>
            <a:r>
              <a:rPr lang="en-US" sz="3700">
                <a:solidFill>
                  <a:srgbClr val="252525"/>
                </a:solidFill>
              </a:rPr>
              <a:t>&lt;pubDate&gt;Mon, 10 Mar 2025 17:34:10 -0700&lt;/pubDate&gt;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Desktop app version </a:t>
            </a:r>
          </a:p>
        </p:txBody>
      </p:sp>
      <p:pic>
        <p:nvPicPr>
          <p:cNvPr name="Picture 72" id="72">
            <a:hlinkClick r:id="rId73"/>
          </p:cNvPr>
          <p:cNvPicPr>
            <a:picLocks noChangeAspect="true"/>
          </p:cNvPicPr>
          <p:nvPr/>
        </p:nvPicPr>
        <p:blipFill>
          <a:blip r:embed="rId72"/>
          <a:stretch>
            <a:fillRect/>
          </a:stretch>
        </p:blipFill>
        <p:spPr>
          <a:xfrm>
            <a:off x="6451600" y="8661400"/>
            <a:ext cx="10820400" cy="1714500"/>
          </a:xfrm>
          <a:prstGeom prst="rect">
            <a:avLst/>
          </a:prstGeom>
        </p:spPr>
      </p:pic>
      <p:pic>
        <p:nvPicPr>
          <p:cNvPr name="Picture 74" id="74">
            <a:hlinkClick r:id="rId75"/>
          </p:cNvPr>
          <p:cNvPicPr>
            <a:picLocks noChangeAspect="true"/>
          </p:cNvPicPr>
          <p:nvPr/>
        </p:nvPicPr>
        <p:blipFill>
          <a:blip r:embed="rId74"/>
          <a:stretch>
            <a:fillRect/>
          </a:stretch>
        </p:blipFill>
        <p:spPr>
          <a:xfrm>
            <a:off x="6451600" y="12090400"/>
            <a:ext cx="10820400" cy="1714500"/>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6" id="76"/>
          <p:cNvPicPr>
            <a:picLocks noChangeAspect="true"/>
          </p:cNvPicPr>
          <p:nvPr/>
        </p:nvPicPr>
        <p:blipFill>
          <a:blip r:embed="rId76"/>
          <a:stretch>
            <a:fillRect/>
          </a:stretch>
        </p:blipFill>
        <p:spPr>
          <a:xfrm>
            <a:off x="0" y="127000"/>
            <a:ext cx="23749000" cy="16548100"/>
          </a:xfrm>
          <a:prstGeom prst="rect">
            <a:avLst/>
          </a:prstGeom>
        </p:spPr>
      </p:pic>
      <p:sp>
        <p:nvSpPr>
          <p:cNvPr name="TextBox 76" id="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4.43.43 not loading for some users&lt;/title&gt;</a:t>
            </a:r>
          </a:p>
          <a:p>
            <a:r>
              <a:rPr lang="en-US" sz="3700">
                <a:solidFill>
                  <a:srgbClr val="252525"/>
                </a:solidFill>
              </a:rPr>
              <a:t>&lt;description&gt; On March 14, 2025 from 2:15 PM PDT to 3:22 PM PDT, users attempting to log into the Slack Desktop client and some users signing into the web client were unable to complete sign-in, and were seeing a blank purple screen.We discovered that a recent code change relating to our sign-in process was causing an incorrect API call which resulted in the inability to log in. We rolled back this code change, fixed the code, and redeployed, resolving the issue for all affected users. &lt;/description&gt;</a:t>
            </a:r>
          </a:p>
          <a:p>
            <a:r>
              <a:rPr lang="en-US" sz="3700">
                <a:solidFill>
                  <a:srgbClr val="252525"/>
                </a:solidFill>
              </a:rPr>
              <a:t>&lt;pubDate&gt;Fri, 14 Mar 2025 17:23:32 -0700&lt;/pubDate&gt;</a:t>
            </a:r>
          </a:p>
          <a:p>
            <a:r>
              <a:rPr lang="en-US" sz="3700">
                <a:solidFill>
                  <a:srgbClr val="252525"/>
                </a:solidFill>
              </a:rPr>
              <a:t>&lt;link&gt; </a:t>
            </a:r>
            <a:r>
              <a:rPr lang="en-US" sz="3700">
                <a:solidFill>
                  <a:srgbClr val="252525"/>
                </a:solidFill>
              </a:rPr>
              <a:t> &lt;/link&gt;</a:t>
            </a:r>
          </a:p>
        </p:txBody>
      </p:sp>
      <p:pic>
        <p:nvPicPr>
          <p:cNvPr name="Picture 78" id="78">
            <a:hlinkClick r:id="rId79"/>
          </p:cNvPr>
          <p:cNvPicPr>
            <a:picLocks noChangeAspect="true"/>
          </p:cNvPicPr>
          <p:nvPr/>
        </p:nvPicPr>
        <p:blipFill>
          <a:blip r:embed="rId78"/>
          <a:stretch>
            <a:fillRect/>
          </a:stretch>
        </p:blipFill>
        <p:spPr>
          <a:xfrm>
            <a:off x="6451600" y="13957300"/>
            <a:ext cx="10820400" cy="1714500"/>
          </a:xfrm>
          <a:prstGeom prst="rect">
            <a:avLst/>
          </a:prstGeom>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0" id="80"/>
          <p:cNvPicPr>
            <a:picLocks noChangeAspect="true"/>
          </p:cNvPicPr>
          <p:nvPr/>
        </p:nvPicPr>
        <p:blipFill>
          <a:blip r:embed="rId80"/>
          <a:stretch>
            <a:fillRect/>
          </a:stretch>
        </p:blipFill>
        <p:spPr>
          <a:xfrm>
            <a:off x="0" y="127000"/>
            <a:ext cx="23749000" cy="16548100"/>
          </a:xfrm>
          <a:prstGeom prst="rect">
            <a:avLst/>
          </a:prstGeom>
        </p:spPr>
      </p:pic>
      <p:sp>
        <p:nvSpPr>
          <p:cNvPr name="TextBox 80" id="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"Later" missing as a sidebar option for some users&lt;/title&gt;</a:t>
            </a:r>
          </a:p>
          <a:p>
            <a:r>
              <a:rPr lang="en-US" sz="3700">
                <a:solidFill>
                  <a:srgbClr val="252525"/>
                </a:solidFill>
              </a:rPr>
              <a:t>&lt;description&gt; From around 8:07 AM PDT until 10:58 AM PDT on March 19, 2025, some users on were unable to see the 'Later' option in their navigation bar after saving items. This option was also removed from under 'More' → 'Customize navigation bar'.We discovered that a backend feature toggle had an unexpected change made to it. This change impacted any user loading a Slack desktop client that was still dependent on the feature toggle. We reversed the change, restoring </a:t>
            </a:r>
          </a:p>
        </p:txBody>
      </p:sp>
      <p:pic>
        <p:nvPicPr>
          <p:cNvPr name="Picture 82" id="82">
            <a:hlinkClick r:id="rId83"/>
          </p:cNvPr>
          <p:cNvPicPr>
            <a:picLocks noChangeAspect="true"/>
          </p:cNvPicPr>
          <p:nvPr/>
        </p:nvPicPr>
        <p:blipFill>
          <a:blip r:embed="rId82"/>
          <a:stretch>
            <a:fillRect/>
          </a:stretch>
        </p:blipFill>
        <p:spPr>
          <a:xfrm>
            <a:off x="6451600" y="1841500"/>
            <a:ext cx="10820400" cy="1714500"/>
          </a:xfrm>
          <a:prstGeom prst="rect">
            <a:avLst/>
          </a:prstGeom>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4" id="84"/>
          <p:cNvPicPr>
            <a:picLocks noChangeAspect="true"/>
          </p:cNvPicPr>
          <p:nvPr/>
        </p:nvPicPr>
        <p:blipFill>
          <a:blip r:embed="rId84"/>
          <a:stretch>
            <a:fillRect/>
          </a:stretch>
        </p:blipFill>
        <p:spPr>
          <a:xfrm>
            <a:off x="0" y="127000"/>
            <a:ext cx="23749000" cy="16548100"/>
          </a:xfrm>
          <a:prstGeom prst="rect">
            <a:avLst/>
          </a:prstGeom>
        </p:spPr>
      </p:pic>
      <p:sp>
        <p:nvSpPr>
          <p:cNvPr name="TextBox 84" id="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functionality for all affected users.Any user that's still experiencing trouble should refresh their Slack app (by pressing Cmd/Ctrl + Shift + R). &lt;/description&gt;</a:t>
            </a:r>
          </a:p>
          <a:p>
            <a:r>
              <a:rPr lang="en-US" sz="3700">
                <a:solidFill>
                  <a:srgbClr val="252525"/>
                </a:solidFill>
              </a:rPr>
              <a:t>&lt;pubDate&gt;Wed, 19 Mar 2025 16:42:55 -0700&lt;/pubDate&gt;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Some users on iOS may have trouble loading channels and messages. &lt;/title&gt;</a:t>
            </a:r>
          </a:p>
          <a:p>
            <a:r>
              <a:rPr lang="en-US" sz="3700">
                <a:solidFill>
                  <a:srgbClr val="252525"/>
                </a:solidFill>
              </a:rPr>
              <a:t>&lt;description&gt; From 09:00 PDT on March </a:t>
            </a:r>
          </a:p>
        </p:txBody>
      </p:sp>
      <p:pic>
        <p:nvPicPr>
          <p:cNvPr name="Picture 86" id="86">
            <a:hlinkClick r:id="rId87"/>
          </p:cNvPr>
          <p:cNvPicPr>
            <a:picLocks noChangeAspect="true"/>
          </p:cNvPicPr>
          <p:nvPr/>
        </p:nvPicPr>
        <p:blipFill>
          <a:blip r:embed="rId86"/>
          <a:stretch>
            <a:fillRect/>
          </a:stretch>
        </p:blipFill>
        <p:spPr>
          <a:xfrm>
            <a:off x="6451600" y="6388100"/>
            <a:ext cx="10820400" cy="1714500"/>
          </a:xfrm>
          <a:prstGeom prst="rect">
            <a:avLst/>
          </a:prstGeom>
        </p:spPr>
      </p:pic>
      <p:pic>
        <p:nvPicPr>
          <p:cNvPr name="Picture 88" id="88">
            <a:hlinkClick r:id="rId89"/>
          </p:cNvPr>
          <p:cNvPicPr>
            <a:picLocks noChangeAspect="true"/>
          </p:cNvPicPr>
          <p:nvPr/>
        </p:nvPicPr>
        <p:blipFill>
          <a:blip r:embed="rId88"/>
          <a:stretch>
            <a:fillRect/>
          </a:stretch>
        </p:blipFill>
        <p:spPr>
          <a:xfrm>
            <a:off x="6451600" y="9817100"/>
            <a:ext cx="10820400" cy="1714500"/>
          </a:xfrm>
          <a:prstGeom prst="rect">
            <a:avLst/>
          </a:prstGeom>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0" id="90"/>
          <p:cNvPicPr>
            <a:picLocks noChangeAspect="true"/>
          </p:cNvPicPr>
          <p:nvPr/>
        </p:nvPicPr>
        <p:blipFill>
          <a:blip r:embed="rId90"/>
          <a:stretch>
            <a:fillRect/>
          </a:stretch>
        </p:blipFill>
        <p:spPr>
          <a:xfrm>
            <a:off x="0" y="127000"/>
            <a:ext cx="23749000" cy="16548100"/>
          </a:xfrm>
          <a:prstGeom prst="rect">
            <a:avLst/>
          </a:prstGeom>
        </p:spPr>
      </p:pic>
      <p:sp>
        <p:nvSpPr>
          <p:cNvPr name="TextBox 90" id="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14th, 2025 to 12:43 PDT on March 20th, 2025, some users reported slowness or blank loading screens while accessing Slack channels on iOS devices.&amp;nbsp;We investigated and found that a backend feature toggle had unexpected changes made to it which impacted users who were part of a large amount of channels. We made the necessary backend updates for those affected, which restored full functionality for all impacted users. &lt;/description&gt;</a:t>
            </a:r>
          </a:p>
          <a:p>
            <a:r>
              <a:rPr lang="en-US" sz="3700">
                <a:solidFill>
                  <a:srgbClr val="252525"/>
                </a:solidFill>
              </a:rPr>
              <a:t>&lt;pubDate&gt;Mon, 24 Mar 2025 05:24:53 -0700&lt;/pubDate&gt;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p>
        </p:txBody>
      </p:sp>
      <p:pic>
        <p:nvPicPr>
          <p:cNvPr name="Picture 92" id="92">
            <a:hlinkClick r:id="rId93"/>
          </p:cNvPr>
          <p:cNvPicPr>
            <a:picLocks noChangeAspect="true"/>
          </p:cNvPicPr>
          <p:nvPr/>
        </p:nvPicPr>
        <p:blipFill>
          <a:blip r:embed="rId92"/>
          <a:stretch>
            <a:fillRect/>
          </a:stretch>
        </p:blipFill>
        <p:spPr>
          <a:xfrm>
            <a:off x="6451600" y="12446000"/>
            <a:ext cx="10820400" cy="1714500"/>
          </a:xfrm>
          <a:prstGeom prst="rect">
            <a:avLst/>
          </a:prstGeom>
        </p:spPr>
      </p:pic>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4" id="94"/>
          <p:cNvPicPr>
            <a:picLocks noChangeAspect="true"/>
          </p:cNvPicPr>
          <p:nvPr/>
        </p:nvPicPr>
        <p:blipFill>
          <a:blip r:embed="rId94"/>
          <a:stretch>
            <a:fillRect/>
          </a:stretch>
        </p:blipFill>
        <p:spPr>
          <a:xfrm>
            <a:off x="0" y="127000"/>
            <a:ext cx="23749000" cy="16548100"/>
          </a:xfrm>
          <a:prstGeom prst="rect">
            <a:avLst/>
          </a:prstGeom>
        </p:spPr>
      </p:pic>
      <p:sp>
        <p:nvSpPr>
          <p:cNvPr name="TextBox 94" id="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Issues with some login emails&lt;/title&gt;</a:t>
            </a:r>
          </a:p>
          <a:p>
            <a:r>
              <a:rPr lang="en-US" sz="3700">
                <a:solidFill>
                  <a:srgbClr val="252525"/>
                </a:solidFill>
              </a:rPr>
              <a:t>&lt;description&gt; From Tuesday, March 25, 2025 at 3:00 AM PDT to April 3, 2025 9:00 AM PDT, some users did not receive emails containing sign-in codes or magic links, or these emails were incorrectly routed to their spam folder.A third-party email provider made a change to their spam detection models that inadvertently affected these emails. The third-party provider assisted us by updating their spam detection models and all affected Slack emails are now being delivered correctly. &lt;/description&gt;</a:t>
            </a:r>
          </a:p>
        </p:txBody>
      </p:sp>
      <p:pic>
        <p:nvPicPr>
          <p:cNvPr name="Picture 96" id="96">
            <a:hlinkClick r:id="rId97"/>
          </p:cNvPr>
          <p:cNvPicPr>
            <a:picLocks noChangeAspect="true"/>
          </p:cNvPicPr>
          <p:nvPr/>
        </p:nvPicPr>
        <p:blipFill>
          <a:blip r:embed="rId96"/>
          <a:stretch>
            <a:fillRect/>
          </a:stretch>
        </p:blipFill>
        <p:spPr>
          <a:xfrm>
            <a:off x="6451600" y="317500"/>
            <a:ext cx="10820400" cy="1714500"/>
          </a:xfrm>
          <a:prstGeom prst="rect">
            <a:avLst/>
          </a:prstGeom>
        </p:spPr>
      </p:pic>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8" id="98"/>
          <p:cNvPicPr>
            <a:picLocks noChangeAspect="true"/>
          </p:cNvPicPr>
          <p:nvPr/>
        </p:nvPicPr>
        <p:blipFill>
          <a:blip r:embed="rId98"/>
          <a:stretch>
            <a:fillRect/>
          </a:stretch>
        </p:blipFill>
        <p:spPr>
          <a:xfrm>
            <a:off x="0" y="127000"/>
            <a:ext cx="23749000" cy="16548100"/>
          </a:xfrm>
          <a:prstGeom prst="rect">
            <a:avLst/>
          </a:prstGeom>
        </p:spPr>
      </p:pic>
      <p:sp>
        <p:nvSpPr>
          <p:cNvPr name="TextBox 98" id="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&lt;pubDate&gt;Thu, 03 Apr 2025 18:46:12 -0700&lt;/pubDate&gt;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Issues receiving emails from Slack&lt;/title&gt;</a:t>
            </a:r>
          </a:p>
          <a:p>
            <a:r>
              <a:rPr lang="en-US" sz="3700">
                <a:solidFill>
                  <a:srgbClr val="252525"/>
                </a:solidFill>
              </a:rPr>
              <a:t>&lt;description&gt; From 11:00 PM PDT on April 12, 2025 to 9:20 AM PDT on April 13, 2025, some users may have had issues receiving emails from Slack, such as password reset or two-factor authentication (2FA) emails.Part of our email delivery </a:t>
            </a:r>
          </a:p>
        </p:txBody>
      </p:sp>
      <p:pic>
        <p:nvPicPr>
          <p:cNvPr name="Picture 100" id="100">
            <a:hlinkClick r:id="rId101"/>
          </p:cNvPr>
          <p:cNvPicPr>
            <a:picLocks noChangeAspect="true"/>
          </p:cNvPicPr>
          <p:nvPr/>
        </p:nvPicPr>
        <p:blipFill>
          <a:blip r:embed="rId100"/>
          <a:stretch>
            <a:fillRect/>
          </a:stretch>
        </p:blipFill>
        <p:spPr>
          <a:xfrm>
            <a:off x="6451600" y="2590800"/>
            <a:ext cx="10820400" cy="1714500"/>
          </a:xfrm>
          <a:prstGeom prst="rect">
            <a:avLst/>
          </a:prstGeom>
        </p:spPr>
      </p:pic>
      <p:pic>
        <p:nvPicPr>
          <p:cNvPr name="Picture 102" id="102">
            <a:hlinkClick r:id="rId103"/>
          </p:cNvPr>
          <p:cNvPicPr>
            <a:picLocks noChangeAspect="true"/>
          </p:cNvPicPr>
          <p:nvPr/>
        </p:nvPicPr>
        <p:blipFill>
          <a:blip r:embed="rId102"/>
          <a:stretch>
            <a:fillRect/>
          </a:stretch>
        </p:blipFill>
        <p:spPr>
          <a:xfrm>
            <a:off x="6451600" y="6019800"/>
            <a:ext cx="10820400" cy="1714500"/>
          </a:xfrm>
          <a:prstGeom prst="rect">
            <a:avLst/>
          </a:prstGeom>
        </p:spPr>
      </p:pic>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4" id="104"/>
          <p:cNvPicPr>
            <a:picLocks noChangeAspect="true"/>
          </p:cNvPicPr>
          <p:nvPr/>
        </p:nvPicPr>
        <p:blipFill>
          <a:blip r:embed="rId104"/>
          <a:stretch>
            <a:fillRect/>
          </a:stretch>
        </p:blipFill>
        <p:spPr>
          <a:xfrm>
            <a:off x="0" y="127000"/>
            <a:ext cx="23749000" cy="16548100"/>
          </a:xfrm>
          <a:prstGeom prst="rect">
            <a:avLst/>
          </a:prstGeom>
        </p:spPr>
      </p:pic>
      <p:sp>
        <p:nvSpPr>
          <p:cNvPr name="TextBox 104" id="1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infrastructure became temporarily overloaded. We restarted the impacted server and appointed a new server to handle delivery in its place. This restored normal email delivery rates, resolving the issue for all impacted users.&amp;nbsp; &lt;/description&gt;</a:t>
            </a:r>
          </a:p>
          <a:p>
            <a:r>
              <a:rPr lang="en-US" sz="3700">
                <a:solidFill>
                  <a:srgbClr val="252525"/>
                </a:solidFill>
              </a:rPr>
              <a:t>&lt;pubDate&gt;Sun, 13 Apr 2025 21:31:27 -0700&lt;/pubDate&gt;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loading some </a:t>
            </a:r>
          </a:p>
        </p:txBody>
      </p:sp>
      <p:pic>
        <p:nvPicPr>
          <p:cNvPr name="Picture 106" id="106">
            <a:hlinkClick r:id="rId107"/>
          </p:cNvPr>
          <p:cNvPicPr>
            <a:picLocks noChangeAspect="true"/>
          </p:cNvPicPr>
          <p:nvPr/>
        </p:nvPicPr>
        <p:blipFill>
          <a:blip r:embed="rId106"/>
          <a:stretch>
            <a:fillRect/>
          </a:stretch>
        </p:blipFill>
        <p:spPr>
          <a:xfrm>
            <a:off x="6451600" y="7899400"/>
            <a:ext cx="10820400" cy="1714500"/>
          </a:xfrm>
          <a:prstGeom prst="rect">
            <a:avLst/>
          </a:prstGeom>
        </p:spPr>
      </p:pic>
      <p:pic>
        <p:nvPicPr>
          <p:cNvPr name="Picture 108" id="108">
            <a:hlinkClick r:id="rId109"/>
          </p:cNvPr>
          <p:cNvPicPr>
            <a:picLocks noChangeAspect="true"/>
          </p:cNvPicPr>
          <p:nvPr/>
        </p:nvPicPr>
        <p:blipFill>
          <a:blip r:embed="rId108"/>
          <a:stretch>
            <a:fillRect/>
          </a:stretch>
        </p:blipFill>
        <p:spPr>
          <a:xfrm>
            <a:off x="6451600" y="11328400"/>
            <a:ext cx="10820400" cy="1714500"/>
          </a:xfrm>
          <a:prstGeom prst="rect">
            <a:avLst/>
          </a:prstGeom>
        </p:spPr>
      </p:pic>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0" id="110"/>
          <p:cNvPicPr>
            <a:picLocks noChangeAspect="true"/>
          </p:cNvPicPr>
          <p:nvPr/>
        </p:nvPicPr>
        <p:blipFill>
          <a:blip r:embed="rId110"/>
          <a:stretch>
            <a:fillRect/>
          </a:stretch>
        </p:blipFill>
        <p:spPr>
          <a:xfrm>
            <a:off x="0" y="127000"/>
            <a:ext cx="23749000" cy="16548100"/>
          </a:xfrm>
          <a:prstGeom prst="rect">
            <a:avLst/>
          </a:prstGeom>
        </p:spPr>
      </p:pic>
      <p:sp>
        <p:nvSpPr>
          <p:cNvPr name="TextBox 110" id="1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elements (images, files, &amp; other media) on slack.com pages and on the Slack app&lt;/title&gt;</a:t>
            </a:r>
          </a:p>
          <a:p>
            <a:r>
              <a:rPr lang="en-US" sz="3700">
                <a:solidFill>
                  <a:srgbClr val="252525"/>
                </a:solidFill>
              </a:rPr>
              <a:t>&lt;description&gt; On April 14, 2025, from 12:54 PM PDT to 3:32 PM PDT, users may have experienced issues with elements such as images, icons, buttons, and other media not loading properly or displaying incorrectly in Slack and on slack.com (including admin pages).We traced this back to a recent code change that unexpectedly introduced styling issues for certain web &amp;amp; client elements. We reverted the problematic code and rolled out a forward fix, resolving the issue for all affected users. &lt;/description&gt;</a:t>
            </a:r>
          </a:p>
          <a:p>
            <a:r>
              <a:rPr lang="en-US" sz="3700">
                <a:solidFill>
                  <a:srgbClr val="252525"/>
                </a:solidFill>
              </a:rPr>
              <a:t>&lt;pubDate&gt;Mon, 14 Apr 2025 16:50:39 -0700&lt;/pubDate&gt;</a:t>
            </a:r>
          </a:p>
          <a:p>
            <a:r>
              <a:rPr lang="en-US" sz="3700">
                <a:solidFill>
                  <a:srgbClr val="252525"/>
                </a:solidFill>
              </a:rPr>
              <a:t>&lt;link&gt;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2" id="112"/>
          <p:cNvPicPr>
            <a:picLocks noChangeAspect="true"/>
          </p:cNvPicPr>
          <p:nvPr/>
        </p:nvPicPr>
        <p:blipFill>
          <a:blip r:embed="rId112"/>
          <a:stretch>
            <a:fillRect/>
          </a:stretch>
        </p:blipFill>
        <p:spPr>
          <a:xfrm>
            <a:off x="0" y="127000"/>
            <a:ext cx="23749000" cy="16548100"/>
          </a:xfrm>
          <a:prstGeom prst="rect">
            <a:avLst/>
          </a:prstGeom>
        </p:spPr>
      </p:pic>
      <p:sp>
        <p:nvSpPr>
          <p:cNvPr name="TextBox 112" id="1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&lt;title&gt;Notice: Trouble with the Zoom integration in Slack&lt;/title&gt;</a:t>
            </a:r>
          </a:p>
          <a:p>
            <a:r>
              <a:rPr lang="en-US" sz="3700">
                <a:solidFill>
                  <a:srgbClr val="252525"/>
                </a:solidFill>
              </a:rPr>
              <a:t>&lt;description&gt; We've determined the cause of the trouble with the Zoom integration in Slack is related to an upstream provider issue. Some users may be able to use the integration successfully once again.&amp;nbsp;You can follow along for updates directly here: </a:t>
            </a:r>
          </a:p>
        </p:txBody>
      </p:sp>
      <p:pic>
        <p:nvPicPr>
          <p:cNvPr name="Picture 114" id="114">
            <a:hlinkClick r:id="rId115"/>
          </p:cNvPr>
          <p:cNvPicPr>
            <a:picLocks noChangeAspect="true"/>
          </p:cNvPicPr>
          <p:nvPr/>
        </p:nvPicPr>
        <p:blipFill>
          <a:blip r:embed="rId114"/>
          <a:stretch>
            <a:fillRect/>
          </a:stretch>
        </p:blipFill>
        <p:spPr>
          <a:xfrm>
            <a:off x="6451600" y="317500"/>
            <a:ext cx="10820400" cy="1714500"/>
          </a:xfrm>
          <a:prstGeom prst="rect">
            <a:avLst/>
          </a:prstGeom>
        </p:spPr>
      </p:pic>
      <p:pic>
        <p:nvPicPr>
          <p:cNvPr name="Picture 116" id="116">
            <a:hlinkClick r:id="rId117"/>
          </p:cNvPr>
          <p:cNvPicPr>
            <a:picLocks noChangeAspect="true"/>
          </p:cNvPicPr>
          <p:nvPr/>
        </p:nvPicPr>
        <p:blipFill>
          <a:blip r:embed="rId116"/>
          <a:stretch>
            <a:fillRect/>
          </a:stretch>
        </p:blipFill>
        <p:spPr>
          <a:xfrm>
            <a:off x="6451600" y="3746500"/>
            <a:ext cx="10820400" cy="1714500"/>
          </a:xfrm>
          <a:prstGeom prst="rect">
            <a:avLst/>
          </a:prstGeom>
        </p:spPr>
      </p:pic>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8" id="118"/>
          <p:cNvPicPr>
            <a:picLocks noChangeAspect="true"/>
          </p:cNvPicPr>
          <p:nvPr/>
        </p:nvPicPr>
        <p:blipFill>
          <a:blip r:embed="rId118"/>
          <a:stretch>
            <a:fillRect/>
          </a:stretch>
        </p:blipFill>
        <p:spPr>
          <a:xfrm>
            <a:off x="0" y="127000"/>
            <a:ext cx="23749000" cy="16548100"/>
          </a:xfrm>
          <a:prstGeom prst="rect">
            <a:avLst/>
          </a:prstGeom>
        </p:spPr>
      </p:pic>
      <p:sp>
        <p:nvSpPr>
          <p:cNvPr name="TextBox 118" id="1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Thank you for your patience. &lt;/description&gt;</a:t>
            </a:r>
          </a:p>
          <a:p>
            <a:r>
              <a:rPr lang="en-US" sz="3700">
                <a:solidFill>
                  <a:srgbClr val="252525"/>
                </a:solidFill>
              </a:rPr>
              <a:t>&lt;pubDate&gt;Wed, 16 Apr 2025 14:09:24 -0700&lt;/pubDate&gt;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Cannot take action on the Manage Members page&lt;/title&gt;</a:t>
            </a:r>
          </a:p>
          <a:p>
            <a:r>
              <a:rPr lang="en-US" sz="3700">
                <a:solidFill>
                  <a:srgbClr val="252525"/>
                </a:solidFill>
              </a:rPr>
              <a:t>&lt;description&gt; On April 28, 2025 between </a:t>
            </a:r>
          </a:p>
        </p:txBody>
      </p:sp>
      <p:pic>
        <p:nvPicPr>
          <p:cNvPr name="Picture 120" id="120">
            <a:hlinkClick r:id="rId121"/>
          </p:cNvPr>
          <p:cNvPicPr>
            <a:picLocks noChangeAspect="true"/>
          </p:cNvPicPr>
          <p:nvPr/>
        </p:nvPicPr>
        <p:blipFill>
          <a:blip r:embed="rId120"/>
          <a:stretch>
            <a:fillRect/>
          </a:stretch>
        </p:blipFill>
        <p:spPr>
          <a:xfrm>
            <a:off x="6451600" y="317500"/>
            <a:ext cx="10820400" cy="1714500"/>
          </a:xfrm>
          <a:prstGeom prst="rect">
            <a:avLst/>
          </a:prstGeom>
        </p:spPr>
      </p:pic>
      <p:pic>
        <p:nvPicPr>
          <p:cNvPr name="Picture 122" id="122">
            <a:hlinkClick r:id="rId123"/>
          </p:cNvPr>
          <p:cNvPicPr>
            <a:picLocks noChangeAspect="true"/>
          </p:cNvPicPr>
          <p:nvPr/>
        </p:nvPicPr>
        <p:blipFill>
          <a:blip r:embed="rId122"/>
          <a:stretch>
            <a:fillRect/>
          </a:stretch>
        </p:blipFill>
        <p:spPr>
          <a:xfrm>
            <a:off x="6451600" y="6019800"/>
            <a:ext cx="10820400" cy="1714500"/>
          </a:xfrm>
          <a:prstGeom prst="rect">
            <a:avLst/>
          </a:prstGeom>
        </p:spPr>
      </p:pic>
      <p:pic>
        <p:nvPicPr>
          <p:cNvPr name="Picture 124" id="124">
            <a:hlinkClick r:id="rId125"/>
          </p:cNvPr>
          <p:cNvPicPr>
            <a:picLocks noChangeAspect="true"/>
          </p:cNvPicPr>
          <p:nvPr/>
        </p:nvPicPr>
        <p:blipFill>
          <a:blip r:embed="rId124"/>
          <a:stretch>
            <a:fillRect/>
          </a:stretch>
        </p:blipFill>
        <p:spPr>
          <a:xfrm>
            <a:off x="6451600" y="9448800"/>
            <a:ext cx="10820400" cy="1714500"/>
          </a:xfrm>
          <a:prstGeom prst="rect">
            <a:avLst/>
          </a:prstGeom>
        </p:spPr>
      </p:pic>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6" id="126"/>
          <p:cNvPicPr>
            <a:picLocks noChangeAspect="true"/>
          </p:cNvPicPr>
          <p:nvPr/>
        </p:nvPicPr>
        <p:blipFill>
          <a:blip r:embed="rId126"/>
          <a:stretch>
            <a:fillRect/>
          </a:stretch>
        </p:blipFill>
        <p:spPr>
          <a:xfrm>
            <a:off x="0" y="127000"/>
            <a:ext cx="23749000" cy="16548100"/>
          </a:xfrm>
          <a:prstGeom prst="rect">
            <a:avLst/>
          </a:prstGeom>
        </p:spPr>
      </p:pic>
      <p:sp>
        <p:nvSpPr>
          <p:cNvPr name="TextBox 126" id="1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12:48 PM PDT and 1:38 PM PDT, some users encountered an issue where they were unable to take action on member accounts via the ⋯ menu on the Manage Members page in the admin dashboard.A recent code change relating to the Manage Members page referenced a backend feature toggle that was disabled, resulting in the broken page functionality. We immediately corrected the code reference, resolving the issue for all affected users. &lt;/description&gt;</a:t>
            </a:r>
          </a:p>
          <a:p>
            <a:r>
              <a:rPr lang="en-US" sz="3700">
                <a:solidFill>
                  <a:srgbClr val="252525"/>
                </a:solidFill>
              </a:rPr>
              <a:t>&lt;pubDate&gt;Mon, 28 Apr 2025 15:04:55 -0700&lt;/pubDate&gt;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p>
        </p:txBody>
      </p:sp>
      <p:pic>
        <p:nvPicPr>
          <p:cNvPr name="Picture 128" id="128">
            <a:hlinkClick r:id="rId129"/>
          </p:cNvPr>
          <p:cNvPicPr>
            <a:picLocks noChangeAspect="true"/>
          </p:cNvPicPr>
          <p:nvPr/>
        </p:nvPicPr>
        <p:blipFill>
          <a:blip r:embed="rId128"/>
          <a:stretch>
            <a:fillRect/>
          </a:stretch>
        </p:blipFill>
        <p:spPr>
          <a:xfrm>
            <a:off x="6451600" y="11684000"/>
            <a:ext cx="10820400" cy="1714500"/>
          </a:xfrm>
          <a:prstGeom prst="rect">
            <a:avLst/>
          </a:prstGeom>
        </p:spPr>
      </p:pic>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0" id="130"/>
          <p:cNvPicPr>
            <a:picLocks noChangeAspect="true"/>
          </p:cNvPicPr>
          <p:nvPr/>
        </p:nvPicPr>
        <p:blipFill>
          <a:blip r:embed="rId130"/>
          <a:stretch>
            <a:fillRect/>
          </a:stretch>
        </p:blipFill>
        <p:spPr>
          <a:xfrm>
            <a:off x="0" y="127000"/>
            <a:ext cx="23749000" cy="16548100"/>
          </a:xfrm>
          <a:prstGeom prst="rect">
            <a:avLst/>
          </a:prstGeom>
        </p:spPr>
      </p:pic>
      <p:sp>
        <p:nvSpPr>
          <p:cNvPr name="TextBox 130" id="1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Some users may be having trouble with the Later tab on the desktop app and browser.&lt;/title&gt;</a:t>
            </a:r>
          </a:p>
          <a:p>
            <a:r>
              <a:rPr lang="en-US" sz="3700">
                <a:solidFill>
                  <a:srgbClr val="252525"/>
                </a:solidFill>
              </a:rPr>
              <a:t>&lt;description&gt; On May 2, 2025 from 4:34 PM PDT to May 5th, 2025 at 12:24 PM PDT, users may have had trouble switching to the Archived or the Completed views of the Later tab, as well as problems marking their items as archived or completed.We made a code change that inadvertently prevented state changes for Later items. We rolled back this change, restoring full functionality to this feature. &lt;/description&gt;</a:t>
            </a:r>
          </a:p>
          <a:p>
            <a:r>
              <a:rPr lang="en-US" sz="3700">
                <a:solidFill>
                  <a:srgbClr val="252525"/>
                </a:solidFill>
              </a:rPr>
              <a:t>&lt;pubDate&gt;Tue, 06 May 2025 17:01:41 -0700&lt;/pubDate&gt;</a:t>
            </a:r>
          </a:p>
        </p:txBody>
      </p:sp>
      <p:pic>
        <p:nvPicPr>
          <p:cNvPr name="Picture 132" id="132">
            <a:hlinkClick r:id="rId133"/>
          </p:cNvPr>
          <p:cNvPicPr>
            <a:picLocks noChangeAspect="true"/>
          </p:cNvPicPr>
          <p:nvPr/>
        </p:nvPicPr>
        <p:blipFill>
          <a:blip r:embed="rId132"/>
          <a:stretch>
            <a:fillRect/>
          </a:stretch>
        </p:blipFill>
        <p:spPr>
          <a:xfrm>
            <a:off x="6451600" y="317500"/>
            <a:ext cx="10820400" cy="1714500"/>
          </a:xfrm>
          <a:prstGeom prst="rect">
            <a:avLst/>
          </a:prstGeom>
        </p:spPr>
      </p:pic>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4" id="134"/>
          <p:cNvPicPr>
            <a:picLocks noChangeAspect="true"/>
          </p:cNvPicPr>
          <p:nvPr/>
        </p:nvPicPr>
        <p:blipFill>
          <a:blip r:embed="rId134"/>
          <a:stretch>
            <a:fillRect/>
          </a:stretch>
        </p:blipFill>
        <p:spPr>
          <a:xfrm>
            <a:off x="0" y="127000"/>
            <a:ext cx="23749000" cy="16548100"/>
          </a:xfrm>
          <a:prstGeom prst="rect">
            <a:avLst/>
          </a:prstGeom>
        </p:spPr>
      </p:pic>
      <p:sp>
        <p:nvSpPr>
          <p:cNvPr name="TextBox 134" id="1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Issues sending messages and loading the Threads view&lt;/title&gt;</a:t>
            </a:r>
          </a:p>
          <a:p>
            <a:r>
              <a:rPr lang="en-US" sz="3700">
                <a:solidFill>
                  <a:srgbClr val="252525"/>
                </a:solidFill>
              </a:rPr>
              <a:t>&lt;description&gt; On May 5, 2025 from 2:41 PM PDT until 10:31 PM PDT, users experienced issues affecting message sending and Threads functionality. The issues stemmed from a code change that incorrectly routed database queries to primary servers instead of replicas, causing instability in our database </a:t>
            </a:r>
          </a:p>
        </p:txBody>
      </p:sp>
      <p:pic>
        <p:nvPicPr>
          <p:cNvPr name="Picture 136" id="136">
            <a:hlinkClick r:id="rId137"/>
          </p:cNvPr>
          <p:cNvPicPr>
            <a:picLocks noChangeAspect="true"/>
          </p:cNvPicPr>
          <p:nvPr/>
        </p:nvPicPr>
        <p:blipFill>
          <a:blip r:embed="rId136"/>
          <a:stretch>
            <a:fillRect/>
          </a:stretch>
        </p:blipFill>
        <p:spPr>
          <a:xfrm>
            <a:off x="6451600" y="1079500"/>
            <a:ext cx="10820400" cy="1714500"/>
          </a:xfrm>
          <a:prstGeom prst="rect">
            <a:avLst/>
          </a:prstGeom>
        </p:spPr>
      </p:pic>
      <p:pic>
        <p:nvPicPr>
          <p:cNvPr name="Picture 138" id="138">
            <a:hlinkClick r:id="rId139"/>
          </p:cNvPr>
          <p:cNvPicPr>
            <a:picLocks noChangeAspect="true"/>
          </p:cNvPicPr>
          <p:nvPr/>
        </p:nvPicPr>
        <p:blipFill>
          <a:blip r:embed="rId138"/>
          <a:stretch>
            <a:fillRect/>
          </a:stretch>
        </p:blipFill>
        <p:spPr>
          <a:xfrm>
            <a:off x="6451600" y="4508500"/>
            <a:ext cx="10820400" cy="1714500"/>
          </a:xfrm>
          <a:prstGeom prst="rect">
            <a:avLst/>
          </a:prstGeom>
        </p:spPr>
      </p:pic>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0" id="140"/>
          <p:cNvPicPr>
            <a:picLocks noChangeAspect="true"/>
          </p:cNvPicPr>
          <p:nvPr/>
        </p:nvPicPr>
        <p:blipFill>
          <a:blip r:embed="rId140"/>
          <a:stretch>
            <a:fillRect/>
          </a:stretch>
        </p:blipFill>
        <p:spPr>
          <a:xfrm>
            <a:off x="0" y="127000"/>
            <a:ext cx="23749000" cy="16548100"/>
          </a:xfrm>
          <a:prstGeom prst="rect">
            <a:avLst/>
          </a:prstGeom>
        </p:spPr>
      </p:pic>
      <p:sp>
        <p:nvSpPr>
          <p:cNvPr name="TextBox 140" id="1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infrastructure.The incident was automatically detected when our database management system encountered issues with its operations. Our engineering teams identified the root cause and implemented a fix by reverting the problematic code change. Service was fully restored after the code reversion.We apologise for any disruption this may have caused. &lt;/description&gt;</a:t>
            </a:r>
          </a:p>
          <a:p>
            <a:r>
              <a:rPr lang="en-US" sz="3700">
                <a:solidFill>
                  <a:srgbClr val="252525"/>
                </a:solidFill>
              </a:rPr>
              <a:t>&lt;pubDate&gt;Tue, 06 May 2025 02:35:26 -0700&lt;/pubDate&gt;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p:txBody>
      </p:sp>
      <p:pic>
        <p:nvPicPr>
          <p:cNvPr name="Picture 142" id="142">
            <a:hlinkClick r:id="rId143"/>
          </p:cNvPr>
          <p:cNvPicPr>
            <a:picLocks noChangeAspect="true"/>
          </p:cNvPicPr>
          <p:nvPr/>
        </p:nvPicPr>
        <p:blipFill>
          <a:blip r:embed="rId142"/>
          <a:stretch>
            <a:fillRect/>
          </a:stretch>
        </p:blipFill>
        <p:spPr>
          <a:xfrm>
            <a:off x="6451600" y="10172700"/>
            <a:ext cx="10820400" cy="1714500"/>
          </a:xfrm>
          <a:prstGeom prst="rect">
            <a:avLst/>
          </a:prstGeom>
        </p:spPr>
      </p:pic>
      <p:pic>
        <p:nvPicPr>
          <p:cNvPr name="Picture 144" id="144">
            <a:hlinkClick r:id="rId145"/>
          </p:cNvPr>
          <p:cNvPicPr>
            <a:picLocks noChangeAspect="true"/>
          </p:cNvPicPr>
          <p:nvPr/>
        </p:nvPicPr>
        <p:blipFill>
          <a:blip r:embed="rId144"/>
          <a:stretch>
            <a:fillRect/>
          </a:stretch>
        </p:blipFill>
        <p:spPr>
          <a:xfrm>
            <a:off x="6451600" y="13601700"/>
            <a:ext cx="10820400" cy="1714500"/>
          </a:xfrm>
          <a:prstGeom prst="rect">
            <a:avLst/>
          </a:prstGeom>
        </p:spPr>
      </p:pic>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6" id="146"/>
          <p:cNvPicPr>
            <a:picLocks noChangeAspect="true"/>
          </p:cNvPicPr>
          <p:nvPr/>
        </p:nvPicPr>
        <p:blipFill>
          <a:blip r:embed="rId146"/>
          <a:stretch>
            <a:fillRect/>
          </a:stretch>
        </p:blipFill>
        <p:spPr>
          <a:xfrm>
            <a:off x="0" y="127000"/>
            <a:ext cx="23749000" cy="16548100"/>
          </a:xfrm>
          <a:prstGeom prst="rect">
            <a:avLst/>
          </a:prstGeom>
        </p:spPr>
      </p:pic>
      <p:sp>
        <p:nvSpPr>
          <p:cNvPr name="TextBox 146" id="1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Some users are not receiving notifications for channel messages or DMs when the channel or DM is open&lt;/title&gt;</a:t>
            </a:r>
          </a:p>
          <a:p>
            <a:r>
              <a:rPr lang="en-US" sz="3700">
                <a:solidFill>
                  <a:srgbClr val="252525"/>
                </a:solidFill>
              </a:rPr>
              <a:t>&lt;description&gt; From May 5, 2025 at around 8:22 AM PDT until May 7, 2025 at 10:36 AM PDT, users may have experienced missing notifications in open channels and direct messages.We traced this issue to a recent code change that incorrectly set the window focus state. As a result, Slack mistakenly treated some windows as active which prevented notifications from triggering as expected. The underlying bug in the focus state logic was corrected, restoring normal notification behavior for all affected users.If you are still experiencing issues, please refresh your Slack app using Cmd + Shift + R (Mac) or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8" id="148"/>
          <p:cNvPicPr>
            <a:picLocks noChangeAspect="true"/>
          </p:cNvPicPr>
          <p:nvPr/>
        </p:nvPicPr>
        <p:blipFill>
          <a:blip r:embed="rId148"/>
          <a:stretch>
            <a:fillRect/>
          </a:stretch>
        </p:blipFill>
        <p:spPr>
          <a:xfrm>
            <a:off x="0" y="127000"/>
            <a:ext cx="23749000" cy="16548100"/>
          </a:xfrm>
          <a:prstGeom prst="rect">
            <a:avLst/>
          </a:prstGeom>
        </p:spPr>
      </p:pic>
      <p:sp>
        <p:nvSpPr>
          <p:cNvPr name="TextBox 148" id="1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Ctrl + Shift + R (Windows/Linux). &lt;/description&gt;</a:t>
            </a:r>
          </a:p>
          <a:p>
            <a:r>
              <a:rPr lang="en-US" sz="3700">
                <a:solidFill>
                  <a:srgbClr val="252525"/>
                </a:solidFill>
              </a:rPr>
              <a:t>&lt;pubDate&gt;Wed, 07 May 2025 11:56:44 -0700&lt;/pubDate&gt;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&lt;title&gt;Outage: Users experiencing issues connecting to Slack and unable to load threads&lt;/title&gt;</a:t>
            </a:r>
          </a:p>
          <a:p>
            <a:r>
              <a:rPr lang="en-US" sz="3700">
                <a:solidFill>
                  <a:srgbClr val="252525"/>
                </a:solidFill>
              </a:rPr>
              <a:t>&lt;description&gt; On May 12, 2025 between 15:00 PDT and 16:58 PDT users experienced issues with sending </a:t>
            </a:r>
          </a:p>
        </p:txBody>
      </p:sp>
      <p:pic>
        <p:nvPicPr>
          <p:cNvPr name="Picture 150" id="150">
            <a:hlinkClick r:id="rId151"/>
          </p:cNvPr>
          <p:cNvPicPr>
            <a:picLocks noChangeAspect="true"/>
          </p:cNvPicPr>
          <p:nvPr/>
        </p:nvPicPr>
        <p:blipFill>
          <a:blip r:embed="rId150"/>
          <a:stretch>
            <a:fillRect/>
          </a:stretch>
        </p:blipFill>
        <p:spPr>
          <a:xfrm>
            <a:off x="6451600" y="4114800"/>
            <a:ext cx="10820400" cy="1714500"/>
          </a:xfrm>
          <a:prstGeom prst="rect">
            <a:avLst/>
          </a:prstGeom>
        </p:spPr>
      </p:pic>
      <p:pic>
        <p:nvPicPr>
          <p:cNvPr name="Picture 152" id="152">
            <a:hlinkClick r:id="rId153"/>
          </p:cNvPr>
          <p:cNvPicPr>
            <a:picLocks noChangeAspect="true"/>
          </p:cNvPicPr>
          <p:nvPr/>
        </p:nvPicPr>
        <p:blipFill>
          <a:blip r:embed="rId152"/>
          <a:stretch>
            <a:fillRect/>
          </a:stretch>
        </p:blipFill>
        <p:spPr>
          <a:xfrm>
            <a:off x="6451600" y="7543800"/>
            <a:ext cx="10820400" cy="1714500"/>
          </a:xfrm>
          <a:prstGeom prst="rect">
            <a:avLst/>
          </a:prstGeom>
        </p:spPr>
      </p:pic>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4" id="154"/>
          <p:cNvPicPr>
            <a:picLocks noChangeAspect="true"/>
          </p:cNvPicPr>
          <p:nvPr/>
        </p:nvPicPr>
        <p:blipFill>
          <a:blip r:embed="rId154"/>
          <a:stretch>
            <a:fillRect/>
          </a:stretch>
        </p:blipFill>
        <p:spPr>
          <a:xfrm>
            <a:off x="0" y="127000"/>
            <a:ext cx="23749000" cy="16548100"/>
          </a:xfrm>
          <a:prstGeom prst="rect">
            <a:avLst/>
          </a:prstGeom>
        </p:spPr>
      </p:pic>
      <p:sp>
        <p:nvSpPr>
          <p:cNvPr name="TextBox 154" id="1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messages, loading channels and interacting with agents.This was due to elevated error rates across our platform caused by an issue with the communication link between our web application and the database routing layer. Due to recent infrastructure growth, we exceeded some defined configurations which prevented our web application from receiving updates about available database gateways/communication links.Our engineering team addressed the issue by making infrastructure adjustments; enabling web applications to receive the complete, updated list of database gateways and restoring normal operations. &lt;/description&gt;</a:t>
            </a:r>
          </a:p>
          <a:p>
            <a:r>
              <a:rPr lang="en-US" sz="3700">
                <a:solidFill>
                  <a:srgbClr val="252525"/>
                </a:solidFill>
              </a:rPr>
              <a:t>&lt;pubDate&gt;Wed, 14 May 2025 10:23:04 -0700&lt;/pubDate&gt;</a:t>
            </a:r>
          </a:p>
          <a:p>
            <a:r>
              <a:rPr lang="en-US" sz="3700">
                <a:solidFill>
                  <a:srgbClr val="252525"/>
                </a:solidFill>
              </a:rPr>
              <a:t>&lt;link&gt;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6" id="156"/>
          <p:cNvPicPr>
            <a:picLocks noChangeAspect="true"/>
          </p:cNvPicPr>
          <p:nvPr/>
        </p:nvPicPr>
        <p:blipFill>
          <a:blip r:embed="rId156"/>
          <a:stretch>
            <a:fillRect/>
          </a:stretch>
        </p:blipFill>
        <p:spPr>
          <a:xfrm>
            <a:off x="0" y="127000"/>
            <a:ext cx="23749000" cy="16548100"/>
          </a:xfrm>
          <a:prstGeom prst="rect">
            <a:avLst/>
          </a:prstGeom>
        </p:spPr>
      </p:pic>
      <p:sp>
        <p:nvSpPr>
          <p:cNvPr name="TextBox 156" id="1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connecting to Slack&lt;/title&gt;</a:t>
            </a:r>
          </a:p>
          <a:p>
            <a:r>
              <a:rPr lang="en-US" sz="3700">
                <a:solidFill>
                  <a:srgbClr val="252525"/>
                </a:solidFill>
              </a:rPr>
              <a:t>&lt;description&gt; On June 1, 2025, beginning around 5:00 PM PDT until 6:29 PM PDT, some users experienced issues with connecting to or logging into Slack, sending or receiving messages including those that were scheduled, and trouble loading items such as 'Activity' view.We traced the issue to a backend caching system that began improperly serving </a:t>
            </a:r>
          </a:p>
        </p:txBody>
      </p:sp>
      <p:pic>
        <p:nvPicPr>
          <p:cNvPr name="Picture 158" id="158">
            <a:hlinkClick r:id="rId159"/>
          </p:cNvPr>
          <p:cNvPicPr>
            <a:picLocks noChangeAspect="true"/>
          </p:cNvPicPr>
          <p:nvPr/>
        </p:nvPicPr>
        <p:blipFill>
          <a:blip r:embed="rId158"/>
          <a:stretch>
            <a:fillRect/>
          </a:stretch>
        </p:blipFill>
        <p:spPr>
          <a:xfrm>
            <a:off x="6451600" y="317500"/>
            <a:ext cx="10820400" cy="1714500"/>
          </a:xfrm>
          <a:prstGeom prst="rect">
            <a:avLst/>
          </a:prstGeom>
        </p:spPr>
      </p:pic>
      <p:pic>
        <p:nvPicPr>
          <p:cNvPr name="Picture 160" id="160">
            <a:hlinkClick r:id="rId161"/>
          </p:cNvPr>
          <p:cNvPicPr>
            <a:picLocks noChangeAspect="true"/>
          </p:cNvPicPr>
          <p:nvPr/>
        </p:nvPicPr>
        <p:blipFill>
          <a:blip r:embed="rId160"/>
          <a:stretch>
            <a:fillRect/>
          </a:stretch>
        </p:blipFill>
        <p:spPr>
          <a:xfrm>
            <a:off x="6451600" y="3746500"/>
            <a:ext cx="10820400" cy="1714500"/>
          </a:xfrm>
          <a:prstGeom prst="rect">
            <a:avLst/>
          </a:prstGeom>
        </p:spPr>
      </p:pic>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2" id="162"/>
          <p:cNvPicPr>
            <a:picLocks noChangeAspect="true"/>
          </p:cNvPicPr>
          <p:nvPr/>
        </p:nvPicPr>
        <p:blipFill>
          <a:blip r:embed="rId162"/>
          <a:stretch>
            <a:fillRect/>
          </a:stretch>
        </p:blipFill>
        <p:spPr>
          <a:xfrm>
            <a:off x="0" y="127000"/>
            <a:ext cx="23749000" cy="16548100"/>
          </a:xfrm>
          <a:prstGeom prst="rect">
            <a:avLst/>
          </a:prstGeom>
        </p:spPr>
      </p:pic>
      <p:sp>
        <p:nvSpPr>
          <p:cNvPr name="TextBox 162" id="1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traffic in one of our database regions. As a result, an increase in error rates occurred for many Slack features. An automated recovery system began shifting failed requests to healthy databases, allowing success for some users.To fully mitigate the impact, we temporarily rerouted traffic away from the affected backend service, allowing it to recover. After addressing the issue with the caching system, we directed traffic back to the service once it was functioning properly, resolving the issue for all affected users. &lt;/description&gt;</a:t>
            </a:r>
          </a:p>
          <a:p>
            <a:r>
              <a:rPr lang="en-US" sz="3700">
                <a:solidFill>
                  <a:srgbClr val="252525"/>
                </a:solidFill>
              </a:rPr>
              <a:t>&lt;pubDate&gt;Mon, 02 Jun 2025 15:15:37 -0700&lt;/pubDate&gt;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p>
        </p:txBody>
      </p:sp>
      <p:pic>
        <p:nvPicPr>
          <p:cNvPr name="Picture 164" id="164">
            <a:hlinkClick r:id="rId165"/>
          </p:cNvPr>
          <p:cNvPicPr>
            <a:picLocks noChangeAspect="true"/>
          </p:cNvPicPr>
          <p:nvPr/>
        </p:nvPicPr>
        <p:blipFill>
          <a:blip r:embed="rId164"/>
          <a:stretch>
            <a:fillRect/>
          </a:stretch>
        </p:blipFill>
        <p:spPr>
          <a:xfrm>
            <a:off x="6451600" y="12446000"/>
            <a:ext cx="10820400" cy="1714500"/>
          </a:xfrm>
          <a:prstGeom prst="rect">
            <a:avLst/>
          </a:prstGeom>
        </p:spPr>
      </p:pic>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6" id="166"/>
          <p:cNvPicPr>
            <a:picLocks noChangeAspect="true"/>
          </p:cNvPicPr>
          <p:nvPr/>
        </p:nvPicPr>
        <p:blipFill>
          <a:blip r:embed="rId166"/>
          <a:stretch>
            <a:fillRect/>
          </a:stretch>
        </p:blipFill>
        <p:spPr>
          <a:xfrm>
            <a:off x="0" y="127000"/>
            <a:ext cx="23749000" cy="16548100"/>
          </a:xfrm>
          <a:prstGeom prst="rect">
            <a:avLst/>
          </a:prstGeom>
        </p:spPr>
      </p:pic>
      <p:sp>
        <p:nvSpPr>
          <p:cNvPr name="TextBox 166" id="1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Some users may be experiencing issues with organizational dashboards not loading correctly. &lt;/title&gt;</a:t>
            </a:r>
          </a:p>
          <a:p>
            <a:r>
              <a:rPr lang="en-US" sz="3700">
                <a:solidFill>
                  <a:srgbClr val="252525"/>
                </a:solidFill>
              </a:rPr>
              <a:t>&lt;description&gt; From Sunday June 1, 2025 at 11:30 PM PDT, to Monday June 2, 2025 at 1:09 PM PDT, some Org Owners/Admins were unable to see a complete list of their org workspaces from the admin dashboard.&amp;nbsp;A recent code change relating to how workspaces are displayed on the admin dashboard was inadvertently hiding certain workspaces from view. We reverted this change, which fully resolved the issue. &lt;/description&gt;</a:t>
            </a:r>
          </a:p>
          <a:p>
            <a:r>
              <a:rPr lang="en-US" sz="3700">
                <a:solidFill>
                  <a:srgbClr val="252525"/>
                </a:solidFill>
              </a:rPr>
              <a:t>&lt;pubDate&gt;Mon, 02 Jun 2025 15:12:33 </a:t>
            </a:r>
          </a:p>
        </p:txBody>
      </p:sp>
      <p:pic>
        <p:nvPicPr>
          <p:cNvPr name="Picture 168" id="168">
            <a:hlinkClick r:id="rId169"/>
          </p:cNvPr>
          <p:cNvPicPr>
            <a:picLocks noChangeAspect="true"/>
          </p:cNvPicPr>
          <p:nvPr/>
        </p:nvPicPr>
        <p:blipFill>
          <a:blip r:embed="rId168"/>
          <a:stretch>
            <a:fillRect/>
          </a:stretch>
        </p:blipFill>
        <p:spPr>
          <a:xfrm>
            <a:off x="6451600" y="317500"/>
            <a:ext cx="10820400" cy="1714500"/>
          </a:xfrm>
          <a:prstGeom prst="rect">
            <a:avLst/>
          </a:prstGeom>
        </p:spPr>
      </p:pic>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0" id="170"/>
          <p:cNvPicPr>
            <a:picLocks noChangeAspect="true"/>
          </p:cNvPicPr>
          <p:nvPr/>
        </p:nvPicPr>
        <p:blipFill>
          <a:blip r:embed="rId170"/>
          <a:stretch>
            <a:fillRect/>
          </a:stretch>
        </p:blipFill>
        <p:spPr>
          <a:xfrm>
            <a:off x="0" y="127000"/>
            <a:ext cx="23749000" cy="16548100"/>
          </a:xfrm>
          <a:prstGeom prst="rect">
            <a:avLst/>
          </a:prstGeom>
        </p:spPr>
      </p:pic>
      <p:sp>
        <p:nvSpPr>
          <p:cNvPr name="TextBox 170" id="1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sending or receiving messages and connecting or loading Slack&lt;/title&gt;</a:t>
            </a:r>
          </a:p>
          <a:p>
            <a:r>
              <a:rPr lang="en-US" sz="3700">
                <a:solidFill>
                  <a:srgbClr val="252525"/>
                </a:solidFill>
              </a:rPr>
              <a:t>&lt;description&gt; On Thursday, June 5, 2025 starting around 8:55 AM PDT until around 10:39 AM PDT, a small number of users may have experienced trouble with a variety of functions such as: loading and connecting to Slack or sending and </a:t>
            </a:r>
          </a:p>
        </p:txBody>
      </p:sp>
      <p:pic>
        <p:nvPicPr>
          <p:cNvPr name="Picture 172" id="172">
            <a:hlinkClick r:id="rId173"/>
          </p:cNvPr>
          <p:cNvPicPr>
            <a:picLocks noChangeAspect="true"/>
          </p:cNvPicPr>
          <p:nvPr/>
        </p:nvPicPr>
        <p:blipFill>
          <a:blip r:embed="rId172"/>
          <a:stretch>
            <a:fillRect/>
          </a:stretch>
        </p:blipFill>
        <p:spPr>
          <a:xfrm>
            <a:off x="6451600" y="1841500"/>
            <a:ext cx="10820400" cy="1714500"/>
          </a:xfrm>
          <a:prstGeom prst="rect">
            <a:avLst/>
          </a:prstGeom>
        </p:spPr>
      </p:pic>
      <p:pic>
        <p:nvPicPr>
          <p:cNvPr name="Picture 174" id="174">
            <a:hlinkClick r:id="rId175"/>
          </p:cNvPr>
          <p:cNvPicPr>
            <a:picLocks noChangeAspect="true"/>
          </p:cNvPicPr>
          <p:nvPr/>
        </p:nvPicPr>
        <p:blipFill>
          <a:blip r:embed="rId174"/>
          <a:stretch>
            <a:fillRect/>
          </a:stretch>
        </p:blipFill>
        <p:spPr>
          <a:xfrm>
            <a:off x="6451600" y="5270500"/>
            <a:ext cx="10820400" cy="1714500"/>
          </a:xfrm>
          <a:prstGeom prst="rect">
            <a:avLst/>
          </a:prstGeom>
        </p:spPr>
      </p:pic>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6" id="176"/>
          <p:cNvPicPr>
            <a:picLocks noChangeAspect="true"/>
          </p:cNvPicPr>
          <p:nvPr/>
        </p:nvPicPr>
        <p:blipFill>
          <a:blip r:embed="rId176"/>
          <a:stretch>
            <a:fillRect/>
          </a:stretch>
        </p:blipFill>
        <p:spPr>
          <a:xfrm>
            <a:off x="0" y="127000"/>
            <a:ext cx="23749000" cy="16548100"/>
          </a:xfrm>
          <a:prstGeom prst="rect">
            <a:avLst/>
          </a:prstGeom>
        </p:spPr>
      </p:pic>
      <p:sp>
        <p:nvSpPr>
          <p:cNvPr name="TextBox 176" id="1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receiving messages.A high demand on backend resources was observed, originating from a login mechanism. We implemented additional measures to re-stabilize the affected services, resolving the issue for all users. &lt;/description&gt;</a:t>
            </a:r>
          </a:p>
          <a:p>
            <a:r>
              <a:rPr lang="en-US" sz="3700">
                <a:solidFill>
                  <a:srgbClr val="252525"/>
                </a:solidFill>
              </a:rPr>
              <a:t>&lt;pubDate&gt;Fri, 06 Jun 2025 15:39:11 -0700&lt;/pubDate&gt;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"Join Channel" button sticking for some users&lt;/title&gt;</a:t>
            </a:r>
          </a:p>
        </p:txBody>
      </p:sp>
      <p:pic>
        <p:nvPicPr>
          <p:cNvPr name="Picture 178" id="178">
            <a:hlinkClick r:id="rId179"/>
          </p:cNvPr>
          <p:cNvPicPr>
            <a:picLocks noChangeAspect="true"/>
          </p:cNvPicPr>
          <p:nvPr/>
        </p:nvPicPr>
        <p:blipFill>
          <a:blip r:embed="rId178"/>
          <a:stretch>
            <a:fillRect/>
          </a:stretch>
        </p:blipFill>
        <p:spPr>
          <a:xfrm>
            <a:off x="6451600" y="7137400"/>
            <a:ext cx="10820400" cy="1714500"/>
          </a:xfrm>
          <a:prstGeom prst="rect">
            <a:avLst/>
          </a:prstGeom>
        </p:spPr>
      </p:pic>
      <p:pic>
        <p:nvPicPr>
          <p:cNvPr name="Picture 180" id="180">
            <a:hlinkClick r:id="rId181"/>
          </p:cNvPr>
          <p:cNvPicPr>
            <a:picLocks noChangeAspect="true"/>
          </p:cNvPicPr>
          <p:nvPr/>
        </p:nvPicPr>
        <p:blipFill>
          <a:blip r:embed="rId180"/>
          <a:stretch>
            <a:fillRect/>
          </a:stretch>
        </p:blipFill>
        <p:spPr>
          <a:xfrm>
            <a:off x="6451600" y="10566400"/>
            <a:ext cx="10820400" cy="1714500"/>
          </a:xfrm>
          <a:prstGeom prst="rect">
            <a:avLst/>
          </a:prstGeom>
        </p:spPr>
      </p:pic>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2" id="182"/>
          <p:cNvPicPr>
            <a:picLocks noChangeAspect="true"/>
          </p:cNvPicPr>
          <p:nvPr/>
        </p:nvPicPr>
        <p:blipFill>
          <a:blip r:embed="rId182"/>
          <a:stretch>
            <a:fillRect/>
          </a:stretch>
        </p:blipFill>
        <p:spPr>
          <a:xfrm>
            <a:off x="0" y="127000"/>
            <a:ext cx="23749000" cy="16548100"/>
          </a:xfrm>
          <a:prstGeom prst="rect">
            <a:avLst/>
          </a:prstGeom>
        </p:spPr>
      </p:pic>
      <p:sp>
        <p:nvSpPr>
          <p:cNvPr name="TextBox 182" id="1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&lt;description&gt; From June 3, 2025 at 9:34 PM PDT to June 12, 2025 at 2:52 PM PDT, some users were unable to dismiss the channel join button and banner after successfully joining a channel.We made a routine code change intended to improve the behaviour of bulk channel invitations, but it inadvertently caused issues with the join button and banner.&amp;nbsp;We reverted this code change and the issue was resolved for all users. &lt;/description&gt;</a:t>
            </a:r>
          </a:p>
          <a:p>
            <a:r>
              <a:rPr lang="en-US" sz="3700">
                <a:solidFill>
                  <a:srgbClr val="252525"/>
                </a:solidFill>
              </a:rPr>
              <a:t>&lt;pubDate&gt;Wed, 18 Jun 2025 23:54:17 -0700&lt;/pubDate&gt;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p>
        </p:txBody>
      </p:sp>
      <p:pic>
        <p:nvPicPr>
          <p:cNvPr name="Picture 184" id="184">
            <a:hlinkClick r:id="rId185"/>
          </p:cNvPr>
          <p:cNvPicPr>
            <a:picLocks noChangeAspect="true"/>
          </p:cNvPicPr>
          <p:nvPr/>
        </p:nvPicPr>
        <p:blipFill>
          <a:blip r:embed="rId184"/>
          <a:stretch>
            <a:fillRect/>
          </a:stretch>
        </p:blipFill>
        <p:spPr>
          <a:xfrm>
            <a:off x="6451600" y="10934700"/>
            <a:ext cx="10820400" cy="1714500"/>
          </a:xfrm>
          <a:prstGeom prst="rect">
            <a:avLst/>
          </a:prstGeom>
        </p:spPr>
      </p:pic>
      <p:pic>
        <p:nvPicPr>
          <p:cNvPr name="Picture 186" id="186">
            <a:hlinkClick r:id="rId187"/>
          </p:cNvPr>
          <p:cNvPicPr>
            <a:picLocks noChangeAspect="true"/>
          </p:cNvPicPr>
          <p:nvPr/>
        </p:nvPicPr>
        <p:blipFill>
          <a:blip r:embed="rId186"/>
          <a:stretch>
            <a:fillRect/>
          </a:stretch>
        </p:blipFill>
        <p:spPr>
          <a:xfrm>
            <a:off x="6451600" y="14363700"/>
            <a:ext cx="10820400" cy="1714500"/>
          </a:xfrm>
          <a:prstGeom prst="rect">
            <a:avLst/>
          </a:prstGeom>
        </p:spPr>
      </p:pic>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8" id="188"/>
          <p:cNvPicPr>
            <a:picLocks noChangeAspect="true"/>
          </p:cNvPicPr>
          <p:nvPr/>
        </p:nvPicPr>
        <p:blipFill>
          <a:blip r:embed="rId188"/>
          <a:stretch>
            <a:fillRect/>
          </a:stretch>
        </p:blipFill>
        <p:spPr>
          <a:xfrm>
            <a:off x="0" y="127000"/>
            <a:ext cx="23749000" cy="16548100"/>
          </a:xfrm>
          <a:prstGeom prst="rect">
            <a:avLst/>
          </a:prstGeom>
        </p:spPr>
      </p:pic>
      <p:sp>
        <p:nvSpPr>
          <p:cNvPr name="TextBox 188" id="1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loading Slack&lt;/title&gt;</a:t>
            </a:r>
          </a:p>
          <a:p>
            <a:r>
              <a:rPr lang="en-US" sz="3700">
                <a:solidFill>
                  <a:srgbClr val="252525"/>
                </a:solidFill>
              </a:rPr>
              <a:t>&lt;description&gt; From 11:15 PM PST on June 8, 2025 to 2:30 AM PST on June 9, 2025, some users experienced issues loading Activity, Threads and other content in Slack.We traced this back to a database size reduction which resulted in an overload of queries causing the loading issues.Our infrastructure includes an automated process that regularly upsizes and downsizes databases to optimize capacity based on usage. This process unexpectedly downsized a database multiple times, which increased load on the remaining systems.&amp;nbsp;We scaled the affected database back to an appropriate size, which resolved the issue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0" id="190"/>
          <p:cNvPicPr>
            <a:picLocks noChangeAspect="true"/>
          </p:cNvPicPr>
          <p:nvPr/>
        </p:nvPicPr>
        <p:blipFill>
          <a:blip r:embed="rId190"/>
          <a:stretch>
            <a:fillRect/>
          </a:stretch>
        </p:blipFill>
        <p:spPr>
          <a:xfrm>
            <a:off x="0" y="127000"/>
            <a:ext cx="23749000" cy="16548100"/>
          </a:xfrm>
          <a:prstGeom prst="rect">
            <a:avLst/>
          </a:prstGeom>
        </p:spPr>
      </p:pic>
      <p:sp>
        <p:nvSpPr>
          <p:cNvPr name="TextBox 190" id="1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all affected users. &lt;/description&gt;</a:t>
            </a:r>
          </a:p>
          <a:p>
            <a:r>
              <a:rPr lang="en-US" sz="3700">
                <a:solidFill>
                  <a:srgbClr val="252525"/>
                </a:solidFill>
              </a:rPr>
              <a:t>&lt;pubDate&gt;Mon, 09 Jun 2025 23:20:45 -0700&lt;/pubDate&gt;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&lt;title&gt;Notice: Trouble with "Add spreadsheet row" and other steps in Workflow Builder&lt;/title&gt;</a:t>
            </a:r>
          </a:p>
          <a:p>
            <a:r>
              <a:rPr lang="en-US" sz="3700">
                <a:solidFill>
                  <a:srgbClr val="252525"/>
                </a:solidFill>
              </a:rPr>
              <a:t>&lt;description&gt; The upstream provider issue affecting certain steps in Workflow Builder has been resolved. Users should be able to successfully trigger these steps. We </a:t>
            </a:r>
          </a:p>
        </p:txBody>
      </p:sp>
      <p:pic>
        <p:nvPicPr>
          <p:cNvPr name="Picture 192" id="192">
            <a:hlinkClick r:id="rId193"/>
          </p:cNvPr>
          <p:cNvPicPr>
            <a:picLocks noChangeAspect="true"/>
          </p:cNvPicPr>
          <p:nvPr/>
        </p:nvPicPr>
        <p:blipFill>
          <a:blip r:embed="rId192"/>
          <a:stretch>
            <a:fillRect/>
          </a:stretch>
        </p:blipFill>
        <p:spPr>
          <a:xfrm>
            <a:off x="6451600" y="3352800"/>
            <a:ext cx="10820400" cy="1714500"/>
          </a:xfrm>
          <a:prstGeom prst="rect">
            <a:avLst/>
          </a:prstGeom>
        </p:spPr>
      </p:pic>
      <p:pic>
        <p:nvPicPr>
          <p:cNvPr name="Picture 194" id="194">
            <a:hlinkClick r:id="rId195"/>
          </p:cNvPr>
          <p:cNvPicPr>
            <a:picLocks noChangeAspect="true"/>
          </p:cNvPicPr>
          <p:nvPr/>
        </p:nvPicPr>
        <p:blipFill>
          <a:blip r:embed="rId194"/>
          <a:stretch>
            <a:fillRect/>
          </a:stretch>
        </p:blipFill>
        <p:spPr>
          <a:xfrm>
            <a:off x="6451600" y="6781800"/>
            <a:ext cx="10820400" cy="1714500"/>
          </a:xfrm>
          <a:prstGeom prst="rect">
            <a:avLst/>
          </a:prstGeom>
        </p:spPr>
      </p:pic>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6" id="196"/>
          <p:cNvPicPr>
            <a:picLocks noChangeAspect="true"/>
          </p:cNvPicPr>
          <p:nvPr/>
        </p:nvPicPr>
        <p:blipFill>
          <a:blip r:embed="rId196"/>
          <a:stretch>
            <a:fillRect/>
          </a:stretch>
        </p:blipFill>
        <p:spPr>
          <a:xfrm>
            <a:off x="0" y="127000"/>
            <a:ext cx="23749000" cy="16548100"/>
          </a:xfrm>
          <a:prstGeom prst="rect">
            <a:avLst/>
          </a:prstGeom>
        </p:spPr>
      </p:pic>
      <p:sp>
        <p:nvSpPr>
          <p:cNvPr name="TextBox 196" id="1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apologize for any disruption that was added to your workday. &lt;/description&gt;</a:t>
            </a:r>
          </a:p>
          <a:p>
            <a:r>
              <a:rPr lang="en-US" sz="3700">
                <a:solidFill>
                  <a:srgbClr val="252525"/>
                </a:solidFill>
              </a:rPr>
              <a:t>&lt;pubDate&gt;Thu, 12 Jun 2025 13:34:31 -0700&lt;/pubDate&gt;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Legacy webhooks may be causing issues with app configurations&lt;/title&gt;</a:t>
            </a:r>
          </a:p>
          <a:p>
            <a:r>
              <a:rPr lang="en-US" sz="3700">
                <a:solidFill>
                  <a:srgbClr val="252525"/>
                </a:solidFill>
              </a:rPr>
              <a:t>&lt;description&gt; From June 20, 2025 at 10:00 AM PDT to June 23, 2025 at 1:00 PM PDT, some users may have experienced issues </a:t>
            </a:r>
          </a:p>
        </p:txBody>
      </p:sp>
      <p:pic>
        <p:nvPicPr>
          <p:cNvPr name="Picture 198" id="198">
            <a:hlinkClick r:id="rId199"/>
          </p:cNvPr>
          <p:cNvPicPr>
            <a:picLocks noChangeAspect="true"/>
          </p:cNvPicPr>
          <p:nvPr/>
        </p:nvPicPr>
        <p:blipFill>
          <a:blip r:embed="rId198"/>
          <a:stretch>
            <a:fillRect/>
          </a:stretch>
        </p:blipFill>
        <p:spPr>
          <a:xfrm>
            <a:off x="6451600" y="4114800"/>
            <a:ext cx="10820400" cy="1714500"/>
          </a:xfrm>
          <a:prstGeom prst="rect">
            <a:avLst/>
          </a:prstGeom>
        </p:spPr>
      </p:pic>
      <p:pic>
        <p:nvPicPr>
          <p:cNvPr name="Picture 200" id="200">
            <a:hlinkClick r:id="rId201"/>
          </p:cNvPr>
          <p:cNvPicPr>
            <a:picLocks noChangeAspect="true"/>
          </p:cNvPicPr>
          <p:nvPr/>
        </p:nvPicPr>
        <p:blipFill>
          <a:blip r:embed="rId200"/>
          <a:stretch>
            <a:fillRect/>
          </a:stretch>
        </p:blipFill>
        <p:spPr>
          <a:xfrm>
            <a:off x="6451600" y="7543800"/>
            <a:ext cx="10820400" cy="1714500"/>
          </a:xfrm>
          <a:prstGeom prst="rect">
            <a:avLst/>
          </a:prstGeom>
        </p:spPr>
      </p:pic>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2" id="202"/>
          <p:cNvPicPr>
            <a:picLocks noChangeAspect="true"/>
          </p:cNvPicPr>
          <p:nvPr/>
        </p:nvPicPr>
        <p:blipFill>
          <a:blip r:embed="rId202"/>
          <a:stretch>
            <a:fillRect/>
          </a:stretch>
        </p:blipFill>
        <p:spPr>
          <a:xfrm>
            <a:off x="0" y="127000"/>
            <a:ext cx="23749000" cy="16548100"/>
          </a:xfrm>
          <a:prstGeom prst="rect">
            <a:avLst/>
          </a:prstGeom>
        </p:spPr>
      </p:pic>
      <p:sp>
        <p:nvSpPr>
          <p:cNvPr name="TextBox 202" id="2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creating new configurations of apps using legacy webhooks.As part of a recent code change, we inadvertently introduced a logic error that caused issues with the user interface on the configuration page. We corrected this issue by reverting the code change, restoring normal service for all impacted users. &lt;/description&gt;</a:t>
            </a:r>
          </a:p>
          <a:p>
            <a:r>
              <a:rPr lang="en-US" sz="3700">
                <a:solidFill>
                  <a:srgbClr val="252525"/>
                </a:solidFill>
              </a:rPr>
              <a:t>&lt;pubDate&gt;Mon, 23 Jun 2025 21:40:09 -0700&lt;/pubDate&gt;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p:txBody>
      </p:sp>
      <p:pic>
        <p:nvPicPr>
          <p:cNvPr name="Picture 204" id="204">
            <a:hlinkClick r:id="rId205"/>
          </p:cNvPr>
          <p:cNvPicPr>
            <a:picLocks noChangeAspect="true"/>
          </p:cNvPicPr>
          <p:nvPr/>
        </p:nvPicPr>
        <p:blipFill>
          <a:blip r:embed="rId204"/>
          <a:stretch>
            <a:fillRect/>
          </a:stretch>
        </p:blipFill>
        <p:spPr>
          <a:xfrm>
            <a:off x="6451600" y="8661400"/>
            <a:ext cx="10820400" cy="1714500"/>
          </a:xfrm>
          <a:prstGeom prst="rect">
            <a:avLst/>
          </a:prstGeom>
        </p:spPr>
      </p:pic>
      <p:pic>
        <p:nvPicPr>
          <p:cNvPr name="Picture 206" id="206">
            <a:hlinkClick r:id="rId207"/>
          </p:cNvPr>
          <p:cNvPicPr>
            <a:picLocks noChangeAspect="true"/>
          </p:cNvPicPr>
          <p:nvPr/>
        </p:nvPicPr>
        <p:blipFill>
          <a:blip r:embed="rId206"/>
          <a:stretch>
            <a:fillRect/>
          </a:stretch>
        </p:blipFill>
        <p:spPr>
          <a:xfrm>
            <a:off x="6451600" y="12090400"/>
            <a:ext cx="10820400" cy="1714500"/>
          </a:xfrm>
          <a:prstGeom prst="rect">
            <a:avLst/>
          </a:prstGeom>
        </p:spPr>
      </p:pic>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8" id="208"/>
          <p:cNvPicPr>
            <a:picLocks noChangeAspect="true"/>
          </p:cNvPicPr>
          <p:nvPr/>
        </p:nvPicPr>
        <p:blipFill>
          <a:blip r:embed="rId208"/>
          <a:stretch>
            <a:fillRect/>
          </a:stretch>
        </p:blipFill>
        <p:spPr>
          <a:xfrm>
            <a:off x="0" y="127000"/>
            <a:ext cx="23749000" cy="16548100"/>
          </a:xfrm>
          <a:prstGeom prst="rect">
            <a:avLst/>
          </a:prstGeom>
        </p:spPr>
      </p:pic>
      <p:sp>
        <p:nvSpPr>
          <p:cNvPr name="TextBox 208" id="2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&lt;title&gt;Incident: Messages on iOS not sending correctly&lt;/title&gt;</a:t>
            </a:r>
          </a:p>
          <a:p>
            <a:r>
              <a:rPr lang="en-US" sz="3700">
                <a:solidFill>
                  <a:srgbClr val="252525"/>
                </a:solidFill>
              </a:rPr>
              <a:t>&lt;description&gt; From June 20, 2025 at 2:00 PM PDT to June 24, 2025 at 8:00 AM PDT, a subset of users on iOS version 25.06.30 may have experienced unexpected behaviors when sending messages, specifically with thread replies in Slack. When attempting to send a thread reply, the message would inadvertently get posted to a previous thread within the same channel.This was traced back to a recently enabled feature toggle, intended to improve message draft functionality, which introduced unexpected backend logic related to the message timestamp. This logic caused the affected replies to be incorrectly mapped to an earlier parent message within the same channel.We rolled back the problematic feature toggle, resolving the issue for all affected users. </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0" id="210"/>
          <p:cNvPicPr>
            <a:picLocks noChangeAspect="true"/>
          </p:cNvPicPr>
          <p:nvPr/>
        </p:nvPicPr>
        <p:blipFill>
          <a:blip r:embed="rId210"/>
          <a:stretch>
            <a:fillRect/>
          </a:stretch>
        </p:blipFill>
        <p:spPr>
          <a:xfrm>
            <a:off x="0" y="127000"/>
            <a:ext cx="23749000" cy="16548100"/>
          </a:xfrm>
          <a:prstGeom prst="rect">
            <a:avLst/>
          </a:prstGeom>
        </p:spPr>
      </p:pic>
      <p:sp>
        <p:nvSpPr>
          <p:cNvPr name="TextBox 210" id="2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We're improving the logic to reduce the likelihood of this reoccurring. &lt;/description&gt;</a:t>
            </a:r>
          </a:p>
          <a:p>
            <a:r>
              <a:rPr lang="en-US" sz="3700">
                <a:solidFill>
                  <a:srgbClr val="252525"/>
                </a:solidFill>
              </a:rPr>
              <a:t>&lt;pubDate&gt;Tue, 24 Jun 2025 09:19:40 -0700&lt;/pubDate&gt;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Users experiencing issues searching in Slack and loading some admin pages&lt;/title&gt;</a:t>
            </a:r>
          </a:p>
          <a:p>
            <a:r>
              <a:rPr lang="en-US" sz="3700">
                <a:solidFill>
                  <a:srgbClr val="252525"/>
                </a:solidFill>
              </a:rPr>
              <a:t>&lt;description&gt; From around 10:00 AM PDT to 12:52 PM PDT on July 1, 2025, some </a:t>
            </a:r>
          </a:p>
        </p:txBody>
      </p:sp>
      <p:pic>
        <p:nvPicPr>
          <p:cNvPr name="Picture 212" id="212">
            <a:hlinkClick r:id="rId213"/>
          </p:cNvPr>
          <p:cNvPicPr>
            <a:picLocks noChangeAspect="true"/>
          </p:cNvPicPr>
          <p:nvPr/>
        </p:nvPicPr>
        <p:blipFill>
          <a:blip r:embed="rId212"/>
          <a:stretch>
            <a:fillRect/>
          </a:stretch>
        </p:blipFill>
        <p:spPr>
          <a:xfrm>
            <a:off x="6451600" y="4864100"/>
            <a:ext cx="10820400" cy="1714500"/>
          </a:xfrm>
          <a:prstGeom prst="rect">
            <a:avLst/>
          </a:prstGeom>
        </p:spPr>
      </p:pic>
      <p:pic>
        <p:nvPicPr>
          <p:cNvPr name="Picture 214" id="214">
            <a:hlinkClick r:id="rId215"/>
          </p:cNvPr>
          <p:cNvPicPr>
            <a:picLocks noChangeAspect="true"/>
          </p:cNvPicPr>
          <p:nvPr/>
        </p:nvPicPr>
        <p:blipFill>
          <a:blip r:embed="rId214"/>
          <a:stretch>
            <a:fillRect/>
          </a:stretch>
        </p:blipFill>
        <p:spPr>
          <a:xfrm>
            <a:off x="6451600" y="8293100"/>
            <a:ext cx="10820400" cy="1714500"/>
          </a:xfrm>
          <a:prstGeom prst="rect">
            <a:avLst/>
          </a:prstGeom>
        </p:spPr>
      </p:pic>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6" id="216"/>
          <p:cNvPicPr>
            <a:picLocks noChangeAspect="true"/>
          </p:cNvPicPr>
          <p:nvPr/>
        </p:nvPicPr>
        <p:blipFill>
          <a:blip r:embed="rId216"/>
          <a:stretch>
            <a:fillRect/>
          </a:stretch>
        </p:blipFill>
        <p:spPr>
          <a:xfrm>
            <a:off x="0" y="127000"/>
            <a:ext cx="23749000" cy="16548100"/>
          </a:xfrm>
          <a:prstGeom prst="rect">
            <a:avLst/>
          </a:prstGeom>
        </p:spPr>
      </p:pic>
      <p:sp>
        <p:nvSpPr>
          <p:cNvPr name="TextBox 216" id="2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users may have experienced issues when searching in Slack, loading details in the org and workspace-level admin panels, as well as trouble with any integrations relying on search-related APIs. This affected users globally.A backend component unexpectedly created many failed connection requests to various services responsible for the search behavior in Slack. These failed connection requests caused an increase in storage use that exceeded system capacity limitations, resulting in a variety of errors.We implemented a fix to address the identified limitations, allowing the connection requests to successfully complete, restoring functionality to the search features. &lt;/description&gt;</a:t>
            </a:r>
          </a:p>
          <a:p>
            <a:r>
              <a:rPr lang="en-US" sz="3700">
                <a:solidFill>
                  <a:srgbClr val="252525"/>
                </a:solidFill>
              </a:rPr>
              <a:t>&lt;pubDate&gt;Wed, 02 Jul 2025 13:28:10 -0700&lt;/pubDate&gt;</a:t>
            </a:r>
          </a:p>
          <a:p>
            <a:r>
              <a:rPr lang="en-US" sz="3700">
                <a:solidFill>
                  <a:srgbClr val="252525"/>
                </a:solidFill>
              </a:rPr>
              <a:t>&lt;link&gt;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8" id="218"/>
          <p:cNvPicPr>
            <a:picLocks noChangeAspect="true"/>
          </p:cNvPicPr>
          <p:nvPr/>
        </p:nvPicPr>
        <p:blipFill>
          <a:blip r:embed="rId218"/>
          <a:stretch>
            <a:fillRect/>
          </a:stretch>
        </p:blipFill>
        <p:spPr>
          <a:xfrm>
            <a:off x="0" y="127000"/>
            <a:ext cx="23749000" cy="16548100"/>
          </a:xfrm>
          <a:prstGeom prst="rect">
            <a:avLst/>
          </a:prstGeom>
        </p:spPr>
      </p:pic>
      <p:sp>
        <p:nvSpPr>
          <p:cNvPr name="TextBox 218" id="2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uploading images and files&lt;/title&gt;</a:t>
            </a:r>
          </a:p>
          <a:p>
            <a:r>
              <a:rPr lang="en-US" sz="3700">
                <a:solidFill>
                  <a:srgbClr val="252525"/>
                </a:solidFill>
              </a:rPr>
              <a:t>&lt;description&gt; Starting at 11:55 AM PDT to 1:51 PM PDT on July 2, 2025, some users experienced issues uploading files, including images. Files and images that were uploaded prior to this issue were not affected.This issue manifested as an error message for some users, while others experienced uploads that appeared to complete but were inaccessible.We traced </a:t>
            </a:r>
          </a:p>
        </p:txBody>
      </p:sp>
      <p:pic>
        <p:nvPicPr>
          <p:cNvPr name="Picture 220" id="220">
            <a:hlinkClick r:id="rId221"/>
          </p:cNvPr>
          <p:cNvPicPr>
            <a:picLocks noChangeAspect="true"/>
          </p:cNvPicPr>
          <p:nvPr/>
        </p:nvPicPr>
        <p:blipFill>
          <a:blip r:embed="rId220"/>
          <a:stretch>
            <a:fillRect/>
          </a:stretch>
        </p:blipFill>
        <p:spPr>
          <a:xfrm>
            <a:off x="6451600" y="317500"/>
            <a:ext cx="10820400" cy="1714500"/>
          </a:xfrm>
          <a:prstGeom prst="rect">
            <a:avLst/>
          </a:prstGeom>
        </p:spPr>
      </p:pic>
      <p:pic>
        <p:nvPicPr>
          <p:cNvPr name="Picture 222" id="222">
            <a:hlinkClick r:id="rId223"/>
          </p:cNvPr>
          <p:cNvPicPr>
            <a:picLocks noChangeAspect="true"/>
          </p:cNvPicPr>
          <p:nvPr/>
        </p:nvPicPr>
        <p:blipFill>
          <a:blip r:embed="rId222"/>
          <a:stretch>
            <a:fillRect/>
          </a:stretch>
        </p:blipFill>
        <p:spPr>
          <a:xfrm>
            <a:off x="6451600" y="3746500"/>
            <a:ext cx="10820400" cy="1714500"/>
          </a:xfrm>
          <a:prstGeom prst="rect">
            <a:avLst/>
          </a:prstGeom>
        </p:spPr>
      </p:pic>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4" id="224"/>
          <p:cNvPicPr>
            <a:picLocks noChangeAspect="true"/>
          </p:cNvPicPr>
          <p:nvPr/>
        </p:nvPicPr>
        <p:blipFill>
          <a:blip r:embed="rId224"/>
          <a:stretch>
            <a:fillRect/>
          </a:stretch>
        </p:blipFill>
        <p:spPr>
          <a:xfrm>
            <a:off x="0" y="127000"/>
            <a:ext cx="23749000" cy="16548100"/>
          </a:xfrm>
          <a:prstGeom prst="rect">
            <a:avLst/>
          </a:prstGeom>
        </p:spPr>
      </p:pic>
      <p:sp>
        <p:nvSpPr>
          <p:cNvPr name="TextBox 224" id="2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back to a misconfiguration within our file handling service causing incorrect service permissions. We identified the problematic code change and reverted them, restoring functionality to all affected users. &lt;/description&gt;</a:t>
            </a:r>
          </a:p>
          <a:p>
            <a:r>
              <a:rPr lang="en-US" sz="3700">
                <a:solidFill>
                  <a:srgbClr val="252525"/>
                </a:solidFill>
              </a:rPr>
              <a:t>&lt;pubDate&gt;Fri, 11 Jul 2025 16:49:08 -0700&lt;/pubDate&gt;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Issues with searching Slack API documentation&lt;/title&gt;</a:t>
            </a:r>
          </a:p>
        </p:txBody>
      </p:sp>
      <p:pic>
        <p:nvPicPr>
          <p:cNvPr name="Picture 226" id="226">
            <a:hlinkClick r:id="rId227"/>
          </p:cNvPr>
          <p:cNvPicPr>
            <a:picLocks noChangeAspect="true"/>
          </p:cNvPicPr>
          <p:nvPr/>
        </p:nvPicPr>
        <p:blipFill>
          <a:blip r:embed="rId226"/>
          <a:stretch>
            <a:fillRect/>
          </a:stretch>
        </p:blipFill>
        <p:spPr>
          <a:xfrm>
            <a:off x="6451600" y="7137400"/>
            <a:ext cx="10820400" cy="1714500"/>
          </a:xfrm>
          <a:prstGeom prst="rect">
            <a:avLst/>
          </a:prstGeom>
        </p:spPr>
      </p:pic>
      <p:pic>
        <p:nvPicPr>
          <p:cNvPr name="Picture 228" id="228">
            <a:hlinkClick r:id="rId229"/>
          </p:cNvPr>
          <p:cNvPicPr>
            <a:picLocks noChangeAspect="true"/>
          </p:cNvPicPr>
          <p:nvPr/>
        </p:nvPicPr>
        <p:blipFill>
          <a:blip r:embed="rId228"/>
          <a:stretch>
            <a:fillRect/>
          </a:stretch>
        </p:blipFill>
        <p:spPr>
          <a:xfrm>
            <a:off x="6451600" y="10566400"/>
            <a:ext cx="10820400" cy="1714500"/>
          </a:xfrm>
          <a:prstGeom prst="rect">
            <a:avLst/>
          </a:prstGeom>
        </p:spPr>
      </p:pic>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0" id="230"/>
          <p:cNvPicPr>
            <a:picLocks noChangeAspect="true"/>
          </p:cNvPicPr>
          <p:nvPr/>
        </p:nvPicPr>
        <p:blipFill>
          <a:blip r:embed="rId230"/>
          <a:stretch>
            <a:fillRect/>
          </a:stretch>
        </p:blipFill>
        <p:spPr>
          <a:xfrm>
            <a:off x="0" y="127000"/>
            <a:ext cx="23749000" cy="16548100"/>
          </a:xfrm>
          <a:prstGeom prst="rect">
            <a:avLst/>
          </a:prstGeom>
        </p:spPr>
      </p:pic>
      <p:sp>
        <p:nvSpPr>
          <p:cNvPr name="TextBox 230" id="2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&lt;description&gt; Starting July 1, 2025 at around 12:00 AM PDT until July 3, 2025 at around 1:40 PM PDT, some users were unable to utilize the search functionality in our API documentation website (</a:t>
            </a:r>
            <a:r>
              <a:rPr lang="en-US" sz="3700">
                <a:solidFill>
                  <a:srgbClr val="252525"/>
                </a:solidFill>
              </a:rPr>
              <a:t>), resulting in a 500 or similar error message.The backend system responsible for the search functionality encountered a delay in service changes. This delay resulted in not serving search requests properly.We adjusted the backend logic to account for these changes, resolving the issue for all affected users. &lt;/description&gt;</a:t>
            </a:r>
          </a:p>
          <a:p>
            <a:r>
              <a:rPr lang="en-US" sz="3700">
                <a:solidFill>
                  <a:srgbClr val="252525"/>
                </a:solidFill>
              </a:rPr>
              <a:t>&lt;pubDate&gt;Fri, 11 Jul 2025 16:43:34 -0700&lt;/pubDate&gt;</a:t>
            </a:r>
          </a:p>
          <a:p>
            <a:r>
              <a:rPr lang="en-US" sz="3700">
                <a:solidFill>
                  <a:srgbClr val="252525"/>
                </a:solidFill>
              </a:rPr>
              <a:t>&lt;link&gt; </a:t>
            </a:r>
          </a:p>
        </p:txBody>
      </p:sp>
      <p:pic>
        <p:nvPicPr>
          <p:cNvPr name="Picture 232" id="232">
            <a:hlinkClick r:id="rId233"/>
          </p:cNvPr>
          <p:cNvPicPr>
            <a:picLocks noChangeAspect="true"/>
          </p:cNvPicPr>
          <p:nvPr/>
        </p:nvPicPr>
        <p:blipFill>
          <a:blip r:embed="rId232"/>
          <a:stretch>
            <a:fillRect/>
          </a:stretch>
        </p:blipFill>
        <p:spPr>
          <a:xfrm>
            <a:off x="6451600" y="4864100"/>
            <a:ext cx="10820400" cy="1714500"/>
          </a:xfrm>
          <a:prstGeom prst="rect">
            <a:avLst/>
          </a:prstGeom>
        </p:spPr>
      </p:pic>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4" id="234"/>
          <p:cNvPicPr>
            <a:picLocks noChangeAspect="true"/>
          </p:cNvPicPr>
          <p:nvPr/>
        </p:nvPicPr>
        <p:blipFill>
          <a:blip r:embed="rId234"/>
          <a:stretch>
            <a:fillRect/>
          </a:stretch>
        </p:blipFill>
        <p:spPr>
          <a:xfrm>
            <a:off x="0" y="127000"/>
            <a:ext cx="23749000" cy="16548100"/>
          </a:xfrm>
          <a:prstGeom prst="rect">
            <a:avLst/>
          </a:prstGeom>
        </p:spPr>
      </p:pic>
      <p:sp>
        <p:nvSpPr>
          <p:cNvPr name="TextBox 234" id="2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Issues with some third-party app message components&lt;/title&gt;</a:t>
            </a:r>
          </a:p>
          <a:p>
            <a:r>
              <a:rPr lang="en-US" sz="3700">
                <a:solidFill>
                  <a:srgbClr val="252525"/>
                </a:solidFill>
              </a:rPr>
              <a:t>&lt;description&gt; From Monday, July 14, 2025 at 3:42 PM PDT to Tuesday, July 15, 2025 at 2:24 PM PDT, some users experienced an issue with custom apps relying on Block Kit elements such as: dropdown or multi-select menus in Slack. When accessing affected fields, users may have encountered a "Nothing could be found." message or empty values.When reviewing </a:t>
            </a:r>
          </a:p>
        </p:txBody>
      </p:sp>
      <p:pic>
        <p:nvPicPr>
          <p:cNvPr name="Picture 236" id="236">
            <a:hlinkClick r:id="rId237"/>
          </p:cNvPr>
          <p:cNvPicPr>
            <a:picLocks noChangeAspect="true"/>
          </p:cNvPicPr>
          <p:nvPr/>
        </p:nvPicPr>
        <p:blipFill>
          <a:blip r:embed="rId236"/>
          <a:stretch>
            <a:fillRect/>
          </a:stretch>
        </p:blipFill>
        <p:spPr>
          <a:xfrm>
            <a:off x="6451600" y="317500"/>
            <a:ext cx="10820400" cy="1714500"/>
          </a:xfrm>
          <a:prstGeom prst="rect">
            <a:avLst/>
          </a:prstGeom>
        </p:spPr>
      </p:pic>
      <p:pic>
        <p:nvPicPr>
          <p:cNvPr name="Picture 238" id="238">
            <a:hlinkClick r:id="rId239"/>
          </p:cNvPr>
          <p:cNvPicPr>
            <a:picLocks noChangeAspect="true"/>
          </p:cNvPicPr>
          <p:nvPr/>
        </p:nvPicPr>
        <p:blipFill>
          <a:blip r:embed="rId238"/>
          <a:stretch>
            <a:fillRect/>
          </a:stretch>
        </p:blipFill>
        <p:spPr>
          <a:xfrm>
            <a:off x="6451600" y="3746500"/>
            <a:ext cx="10820400" cy="1714500"/>
          </a:xfrm>
          <a:prstGeom prst="rect">
            <a:avLst/>
          </a:prstGeom>
        </p:spPr>
      </p:pic>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0" id="240"/>
          <p:cNvPicPr>
            <a:picLocks noChangeAspect="true"/>
          </p:cNvPicPr>
          <p:nvPr/>
        </p:nvPicPr>
        <p:blipFill>
          <a:blip r:embed="rId240"/>
          <a:stretch>
            <a:fillRect/>
          </a:stretch>
        </p:blipFill>
        <p:spPr>
          <a:xfrm>
            <a:off x="0" y="127000"/>
            <a:ext cx="23749000" cy="16548100"/>
          </a:xfrm>
          <a:prstGeom prst="rect">
            <a:avLst/>
          </a:prstGeom>
        </p:spPr>
      </p:pic>
      <p:sp>
        <p:nvSpPr>
          <p:cNvPr name="TextBox 240" id="2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additional app logging through your developer tools, an "invalid_argument" (or similar) error may have also been present.A recent code change related to improvements around Slack Block Kit introduced an issue with the backend processing of field values. This led to dropdown &amp;amp; affected menus not returning proper information. We identified &amp;amp; reverted the problematic code, resolving the issue for users. This required affected users to refresh their Slack client (Cmd/Ctrl + Shift + R) to capture the fix.We later determined that the clients were not picking up this fix immediately, causing continued spikes of errors. This led us to reinstate our incident response processes while we implemented a permanent fix, allowing affected clients to receive the corrected code. &lt;/description&gt;</a:t>
            </a:r>
          </a:p>
          <a:p>
            <a:r>
              <a:rPr lang="en-US" sz="3700">
                <a:solidFill>
                  <a:srgbClr val="252525"/>
                </a:solidFill>
              </a:rPr>
              <a:t>&lt;pubDate&gt;Wed, 16 Jul 2025 10:44:46 </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2" id="242"/>
          <p:cNvPicPr>
            <a:picLocks noChangeAspect="true"/>
          </p:cNvPicPr>
          <p:nvPr/>
        </p:nvPicPr>
        <p:blipFill>
          <a:blip r:embed="rId242"/>
          <a:stretch>
            <a:fillRect/>
          </a:stretch>
        </p:blipFill>
        <p:spPr>
          <a:xfrm>
            <a:off x="0" y="127000"/>
            <a:ext cx="23749000" cy="16548100"/>
          </a:xfrm>
          <a:prstGeom prst="rect">
            <a:avLst/>
          </a:prstGeom>
        </p:spPr>
      </p:pic>
      <p:sp>
        <p:nvSpPr>
          <p:cNvPr name="TextBox 242" id="2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accepting workspace invites&lt;/title&gt;</a:t>
            </a:r>
          </a:p>
          <a:p>
            <a:r>
              <a:rPr lang="en-US" sz="3700">
                <a:solidFill>
                  <a:srgbClr val="252525"/>
                </a:solidFill>
              </a:rPr>
              <a:t>&lt;description&gt; Between Thursday, July 10, 2025, at around 9:36 AM PDT and Tuesday, July 15, 2025, at around 2:50 PM PDT, some users were unable to accept email invitations to join workspaces. This affected newly invited users to a workspace.A recent feature toggle, </a:t>
            </a:r>
          </a:p>
        </p:txBody>
      </p:sp>
      <p:pic>
        <p:nvPicPr>
          <p:cNvPr name="Picture 244" id="244">
            <a:hlinkClick r:id="rId245"/>
          </p:cNvPr>
          <p:cNvPicPr>
            <a:picLocks noChangeAspect="true"/>
          </p:cNvPicPr>
          <p:nvPr/>
        </p:nvPicPr>
        <p:blipFill>
          <a:blip r:embed="rId244"/>
          <a:stretch>
            <a:fillRect/>
          </a:stretch>
        </p:blipFill>
        <p:spPr>
          <a:xfrm>
            <a:off x="6451600" y="1841500"/>
            <a:ext cx="10820400" cy="1714500"/>
          </a:xfrm>
          <a:prstGeom prst="rect">
            <a:avLst/>
          </a:prstGeom>
        </p:spPr>
      </p:pic>
      <p:pic>
        <p:nvPicPr>
          <p:cNvPr name="Picture 246" id="246">
            <a:hlinkClick r:id="rId247"/>
          </p:cNvPr>
          <p:cNvPicPr>
            <a:picLocks noChangeAspect="true"/>
          </p:cNvPicPr>
          <p:nvPr/>
        </p:nvPicPr>
        <p:blipFill>
          <a:blip r:embed="rId246"/>
          <a:stretch>
            <a:fillRect/>
          </a:stretch>
        </p:blipFill>
        <p:spPr>
          <a:xfrm>
            <a:off x="6451600" y="5270500"/>
            <a:ext cx="10820400" cy="1714500"/>
          </a:xfrm>
          <a:prstGeom prst="rect">
            <a:avLst/>
          </a:prstGeom>
        </p:spPr>
      </p:pic>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8" id="248"/>
          <p:cNvPicPr>
            <a:picLocks noChangeAspect="true"/>
          </p:cNvPicPr>
          <p:nvPr/>
        </p:nvPicPr>
        <p:blipFill>
          <a:blip r:embed="rId248"/>
          <a:stretch>
            <a:fillRect/>
          </a:stretch>
        </p:blipFill>
        <p:spPr>
          <a:xfrm>
            <a:off x="0" y="127000"/>
            <a:ext cx="23749000" cy="16548100"/>
          </a:xfrm>
          <a:prstGeom prst="rect">
            <a:avLst/>
          </a:prstGeom>
        </p:spPr>
      </p:pic>
      <p:sp>
        <p:nvSpPr>
          <p:cNvPr name="TextBox 248" id="2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intended to adjust a backend validation system, was enabled for a small subset of users. This introduced an unexpected mismatch that prevented the "Continue" button from functioning properly, leaving it in a non-actionable state.We rolled back the feature toggle, resolving the issue for all affected users. Workspace invites sent via email now have an actionable "Continue" button. &lt;/description&gt;</a:t>
            </a:r>
          </a:p>
          <a:p>
            <a:r>
              <a:rPr lang="en-US" sz="3700">
                <a:solidFill>
                  <a:srgbClr val="252525"/>
                </a:solidFill>
              </a:rPr>
              <a:t>&lt;pubDate&gt;Wed, 16 Jul 2025 08:54:38 -0700&lt;/pubDate&gt;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p:txBody>
      </p:sp>
      <p:pic>
        <p:nvPicPr>
          <p:cNvPr name="Picture 250" id="250">
            <a:hlinkClick r:id="rId251"/>
          </p:cNvPr>
          <p:cNvPicPr>
            <a:picLocks noChangeAspect="true"/>
          </p:cNvPicPr>
          <p:nvPr/>
        </p:nvPicPr>
        <p:blipFill>
          <a:blip r:embed="rId250"/>
          <a:stretch>
            <a:fillRect/>
          </a:stretch>
        </p:blipFill>
        <p:spPr>
          <a:xfrm>
            <a:off x="6451600" y="10172700"/>
            <a:ext cx="10820400" cy="1714500"/>
          </a:xfrm>
          <a:prstGeom prst="rect">
            <a:avLst/>
          </a:prstGeom>
        </p:spPr>
      </p:pic>
      <p:pic>
        <p:nvPicPr>
          <p:cNvPr name="Picture 252" id="252">
            <a:hlinkClick r:id="rId253"/>
          </p:cNvPr>
          <p:cNvPicPr>
            <a:picLocks noChangeAspect="true"/>
          </p:cNvPicPr>
          <p:nvPr/>
        </p:nvPicPr>
        <p:blipFill>
          <a:blip r:embed="rId252"/>
          <a:stretch>
            <a:fillRect/>
          </a:stretch>
        </p:blipFill>
        <p:spPr>
          <a:xfrm>
            <a:off x="6451600" y="13601700"/>
            <a:ext cx="10820400" cy="1714500"/>
          </a:xfrm>
          <a:prstGeom prst="rect">
            <a:avLst/>
          </a:prstGeom>
        </p:spPr>
      </p:pic>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4" id="254"/>
          <p:cNvPicPr>
            <a:picLocks noChangeAspect="true"/>
          </p:cNvPicPr>
          <p:nvPr/>
        </p:nvPicPr>
        <p:blipFill>
          <a:blip r:embed="rId254"/>
          <a:stretch>
            <a:fillRect/>
          </a:stretch>
        </p:blipFill>
        <p:spPr>
          <a:xfrm>
            <a:off x="0" y="127000"/>
            <a:ext cx="23749000" cy="16548100"/>
          </a:xfrm>
          <a:prstGeom prst="rect">
            <a:avLst/>
          </a:prstGeom>
        </p:spPr>
      </p:pic>
      <p:sp>
        <p:nvSpPr>
          <p:cNvPr name="TextBox 254" id="2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&lt;/item&gt;</a:t>
            </a:r>
          </a:p>
          <a:p>
            <a:r>
              <a:rPr lang="en-US" sz="3700">
                <a:solidFill>
                  <a:srgbClr val="252525"/>
                </a:solidFill>
              </a:rPr>
              <a:t>&lt;item&gt;</a:t>
            </a:r>
          </a:p>
          <a:p>
            <a:r>
              <a:rPr lang="en-US" sz="3700">
                <a:solidFill>
                  <a:srgbClr val="252525"/>
                </a:solidFill>
              </a:rPr>
              <a:t>&lt;title&gt;Notice: Intermittent trouble with some integrations, workflow connectors, and enterprise search&lt;/title&gt;</a:t>
            </a:r>
          </a:p>
          <a:p>
            <a:r>
              <a:rPr lang="en-US" sz="3700">
                <a:solidFill>
                  <a:srgbClr val="252525"/>
                </a:solidFill>
              </a:rPr>
              <a:t>&lt;description&gt; We've confirmed that the upstream provider resolved the issue with their services. Slack-related error rates have returned to normal, and users should no longer have trouble with enterprise search, integrations, or workflow connectors. Thanks for your patience as this was sorted out. &lt;/description&gt;</a:t>
            </a:r>
          </a:p>
          <a:p>
            <a:r>
              <a:rPr lang="en-US" sz="3700">
                <a:solidFill>
                  <a:srgbClr val="252525"/>
                </a:solidFill>
              </a:rPr>
              <a:t>&lt;pubDate&gt;Fri, 18 Jul 2025 11:16:00 -0700&lt;/pubDate&gt;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p>
        </p:txBody>
      </p:sp>
      <p:pic>
        <p:nvPicPr>
          <p:cNvPr name="Picture 256" id="256">
            <a:hlinkClick r:id="rId257"/>
          </p:cNvPr>
          <p:cNvPicPr>
            <a:picLocks noChangeAspect="true"/>
          </p:cNvPicPr>
          <p:nvPr/>
        </p:nvPicPr>
        <p:blipFill>
          <a:blip r:embed="rId256"/>
          <a:stretch>
            <a:fillRect/>
          </a:stretch>
        </p:blipFill>
        <p:spPr>
          <a:xfrm>
            <a:off x="6451600" y="12446000"/>
            <a:ext cx="10820400" cy="1714500"/>
          </a:xfrm>
          <a:prstGeom prst="rect">
            <a:avLst/>
          </a:prstGeom>
        </p:spPr>
      </p:pic>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8" id="258"/>
          <p:cNvPicPr>
            <a:picLocks noChangeAspect="true"/>
          </p:cNvPicPr>
          <p:nvPr/>
        </p:nvPicPr>
        <p:blipFill>
          <a:blip r:embed="rId258"/>
          <a:stretch>
            <a:fillRect/>
          </a:stretch>
        </p:blipFill>
        <p:spPr>
          <a:xfrm>
            <a:off x="0" y="127000"/>
            <a:ext cx="23749000" cy="16548100"/>
          </a:xfrm>
          <a:prstGeom prst="rect">
            <a:avLst/>
          </a:prstGeom>
        </p:spPr>
      </p:pic>
      <p:sp>
        <p:nvSpPr>
          <p:cNvPr name="TextBox 258" id="2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"See More" button not working for app and integration messages&lt;/title&gt;</a:t>
            </a:r>
          </a:p>
          <a:p>
            <a:r>
              <a:rPr lang="en-US" sz="3700">
                <a:solidFill>
                  <a:srgbClr val="252525"/>
                </a:solidFill>
              </a:rPr>
              <a:t>&lt;description&gt; From July 22, 2025, at around 3:55 PM PDT until July 23, 2025 at 1:22 AM EDT, some users may have experienced an issue with the "See more" hyperlink in long messages sent by an app or integration in Slack. Clicking this link did not expand the message for affected users.We traced this issue back to a recent code change related to Slack Block Kit that introduced unintended behavior when rendering the hyperlink functionality. We rolled back the affected Slack version </a:t>
            </a:r>
          </a:p>
        </p:txBody>
      </p:sp>
      <p:pic>
        <p:nvPicPr>
          <p:cNvPr name="Picture 260" id="260">
            <a:hlinkClick r:id="rId261"/>
          </p:cNvPr>
          <p:cNvPicPr>
            <a:picLocks noChangeAspect="true"/>
          </p:cNvPicPr>
          <p:nvPr/>
        </p:nvPicPr>
        <p:blipFill>
          <a:blip r:embed="rId260"/>
          <a:stretch>
            <a:fillRect/>
          </a:stretch>
        </p:blipFill>
        <p:spPr>
          <a:xfrm>
            <a:off x="6451600" y="317500"/>
            <a:ext cx="10820400" cy="1714500"/>
          </a:xfrm>
          <a:prstGeom prst="rect">
            <a:avLst/>
          </a:prstGeom>
        </p:spPr>
      </p:pic>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2" id="262"/>
          <p:cNvPicPr>
            <a:picLocks noChangeAspect="true"/>
          </p:cNvPicPr>
          <p:nvPr/>
        </p:nvPicPr>
        <p:blipFill>
          <a:blip r:embed="rId262"/>
          <a:stretch>
            <a:fillRect/>
          </a:stretch>
        </p:blipFill>
        <p:spPr>
          <a:xfrm>
            <a:off x="0" y="127000"/>
            <a:ext cx="23749000" cy="16548100"/>
          </a:xfrm>
          <a:prstGeom prst="rect">
            <a:avLst/>
          </a:prstGeom>
        </p:spPr>
      </p:pic>
      <p:sp>
        <p:nvSpPr>
          <p:cNvPr name="TextBox 262" id="2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containing the problematic code, resolving the issue for all affected users. Some users may have had to hard-refresh their Slack app (Cmd/Ctrl + Shift + R) to capture the fix. &lt;/description&gt;</a:t>
            </a:r>
          </a:p>
          <a:p>
            <a:r>
              <a:rPr lang="en-US" sz="3700">
                <a:solidFill>
                  <a:srgbClr val="252525"/>
                </a:solidFill>
              </a:rPr>
              <a:t>&lt;pubDate&gt;Wed, 23 Jul 2025 10:40:38 -0700&lt;/pubDate&gt;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&lt;title&gt;Notice: Some users in the Philippines are unable to connect to Slack&lt;/title&gt;</a:t>
            </a:r>
          </a:p>
        </p:txBody>
      </p:sp>
      <p:pic>
        <p:nvPicPr>
          <p:cNvPr name="Picture 264" id="264">
            <a:hlinkClick r:id="rId265"/>
          </p:cNvPr>
          <p:cNvPicPr>
            <a:picLocks noChangeAspect="true"/>
          </p:cNvPicPr>
          <p:nvPr/>
        </p:nvPicPr>
        <p:blipFill>
          <a:blip r:embed="rId264"/>
          <a:stretch>
            <a:fillRect/>
          </a:stretch>
        </p:blipFill>
        <p:spPr>
          <a:xfrm>
            <a:off x="6451600" y="6388100"/>
            <a:ext cx="10820400" cy="1714500"/>
          </a:xfrm>
          <a:prstGeom prst="rect">
            <a:avLst/>
          </a:prstGeom>
        </p:spPr>
      </p:pic>
      <p:pic>
        <p:nvPicPr>
          <p:cNvPr name="Picture 266" id="266">
            <a:hlinkClick r:id="rId267"/>
          </p:cNvPr>
          <p:cNvPicPr>
            <a:picLocks noChangeAspect="true"/>
          </p:cNvPicPr>
          <p:nvPr/>
        </p:nvPicPr>
        <p:blipFill>
          <a:blip r:embed="rId266"/>
          <a:stretch>
            <a:fillRect/>
          </a:stretch>
        </p:blipFill>
        <p:spPr>
          <a:xfrm>
            <a:off x="6451600" y="9817100"/>
            <a:ext cx="10820400" cy="1714500"/>
          </a:xfrm>
          <a:prstGeom prst="rect">
            <a:avLst/>
          </a:prstGeom>
        </p:spPr>
      </p:pic>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8" id="268"/>
          <p:cNvPicPr>
            <a:picLocks noChangeAspect="true"/>
          </p:cNvPicPr>
          <p:nvPr/>
        </p:nvPicPr>
        <p:blipFill>
          <a:blip r:embed="rId268"/>
          <a:stretch>
            <a:fillRect/>
          </a:stretch>
        </p:blipFill>
        <p:spPr>
          <a:xfrm>
            <a:off x="0" y="127000"/>
            <a:ext cx="23749000" cy="16548100"/>
          </a:xfrm>
          <a:prstGeom prst="rect">
            <a:avLst/>
          </a:prstGeom>
        </p:spPr>
      </p:pic>
      <p:sp>
        <p:nvSpPr>
          <p:cNvPr name="TextBox 268" id="2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&lt;description&gt; From July 26, 2025 at around 3:00 PM PDT until around 4:32 PM PDT on July 27, 2025, some users in the Asia-Pacific (specifically the Philippines) regions may have encountered trouble connecting to or loading Slack.A regional upstream provider experienced connectivity problems that affected many services, including Slack. We initially investigated this as a Slack-specific incident, but later determined the root cause was with the provider and adjusted our communications to reflect this. &lt;/description&gt;</a:t>
            </a:r>
          </a:p>
          <a:p>
            <a:r>
              <a:rPr lang="en-US" sz="3700">
                <a:solidFill>
                  <a:srgbClr val="252525"/>
                </a:solidFill>
              </a:rPr>
              <a:t>&lt;pubDate&gt;Tue, 05 Aug 2025 13:48:09 -0700&lt;/pubDate&gt;</a:t>
            </a:r>
          </a:p>
          <a:p>
            <a:r>
              <a:rPr lang="en-US" sz="3700">
                <a:solidFill>
                  <a:srgbClr val="252525"/>
                </a:solidFill>
              </a:rPr>
              <a:t>&lt;link&gt; </a:t>
            </a:r>
            <a:r>
              <a:rPr lang="en-US" sz="3700">
                <a:solidFill>
                  <a:srgbClr val="252525"/>
                </a:solidFill>
              </a:rPr>
              <a:t> &lt;/link&gt;</a:t>
            </a:r>
          </a:p>
        </p:txBody>
      </p:sp>
      <p:pic>
        <p:nvPicPr>
          <p:cNvPr name="Picture 270" id="270">
            <a:hlinkClick r:id="rId271"/>
          </p:cNvPr>
          <p:cNvPicPr>
            <a:picLocks noChangeAspect="true"/>
          </p:cNvPicPr>
          <p:nvPr/>
        </p:nvPicPr>
        <p:blipFill>
          <a:blip r:embed="rId270"/>
          <a:stretch>
            <a:fillRect/>
          </a:stretch>
        </p:blipFill>
        <p:spPr>
          <a:xfrm>
            <a:off x="6451600" y="13208000"/>
            <a:ext cx="10820400" cy="1714500"/>
          </a:xfrm>
          <a:prstGeom prst="rect">
            <a:avLst/>
          </a:prstGeom>
        </p:spPr>
      </p:pic>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2" id="272"/>
          <p:cNvPicPr>
            <a:picLocks noChangeAspect="true"/>
          </p:cNvPicPr>
          <p:nvPr/>
        </p:nvPicPr>
        <p:blipFill>
          <a:blip r:embed="rId272"/>
          <a:stretch>
            <a:fillRect/>
          </a:stretch>
        </p:blipFill>
        <p:spPr>
          <a:xfrm>
            <a:off x="0" y="127000"/>
            <a:ext cx="23749000" cy="16548100"/>
          </a:xfrm>
          <a:prstGeom prst="rect">
            <a:avLst/>
          </a:prstGeom>
        </p:spPr>
      </p:pic>
      <p:sp>
        <p:nvSpPr>
          <p:cNvPr name="TextBox 272" id="2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with Managing Installed Apps&lt;/title&gt;</a:t>
            </a:r>
          </a:p>
          <a:p>
            <a:r>
              <a:rPr lang="en-US" sz="3700">
                <a:solidFill>
                  <a:srgbClr val="252525"/>
                </a:solidFill>
              </a:rPr>
              <a:t>&lt;description&gt; On July 28, 2025, from approximately 9:21 AM PDT to 5:58 PM PDT, some app managers experienced an issue preventing them from managing integrations and applications within their workspaces. When attempting to use the "Manage" button on the integrations page, an error message was displayed.We traced this back to a recent change that introduced an error due to an undefined property within the buttons logic. We rolled back the problematic change, restoring </a:t>
            </a:r>
          </a:p>
        </p:txBody>
      </p:sp>
      <p:pic>
        <p:nvPicPr>
          <p:cNvPr name="Picture 274" id="274">
            <a:hlinkClick r:id="rId275"/>
          </p:cNvPr>
          <p:cNvPicPr>
            <a:picLocks noChangeAspect="true"/>
          </p:cNvPicPr>
          <p:nvPr/>
        </p:nvPicPr>
        <p:blipFill>
          <a:blip r:embed="rId274"/>
          <a:stretch>
            <a:fillRect/>
          </a:stretch>
        </p:blipFill>
        <p:spPr>
          <a:xfrm>
            <a:off x="6451600" y="1079500"/>
            <a:ext cx="10820400" cy="1714500"/>
          </a:xfrm>
          <a:prstGeom prst="rect">
            <a:avLst/>
          </a:prstGeom>
        </p:spPr>
      </p:pic>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6" id="276"/>
          <p:cNvPicPr>
            <a:picLocks noChangeAspect="true"/>
          </p:cNvPicPr>
          <p:nvPr/>
        </p:nvPicPr>
        <p:blipFill>
          <a:blip r:embed="rId276"/>
          <a:stretch>
            <a:fillRect/>
          </a:stretch>
        </p:blipFill>
        <p:spPr>
          <a:xfrm>
            <a:off x="0" y="127000"/>
            <a:ext cx="23749000" cy="16548100"/>
          </a:xfrm>
          <a:prstGeom prst="rect">
            <a:avLst/>
          </a:prstGeom>
        </p:spPr>
      </p:pic>
      <p:sp>
        <p:nvSpPr>
          <p:cNvPr name="TextBox 276" id="2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functionality to all users. &lt;/description&gt;</a:t>
            </a:r>
          </a:p>
          <a:p>
            <a:r>
              <a:rPr lang="en-US" sz="3700">
                <a:solidFill>
                  <a:srgbClr val="252525"/>
                </a:solidFill>
              </a:rPr>
              <a:t>&lt;pubDate&gt;Thu, 31 Jul 2025 09:43:38 -0700&lt;/pubDate&gt;</a:t>
            </a:r>
          </a:p>
          <a:p>
            <a:r>
              <a:rPr lang="en-US" sz="3700">
                <a:solidFill>
                  <a:srgbClr val="252525"/>
                </a:solidFill>
              </a:rPr>
              <a:t>&lt;link&gt;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Slack app may refresh/restart for some users&lt;/title&gt;</a:t>
            </a:r>
          </a:p>
          <a:p>
            <a:r>
              <a:rPr lang="en-US" sz="3700">
                <a:solidFill>
                  <a:srgbClr val="252525"/>
                </a:solidFill>
              </a:rPr>
              <a:t>&lt;description&gt; From approximately 5:00 PM PDT on July 25, 2025, until 4:26 PM PDT on July 30, 2025, some users on Enterprise Grid may have experienced unexpected in-app reloads with their Slack desktop and </a:t>
            </a:r>
          </a:p>
        </p:txBody>
      </p:sp>
      <p:pic>
        <p:nvPicPr>
          <p:cNvPr name="Picture 278" id="278">
            <a:hlinkClick r:id="rId279"/>
          </p:cNvPr>
          <p:cNvPicPr>
            <a:picLocks noChangeAspect="true"/>
          </p:cNvPicPr>
          <p:nvPr/>
        </p:nvPicPr>
        <p:blipFill>
          <a:blip r:embed="rId278"/>
          <a:stretch>
            <a:fillRect/>
          </a:stretch>
        </p:blipFill>
        <p:spPr>
          <a:xfrm>
            <a:off x="6451600" y="3352800"/>
            <a:ext cx="10820400" cy="1714500"/>
          </a:xfrm>
          <a:prstGeom prst="rect">
            <a:avLst/>
          </a:prstGeom>
        </p:spPr>
      </p:pic>
      <p:pic>
        <p:nvPicPr>
          <p:cNvPr name="Picture 280" id="280">
            <a:hlinkClick r:id="rId281"/>
          </p:cNvPr>
          <p:cNvPicPr>
            <a:picLocks noChangeAspect="true"/>
          </p:cNvPicPr>
          <p:nvPr/>
        </p:nvPicPr>
        <p:blipFill>
          <a:blip r:embed="rId280"/>
          <a:stretch>
            <a:fillRect/>
          </a:stretch>
        </p:blipFill>
        <p:spPr>
          <a:xfrm>
            <a:off x="6451600" y="6781800"/>
            <a:ext cx="10820400" cy="1714500"/>
          </a:xfrm>
          <a:prstGeom prst="rect">
            <a:avLst/>
          </a:prstGeom>
        </p:spPr>
      </p:pic>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2" id="282"/>
          <p:cNvPicPr>
            <a:picLocks noChangeAspect="true"/>
          </p:cNvPicPr>
          <p:nvPr/>
        </p:nvPicPr>
        <p:blipFill>
          <a:blip r:embed="rId282"/>
          <a:stretch>
            <a:fillRect/>
          </a:stretch>
        </p:blipFill>
        <p:spPr>
          <a:xfrm>
            <a:off x="0" y="127000"/>
            <a:ext cx="23749000" cy="16548100"/>
          </a:xfrm>
          <a:prstGeom prst="rect">
            <a:avLst/>
          </a:prstGeom>
        </p:spPr>
      </p:pic>
      <p:sp>
        <p:nvSpPr>
          <p:cNvPr name="TextBox 282" id="2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mobile clients.We traced this to a backend process that handles app initialization. This process began incorrectly reading invalid session information, which forced the client to repeatedly refresh in an attempt to get updated data.We identified the problematic code logic and implemented a fix, which resolved the issue. As a workaround, affected users were able to successfully use the Slack web browser client. Additionally, some users reported that clearing the app cache (via Help &amp;gt; Troubleshooting &amp;gt; Clear Cache and Restart on the desktop app) also resolved the issue. &lt;/description&gt;</a:t>
            </a:r>
          </a:p>
          <a:p>
            <a:r>
              <a:rPr lang="en-US" sz="3700">
                <a:solidFill>
                  <a:srgbClr val="252525"/>
                </a:solidFill>
              </a:rPr>
              <a:t>&lt;pubDate&gt;Thu, 31 Jul 2025 18:33:15 -0700&lt;/pubDate&gt;</a:t>
            </a:r>
          </a:p>
          <a:p>
            <a:r>
              <a:rPr lang="en-US" sz="3700">
                <a:solidFill>
                  <a:srgbClr val="252525"/>
                </a:solidFill>
              </a:rPr>
              <a:t>&lt;link&gt; </a:t>
            </a:r>
          </a:p>
        </p:txBody>
      </p:sp>
      <p:pic>
        <p:nvPicPr>
          <p:cNvPr name="Picture 284" id="284">
            <a:hlinkClick r:id="rId285"/>
          </p:cNvPr>
          <p:cNvPicPr>
            <a:picLocks noChangeAspect="true"/>
          </p:cNvPicPr>
          <p:nvPr/>
        </p:nvPicPr>
        <p:blipFill>
          <a:blip r:embed="rId284"/>
          <a:stretch>
            <a:fillRect/>
          </a:stretch>
        </p:blipFill>
        <p:spPr>
          <a:xfrm>
            <a:off x="6451600" y="13957300"/>
            <a:ext cx="10820400" cy="1714500"/>
          </a:xfrm>
          <a:prstGeom prst="rect">
            <a:avLst/>
          </a:prstGeom>
        </p:spPr>
      </p:pic>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6" id="286"/>
          <p:cNvPicPr>
            <a:picLocks noChangeAspect="true"/>
          </p:cNvPicPr>
          <p:nvPr/>
        </p:nvPicPr>
        <p:blipFill>
          <a:blip r:embed="rId286"/>
          <a:stretch>
            <a:fillRect/>
          </a:stretch>
        </p:blipFill>
        <p:spPr>
          <a:xfrm>
            <a:off x="0" y="127000"/>
            <a:ext cx="23749000" cy="16548100"/>
          </a:xfrm>
          <a:prstGeom prst="rect">
            <a:avLst/>
          </a:prstGeom>
        </p:spPr>
      </p:pic>
      <p:sp>
        <p:nvSpPr>
          <p:cNvPr name="TextBox 286" id="2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&lt;item&gt;</a:t>
            </a:r>
          </a:p>
          <a:p>
            <a:r>
              <a:rPr lang="en-US" sz="3700">
                <a:solidFill>
                  <a:srgbClr val="252525"/>
                </a:solidFill>
              </a:rPr>
              <a:t>&lt;title&gt;Incident: Trouble Loading or Connecting to Slack&lt;/title&gt;</a:t>
            </a:r>
          </a:p>
          <a:p>
            <a:r>
              <a:rPr lang="en-US" sz="3700">
                <a:solidFill>
                  <a:srgbClr val="252525"/>
                </a:solidFill>
              </a:rPr>
              <a:t>&lt;description&gt; On July 30, 2025, from approximately 3:29 PM PDT to 3:53 PM PDT, some users experienced issues with various Slack features, including loading the app, connecting, sending and receiving messages, and using search and workflows.A recent change to a backend caching system introduced a configuration mismatch. This led to an overwhelming number of requests made to a primary database that supports several Slack </a:t>
            </a:r>
          </a:p>
        </p:txBody>
      </p:sp>
      <p:pic>
        <p:nvPicPr>
          <p:cNvPr name="Picture 288" id="288">
            <a:hlinkClick r:id="rId289"/>
          </p:cNvPr>
          <p:cNvPicPr>
            <a:picLocks noChangeAspect="true"/>
          </p:cNvPicPr>
          <p:nvPr/>
        </p:nvPicPr>
        <p:blipFill>
          <a:blip r:embed="rId288"/>
          <a:stretch>
            <a:fillRect/>
          </a:stretch>
        </p:blipFill>
        <p:spPr>
          <a:xfrm>
            <a:off x="6451600" y="1841500"/>
            <a:ext cx="10820400" cy="1714500"/>
          </a:xfrm>
          <a:prstGeom prst="rect">
            <a:avLst/>
          </a:prstGeom>
        </p:spPr>
      </p:pic>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0" id="290"/>
          <p:cNvPicPr>
            <a:picLocks noChangeAspect="true"/>
          </p:cNvPicPr>
          <p:nvPr/>
        </p:nvPicPr>
        <p:blipFill>
          <a:blip r:embed="rId290"/>
          <a:stretch>
            <a:fillRect/>
          </a:stretch>
        </p:blipFill>
        <p:spPr>
          <a:xfrm>
            <a:off x="0" y="127000"/>
            <a:ext cx="23749000" cy="16548100"/>
          </a:xfrm>
          <a:prstGeom prst="rect">
            <a:avLst/>
          </a:prstGeom>
        </p:spPr>
      </p:pic>
      <p:sp>
        <p:nvSpPr>
          <p:cNvPr name="TextBox 290" id="2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features, causing some requests to timeout, creating errors within the app. To help alleviate immediate impact, we quickly increased resources, allowing it to stabilize.By 3:53 PM PDT, we had a clearer understanding of the user impact and symptoms, allowing us to communicate with affected users through our status site. At the same time, we rolled back to a confirmed working version of Slack, restoring full functionality to affected features. We then monitored additional logging &amp;amp; metrics for a duration of time before declaring the issue fully resolved at around 4:28 PM PDT. &lt;/description&gt;</a:t>
            </a:r>
          </a:p>
          <a:p>
            <a:r>
              <a:rPr lang="en-US" sz="3700">
                <a:solidFill>
                  <a:srgbClr val="252525"/>
                </a:solidFill>
              </a:rPr>
              <a:t>&lt;pubDate&gt;Thu, 31 Jul 2025 18:15:50 -0700&lt;/pubDate&gt;</a:t>
            </a:r>
          </a:p>
          <a:p>
            <a:r>
              <a:rPr lang="en-US" sz="3700">
                <a:solidFill>
                  <a:srgbClr val="252525"/>
                </a:solidFill>
              </a:rPr>
              <a:t>&lt;link&gt; </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2" id="292"/>
          <p:cNvPicPr>
            <a:picLocks noChangeAspect="true"/>
          </p:cNvPicPr>
          <p:nvPr/>
        </p:nvPicPr>
        <p:blipFill>
          <a:blip r:embed="rId292"/>
          <a:stretch>
            <a:fillRect/>
          </a:stretch>
        </p:blipFill>
        <p:spPr>
          <a:xfrm>
            <a:off x="0" y="127000"/>
            <a:ext cx="23749000" cy="16548100"/>
          </a:xfrm>
          <a:prstGeom prst="rect">
            <a:avLst/>
          </a:prstGeom>
        </p:spPr>
      </p:pic>
      <p:sp>
        <p:nvSpPr>
          <p:cNvPr name="TextBox 292" id="2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&lt;/link&gt;</a:t>
            </a:r>
          </a:p>
          <a:p>
            <a:r>
              <a:rPr lang="en-US" sz="3700">
                <a:solidFill>
                  <a:srgbClr val="252525"/>
                </a:solidFill>
              </a:rPr>
              <a:t>&lt;guid&gt; </a:t>
            </a:r>
            <a:r>
              <a:rPr lang="en-US" sz="3700">
                <a:solidFill>
                  <a:srgbClr val="252525"/>
                </a:solidFill>
              </a:rPr>
              <a:t> &lt;/guid&gt;</a:t>
            </a:r>
          </a:p>
          <a:p>
            <a:r>
              <a:rPr lang="en-US" sz="3700">
                <a:solidFill>
                  <a:srgbClr val="252525"/>
                </a:solidFill>
              </a:rPr>
              <a:t>&lt;/item&gt;</a:t>
            </a:r>
          </a:p>
          <a:p>
            <a:r>
              <a:rPr lang="en-US" sz="3700">
                <a:solidFill>
                  <a:srgbClr val="252525"/>
                </a:solidFill>
              </a:rPr>
              <a:t>&lt;/channel&gt;</a:t>
            </a:r>
          </a:p>
          <a:p>
            <a:r>
              <a:rPr lang="en-US" sz="3700">
                <a:solidFill>
                  <a:srgbClr val="252525"/>
                </a:solidFill>
              </a:rPr>
              <a:t>&lt;/rss&gt;</a:t>
            </a:r>
          </a:p>
        </p:txBody>
      </p:sp>
      <p:pic>
        <p:nvPicPr>
          <p:cNvPr name="Picture 294" id="294">
            <a:hlinkClick r:id="rId295"/>
          </p:cNvPr>
          <p:cNvPicPr>
            <a:picLocks noChangeAspect="true"/>
          </p:cNvPicPr>
          <p:nvPr/>
        </p:nvPicPr>
        <p:blipFill>
          <a:blip r:embed="rId294"/>
          <a:stretch>
            <a:fillRect/>
          </a:stretch>
        </p:blipFill>
        <p:spPr>
          <a:xfrm>
            <a:off x="6451600" y="317500"/>
            <a:ext cx="10820400" cy="1714500"/>
          </a:xfrm>
          <a:prstGeom prst="rect">
            <a:avLst/>
          </a:prstGeom>
        </p:spPr>
      </p:pic>
      <p:pic>
        <p:nvPicPr>
          <p:cNvPr name="Picture 296" id="296">
            <a:hlinkClick r:id="rId297"/>
          </p:cNvPr>
          <p:cNvPicPr>
            <a:picLocks noChangeAspect="true"/>
          </p:cNvPicPr>
          <p:nvPr/>
        </p:nvPicPr>
        <p:blipFill>
          <a:blip r:embed="rId296"/>
          <a:stretch>
            <a:fillRect/>
          </a:stretch>
        </p:blipFill>
        <p:spPr>
          <a:xfrm>
            <a:off x="6451600" y="3746500"/>
            <a:ext cx="10820400" cy="1714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